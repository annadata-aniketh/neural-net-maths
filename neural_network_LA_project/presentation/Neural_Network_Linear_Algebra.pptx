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5fe08dc038943c6" /><Relationship Type="http://schemas.openxmlformats.org/officeDocument/2006/relationships/extended-properties" Target="/docProps/app.xml" Id="R98d4712f950746f6" /><Relationship Type="http://schemas.openxmlformats.org/officeDocument/2006/relationships/officeDocument" Target="/ppt/presentation.xml" Id="Re0ccbc8bbf4444cd" /></Relationships>
</file>

<file path=ppt/presentation.xml><?xml version="1.0" encoding="utf-8"?>
<p:presentation xmlns:p="http://schemas.openxmlformats.org/presentationml/2006/main">
  <p:sldMasterIdLst>
    <p:sldMasterId xmlns:r="http://schemas.openxmlformats.org/officeDocument/2006/relationships" id="2147483648" r:id="R12faf9fe95ef4f98"/>
  </p:sldMasterIdLst>
  <p:notesMasterIdLst>
    <p:notesMasterId xmlns:r="http://schemas.openxmlformats.org/officeDocument/2006/relationships" r:id="R00f4d6b102854758"/>
  </p:notesMasterIdLst>
  <p:sldIdLst>
    <p:sldId xmlns:r="http://schemas.openxmlformats.org/officeDocument/2006/relationships" id="256" r:id="Rc09f9b46f5e34761"/>
    <p:sldId xmlns:r="http://schemas.openxmlformats.org/officeDocument/2006/relationships" id="257" r:id="Rdca6558f912043a1"/>
    <p:sldId xmlns:r="http://schemas.openxmlformats.org/officeDocument/2006/relationships" id="258" r:id="Rd71a191274e64191"/>
    <p:sldId xmlns:r="http://schemas.openxmlformats.org/officeDocument/2006/relationships" id="259" r:id="R2b3ddd6987ae4e4b"/>
    <p:sldId xmlns:r="http://schemas.openxmlformats.org/officeDocument/2006/relationships" id="260" r:id="R8b0e3094234243bd"/>
    <p:sldId xmlns:r="http://schemas.openxmlformats.org/officeDocument/2006/relationships" id="261" r:id="Ra059aecdd1534e26"/>
    <p:sldId xmlns:r="http://schemas.openxmlformats.org/officeDocument/2006/relationships" id="262" r:id="R1bd4bb3306db48f9"/>
    <p:sldId xmlns:r="http://schemas.openxmlformats.org/officeDocument/2006/relationships" id="263" r:id="Rb0bc7a1ce6f44c21"/>
    <p:sldId xmlns:r="http://schemas.openxmlformats.org/officeDocument/2006/relationships" id="264" r:id="R822ac55e88c44157"/>
    <p:sldId xmlns:r="http://schemas.openxmlformats.org/officeDocument/2006/relationships" id="265" r:id="Rafcf5629deca452a"/>
    <p:sldId xmlns:r="http://schemas.openxmlformats.org/officeDocument/2006/relationships" id="266" r:id="R56cdaa27d7c2488c"/>
    <p:sldId xmlns:r="http://schemas.openxmlformats.org/officeDocument/2006/relationships" id="267" r:id="R53349d2702eb486e"/>
    <p:sldId xmlns:r="http://schemas.openxmlformats.org/officeDocument/2006/relationships" id="268" r:id="R3782b542acde4c87"/>
    <p:sldId xmlns:r="http://schemas.openxmlformats.org/officeDocument/2006/relationships" id="269" r:id="R76199d998be24e8d"/>
    <p:sldId xmlns:r="http://schemas.openxmlformats.org/officeDocument/2006/relationships" id="270" r:id="Rc27cf997f91b4031"/>
    <p:sldId xmlns:r="http://schemas.openxmlformats.org/officeDocument/2006/relationships" id="271" r:id="R8798dac7905649e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e1f5788af64b8f" /><Relationship Type="http://schemas.openxmlformats.org/officeDocument/2006/relationships/slideMaster" Target="/ppt/slideMasters/slideMaster1.xml" Id="R12faf9fe95ef4f98" /><Relationship Type="http://schemas.openxmlformats.org/officeDocument/2006/relationships/notesMaster" Target="/ppt/notesMasters/notesMaster1.xml" Id="R00f4d6b102854758" /><Relationship Type="http://schemas.openxmlformats.org/officeDocument/2006/relationships/presProps" Target="/ppt/presProps.xml" Id="R680e6dedadbc4c52" /><Relationship Type="http://schemas.openxmlformats.org/officeDocument/2006/relationships/tableStyles" Target="/ppt/tableStyles.xml" Id="R61c225ec81164018" /><Relationship Type="http://schemas.openxmlformats.org/officeDocument/2006/relationships/slide" Target="/ppt/slides/slide1.xml" Id="Rc09f9b46f5e34761" /><Relationship Type="http://schemas.openxmlformats.org/officeDocument/2006/relationships/slide" Target="/ppt/slides/slide2.xml" Id="Rdca6558f912043a1" /><Relationship Type="http://schemas.openxmlformats.org/officeDocument/2006/relationships/slide" Target="/ppt/slides/slide3.xml" Id="Rd71a191274e64191" /><Relationship Type="http://schemas.openxmlformats.org/officeDocument/2006/relationships/slide" Target="/ppt/slides/slide4.xml" Id="R2b3ddd6987ae4e4b" /><Relationship Type="http://schemas.openxmlformats.org/officeDocument/2006/relationships/slide" Target="/ppt/slides/slide5.xml" Id="R8b0e3094234243bd" /><Relationship Type="http://schemas.openxmlformats.org/officeDocument/2006/relationships/slide" Target="/ppt/slides/slide6.xml" Id="Ra059aecdd1534e26" /><Relationship Type="http://schemas.openxmlformats.org/officeDocument/2006/relationships/slide" Target="/ppt/slides/slide7.xml" Id="R1bd4bb3306db48f9" /><Relationship Type="http://schemas.openxmlformats.org/officeDocument/2006/relationships/slide" Target="/ppt/slides/slide8.xml" Id="Rb0bc7a1ce6f44c21" /><Relationship Type="http://schemas.openxmlformats.org/officeDocument/2006/relationships/slide" Target="/ppt/slides/slide9.xml" Id="R822ac55e88c44157" /><Relationship Type="http://schemas.openxmlformats.org/officeDocument/2006/relationships/slide" Target="/ppt/slides/slide10.xml" Id="Rafcf5629deca452a" /><Relationship Type="http://schemas.openxmlformats.org/officeDocument/2006/relationships/slide" Target="/ppt/slides/slide11.xml" Id="R56cdaa27d7c2488c" /><Relationship Type="http://schemas.openxmlformats.org/officeDocument/2006/relationships/slide" Target="/ppt/slides/slide12.xml" Id="R53349d2702eb486e" /><Relationship Type="http://schemas.openxmlformats.org/officeDocument/2006/relationships/slide" Target="/ppt/slides/slide13.xml" Id="R3782b542acde4c87" /><Relationship Type="http://schemas.openxmlformats.org/officeDocument/2006/relationships/slide" Target="/ppt/slides/slide14.xml" Id="R76199d998be24e8d" /><Relationship Type="http://schemas.openxmlformats.org/officeDocument/2006/relationships/slide" Target="/ppt/slides/slide15.xml" Id="Rc27cf997f91b4031" /><Relationship Type="http://schemas.openxmlformats.org/officeDocument/2006/relationships/slide" Target="/ppt/slides/slide16.xml" Id="R8798dac7905649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2544bb38e9496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32fc2f5bfec409b" /><Relationship Type="http://schemas.openxmlformats.org/officeDocument/2006/relationships/notesMaster" Target="/ppt/notesMasters/notesMaster1.xml" Id="R6a9458305c714ca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3aed0abfa84e2d" /><Relationship Type="http://schemas.openxmlformats.org/officeDocument/2006/relationships/notesMaster" Target="/ppt/notesMasters/notesMaster1.xml" Id="Refa25fdc469147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af48fe0619b40af" /><Relationship Type="http://schemas.openxmlformats.org/officeDocument/2006/relationships/notesMaster" Target="/ppt/notesMasters/notesMaster1.xml" Id="R4c3032f0c85343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3a34f227514a76" /><Relationship Type="http://schemas.openxmlformats.org/officeDocument/2006/relationships/notesMaster" Target="/ppt/notesMasters/notesMaster1.xml" Id="R45e135b7340b4a2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7b036c18d14cf7" /><Relationship Type="http://schemas.openxmlformats.org/officeDocument/2006/relationships/notesMaster" Target="/ppt/notesMasters/notesMaster1.xml" Id="R8dafbad0741f43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e4adf524d8649a6" /><Relationship Type="http://schemas.openxmlformats.org/officeDocument/2006/relationships/notesMaster" Target="/ppt/notesMasters/notesMaster1.xml" Id="R6a280078380945f1"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b885d539304b30" /><Relationship Type="http://schemas.openxmlformats.org/officeDocument/2006/relationships/notesMaster" Target="/ppt/notesMasters/notesMaster1.xml" Id="R05f857faf74e4136"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ed423c19e84b88" /><Relationship Type="http://schemas.openxmlformats.org/officeDocument/2006/relationships/notesMaster" Target="/ppt/notesMasters/notesMaster1.xml" Id="R9dfa309702a542d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ec7443716644311" /><Relationship Type="http://schemas.openxmlformats.org/officeDocument/2006/relationships/notesMaster" Target="/ppt/notesMasters/notesMaster1.xml" Id="R3881e76bf902465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309cf4c07554dae" /><Relationship Type="http://schemas.openxmlformats.org/officeDocument/2006/relationships/notesMaster" Target="/ppt/notesMasters/notesMaster1.xml" Id="R4a571609aa7e49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6379b75510d4d56" /><Relationship Type="http://schemas.openxmlformats.org/officeDocument/2006/relationships/notesMaster" Target="/ppt/notesMasters/notesMaster1.xml" Id="R238a9a89837d4d8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e007852a8ee4225" /><Relationship Type="http://schemas.openxmlformats.org/officeDocument/2006/relationships/notesMaster" Target="/ppt/notesMasters/notesMaster1.xml" Id="R88e61ce7c55f41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1061137a694c10" /><Relationship Type="http://schemas.openxmlformats.org/officeDocument/2006/relationships/notesMaster" Target="/ppt/notesMasters/notesMaster1.xml" Id="Rb2195950f9644d0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d4303fea86242cd" /><Relationship Type="http://schemas.openxmlformats.org/officeDocument/2006/relationships/notesMaster" Target="/ppt/notesMasters/notesMaster1.xml" Id="R17ce3e4e2ee54e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d4aeb0ed7564003" /><Relationship Type="http://schemas.openxmlformats.org/officeDocument/2006/relationships/notesMaster" Target="/ppt/notesMasters/notesMaster1.xml" Id="R1a95ddfad351499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dd183f9783a46c8" /><Relationship Type="http://schemas.openxmlformats.org/officeDocument/2006/relationships/notesMaster" Target="/ppt/notesMasters/notesMaster1.xml" Id="R82c76e122d5241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research question: how do nonlinear activations extend affine classifiers, and how can matrix decompositions describe the learned maps? Our network uses NumPy for its calculations. It also relies on calculus, probability and optimization.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sheet lists 14 projects, without a neural-network problem. Present this as an inspired extension and confirm that extensions are acceptable. The confirmed course code is UE25MA242A. Sources: supplied problem sheet and adapted Anna Zemlyanova manual, Projects 10, 11 and 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seed 42, split seed 2026. Every sample is a column of X. Test data do not participate in training or checkpoint selection. Coordinates already lie approximately within the unit disk.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saved convex hull witness in metrics.json. An affine score preserves convex combinations, so the intersection could not have opposite signs. This proves impossibility of perfect classification on these points. It does not limit affine accuracy to 50%. The measured linear test score can exceed 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is 2-16-16-2 with three trainable affine maps. The original draft added the totals incorrectly. Hidden weights use He variance scaling and output weights use Xavier scaling. Initialization is a heuristic rather than a guarantee of spectral stability.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training, m=240. Z1 and Z2 have 16 rows, and Z3 has two rows. Bias broadcasting implements b times a row of ones. Without hidden nonlinearities, affine maps collapse to an effective W and b. Batch matrix computation eliminates loops over individual samples, but computational cost still grows with sample count and matrix size.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 is unaveraged, so divide by m exactly once in parameter gradients. The objective is mean cross-entropy. The transpose arises from the chain rule and Euclidean adjoint identity. It is generally not an inverse. The weight gradient is a sum of outer products with rank at most one per sample. Source: Goodfellow et al., Deep Learning Chapter 6, https://www.deeplearningbook.org/contents/mlp.html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Numerical and analytical gradients agree away from ReLU kinks. Other tests cover extreme logits, stratified splitting, affine collapse including biases, spectral identities, the convex hull witness and checkpoint restoration. Source: Stanford CS231n gradient checking, https://cs231n.github.io/neural-networks-3/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Metrics at epoch k describe exactly k completed updates. The dashed line marks the selected checkpoint. The full trajectory can contain loss increases. The model restores the selected checkpoint, which may precede the final epoch. Test data are absent from the optimization curves.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rows use initialization seed 42 and the same dataset split and update budget. Train, validation and test accuracies are clearly separate. Differences also reflect parameter count and optimization. This is not a capacity-matched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mean and sample standard deviation describe sensitivity to random initialization on this one split. We report every run, without selecting the best test seed. Sampling uncertainty, new data splits and distribution shift remain outside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ReLU model produces piecewise affine logits. Its binary equal-logit boundary is piecewise linear. The comparison shows a learned winding boundary, not proof that every deep network succeeds or that every shallow network fails. The color surface does not prove probability calibration.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SVD of centered training activations gives a PCA basis. We project test activations using the same training mean and basis. The plots state retained variance. These variance ratios concern activation matrices, not weight matrices. The output boundary is the diagonal z0=z1.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2-by-16 full-row-rank output map still has input nullity 14. The singular value ratio concerns nonzero directions, not an inverse on all input dimensions. SVD factors need not be unique. Full weight rank does not prove every neuron is active or that gradients are stable. Source: https://numpy.org/doc/stable/reference/generated/numpy.linalg.svd.html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dense W2 has 256 entries. A rank k factorization would store 32k entries, excluding biases. Our measurements materialize the approximation and do not save compressed factors. The discarded singular-value energy gives the optimal Frobenius error, but classification accuracy can change. This directly extends SVD compression from supplied Project 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Conclude with a precise claim: the chosen configuration learns a nonlinear boundary, and independent numerical checks support the gradient implementation. Do not claim linear algebra alone creates AI, that depth is mandatory, or that weight spectra prove data-manifold recovery. A sufficiently wide shallow nonlinear network can be expressive. Source: Goodfellow et al., Deep Learning Chapter 6. Read docs/REPORT.md and docs/VIVA_GUIDE.md for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f2b2c17eb284eb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19ca392835c4c0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ca174bd6bdf43a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3a17ad935354de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3c79b666af7431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c8cabd75c4c48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DF660F-1055-4C9E-A943-F7ACC2C7910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75FB79B-C441-4188-AB21-7D437B73C5D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3BDDAD1-46D4-4E1B-94FA-5186B083A10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88ECC2-AA65-41D6-86E8-3FCDA8CDA0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C24E32A-7FA4-4117-94E0-B6C9753F7D9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6CA780-CEE8-4A12-9CBD-384CBC62EE9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BE9ECB-FDE5-41D6-85F0-8DA74012692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AB71D7B-DD1C-4206-8B15-874DF4A9B2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D23E07-134C-43ED-9592-F8AD06353A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766F72-D40F-4829-A1A4-A16EAAF642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1b21e1b91404915" /><Relationship Type="http://schemas.openxmlformats.org/officeDocument/2006/relationships/slideLayout" Target="/ppt/slideLayouts/slideLayout1.xml" Id="R63bbce623d4a480b" /><Relationship Type="http://schemas.openxmlformats.org/officeDocument/2006/relationships/slideLayout" Target="/ppt/slideLayouts/slideLayout2.xml" Id="R6c0b5fa63c2147da" /><Relationship Type="http://schemas.openxmlformats.org/officeDocument/2006/relationships/slideLayout" Target="/ppt/slideLayouts/slideLayout3.xml" Id="R86ddfa66b33540a2" /><Relationship Type="http://schemas.openxmlformats.org/officeDocument/2006/relationships/slideLayout" Target="/ppt/slideLayouts/slideLayout4.xml" Id="R75345a0e8be04630" /><Relationship Type="http://schemas.openxmlformats.org/officeDocument/2006/relationships/slideLayout" Target="/ppt/slideLayouts/slideLayout5.xml" Id="R809f6782ce68457a" /><Relationship Type="http://schemas.openxmlformats.org/officeDocument/2006/relationships/slideLayout" Target="/ppt/slideLayouts/slideLayout6.xml" Id="R489aac6e20274c0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3bbce623d4a480b"/>
    <p:sldLayoutId xmlns:r="http://schemas.openxmlformats.org/officeDocument/2006/relationships" id="2147483650" r:id="R6c0b5fa63c2147da"/>
    <p:sldLayoutId xmlns:r="http://schemas.openxmlformats.org/officeDocument/2006/relationships" id="2147483651" r:id="R86ddfa66b33540a2"/>
    <p:sldLayoutId xmlns:r="http://schemas.openxmlformats.org/officeDocument/2006/relationships" id="2147483652" r:id="R75345a0e8be04630"/>
    <p:sldLayoutId xmlns:r="http://schemas.openxmlformats.org/officeDocument/2006/relationships" id="2147483653" r:id="R809f6782ce68457a"/>
    <p:sldLayoutId xmlns:r="http://schemas.openxmlformats.org/officeDocument/2006/relationships" id="2147483654" r:id="R489aac6e20274c0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9eddfea8454ffb" /><Relationship Type="http://schemas.openxmlformats.org/officeDocument/2006/relationships/notesSlide" Target="/ppt/notesSlides/notesSlide1.xml" Id="Rf2407b33e7c844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57c1e37954648cc" /><Relationship Type="http://schemas.openxmlformats.org/officeDocument/2006/relationships/notesSlide" Target="/ppt/notesSlides/notesSlide2.xml" Id="Rb248d3872dc14ed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2c9b589602a4cfc" /><Relationship Type="http://schemas.openxmlformats.org/officeDocument/2006/relationships/image" Target="/ppt/media/image.png" Id="R49c8f78d17884fbb" /><Relationship Type="http://schemas.openxmlformats.org/officeDocument/2006/relationships/notesSlide" Target="/ppt/notesSlides/notesSlide3.xml" Id="R70f31447db0e477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1ddf528899841ce" /><Relationship Type="http://schemas.openxmlformats.org/officeDocument/2006/relationships/notesSlide" Target="/ppt/notesSlides/notesSlide4.xml" Id="R65b085f0a42e47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88151ab549340b6" /><Relationship Type="http://schemas.openxmlformats.org/officeDocument/2006/relationships/notesSlide" Target="/ppt/notesSlides/notesSlide5.xml" Id="Raeb1fcbba6af4f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f1410af90b94a55" /><Relationship Type="http://schemas.openxmlformats.org/officeDocument/2006/relationships/notesSlide" Target="/ppt/notesSlides/notesSlide6.xml" Id="R1323504c92fb4b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81fc6dab8594dc2" /><Relationship Type="http://schemas.openxmlformats.org/officeDocument/2006/relationships/notesSlide" Target="/ppt/notesSlides/notesSlide7.xml" Id="R82bba5c9cf6d43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e146f86e53940f7" /><Relationship Type="http://schemas.openxmlformats.org/officeDocument/2006/relationships/notesSlide" Target="/ppt/notesSlides/notesSlide8.xml" Id="R47aa9d3267c349b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016dc2113724fa4" /><Relationship Type="http://schemas.openxmlformats.org/officeDocument/2006/relationships/chart" Target="/ppt/slides/charts/chart1.xml" Id="Red7fc184b94e4ee0" /><Relationship Type="http://schemas.openxmlformats.org/officeDocument/2006/relationships/notesSlide" Target="/ppt/notesSlides/notesSlide9.xml" Id="R536aed489d2646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3bc7ceb7ce14733" /><Relationship Type="http://schemas.openxmlformats.org/officeDocument/2006/relationships/notesSlide" Target="/ppt/notesSlides/notesSlide10.xml" Id="R2c08b43969ef48e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9fc75278a6547a6" /><Relationship Type="http://schemas.openxmlformats.org/officeDocument/2006/relationships/notesSlide" Target="/ppt/notesSlides/notesSlide11.xml" Id="Rc273e4f99ae441c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0383c666a1b4ca2" /><Relationship Type="http://schemas.openxmlformats.org/officeDocument/2006/relationships/image" Target="/ppt/media/image2.png" Id="Ra652e7f56cc344ba" /><Relationship Type="http://schemas.openxmlformats.org/officeDocument/2006/relationships/notesSlide" Target="/ppt/notesSlides/notesSlide12.xml" Id="R705079464f0742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bc44b2159af4dcd" /><Relationship Type="http://schemas.openxmlformats.org/officeDocument/2006/relationships/image" Target="/ppt/media/image3.png" Id="Rccc5d2f196c844e0" /><Relationship Type="http://schemas.openxmlformats.org/officeDocument/2006/relationships/notesSlide" Target="/ppt/notesSlides/notesSlide13.xml" Id="Rceedf577e6814c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a1a41d178424574" /><Relationship Type="http://schemas.openxmlformats.org/officeDocument/2006/relationships/notesSlide" Target="/ppt/notesSlides/notesSlide14.xml" Id="Reaa877f4d6974f4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8042d83a61b48b2" /><Relationship Type="http://schemas.openxmlformats.org/officeDocument/2006/relationships/notesSlide" Target="/ppt/notesSlides/notesSlide15.xml" Id="Red0309c4daba497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d72bca43ea6481a" /><Relationship Type="http://schemas.openxmlformats.org/officeDocument/2006/relationships/notesSlide" Target="/ppt/notesSlides/notesSlide16.xml" Id="Rdb296df27df84a6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latin typeface="Arial"/>
                <a:ea typeface="Arial"/>
                <a:cs typeface="Arial"/>
              </a:rPr>
              <a:t>Mean cross-entropy by completed updates</a:t>
            </a:r>
          </a:p>
        </c:rich>
      </c:tx>
      <c:overlay val="0"/>
      <c:txPr>
        <a:bodyPr xmlns:a="http://schemas.openxmlformats.org/drawingml/2006/main" anchorCtr="1"/>
        <a:lstStyle xmlns:a="http://schemas.openxmlformats.org/drawingml/2006/main"/>
        <a:p xmlns:a="http://schemas.openxmlformats.org/drawingml/2006/main">
          <a:pPr>
            <a:defRPr sz="1800">
              <a:latin typeface="Arial"/>
              <a:ea typeface="Arial"/>
              <a:cs typeface="Arial"/>
            </a:defRPr>
          </a:pPr>
        </a:p>
      </c:txPr>
    </c:title>
    <c:plotArea>
      <c:lineChart>
        <c:grouping val="standard"/>
        <c:varyColors val="0"/>
        <c:ser>
          <c:idx val="0"/>
          <c:order val="0"/>
          <c:tx>
            <c:v>Training</c:v>
          </c:tx>
          <c:spPr>
            <a:ln xmlns:a="http://schemas.openxmlformats.org/drawingml/2006/main" w="19050">
              <a:solidFill>
                <a:srgbClr val="3157B7"/>
              </a:solidFill>
              <a:prstDash val="solid"/>
            </a:ln>
          </c:spPr>
          <c:marker>
            <c:symbol val="none"/>
          </c:marker>
          <c:cat>
            <c:numRef>
              <c:f>'Chart Data'!$A$2:$A$242</c:f>
              <c:numCache>
                <c:formatCode>General</c:formatCode>
                <c:ptCount val="241"/>
                <c:pt idx="0">
                  <c:v>0</c:v>
                </c:pt>
                <c:pt idx="1">
                  <c:v>50</c:v>
                </c:pt>
                <c:pt idx="2">
                  <c:v>100</c:v>
                </c:pt>
                <c:pt idx="3">
                  <c:v>150</c:v>
                </c:pt>
                <c:pt idx="4">
                  <c:v>200</c:v>
                </c:pt>
                <c:pt idx="5">
                  <c:v>250</c:v>
                </c:pt>
                <c:pt idx="6">
                  <c:v>300</c:v>
                </c:pt>
                <c:pt idx="7">
                  <c:v>350</c:v>
                </c:pt>
                <c:pt idx="8">
                  <c:v>400</c:v>
                </c:pt>
                <c:pt idx="9">
                  <c:v>450</c:v>
                </c:pt>
                <c:pt idx="10">
                  <c:v>500</c:v>
                </c:pt>
                <c:pt idx="11">
                  <c:v>550</c:v>
                </c:pt>
                <c:pt idx="12">
                  <c:v>600</c:v>
                </c:pt>
                <c:pt idx="13">
                  <c:v>650</c:v>
                </c:pt>
                <c:pt idx="14">
                  <c:v>700</c:v>
                </c:pt>
                <c:pt idx="15">
                  <c:v>750</c:v>
                </c:pt>
                <c:pt idx="16">
                  <c:v>800</c:v>
                </c:pt>
                <c:pt idx="17">
                  <c:v>850</c:v>
                </c:pt>
                <c:pt idx="18">
                  <c:v>900</c:v>
                </c:pt>
                <c:pt idx="19">
                  <c:v>950</c:v>
                </c:pt>
                <c:pt idx="20">
                  <c:v>1000</c:v>
                </c:pt>
                <c:pt idx="21">
                  <c:v>1050</c:v>
                </c:pt>
                <c:pt idx="22">
                  <c:v>1100</c:v>
                </c:pt>
                <c:pt idx="23">
                  <c:v>1150</c:v>
                </c:pt>
                <c:pt idx="24">
                  <c:v>1200</c:v>
                </c:pt>
                <c:pt idx="25">
                  <c:v>1250</c:v>
                </c:pt>
                <c:pt idx="26">
                  <c:v>1300</c:v>
                </c:pt>
                <c:pt idx="27">
                  <c:v>1350</c:v>
                </c:pt>
                <c:pt idx="28">
                  <c:v>1400</c:v>
                </c:pt>
                <c:pt idx="29">
                  <c:v>1450</c:v>
                </c:pt>
                <c:pt idx="30">
                  <c:v>1500</c:v>
                </c:pt>
                <c:pt idx="31">
                  <c:v>1550</c:v>
                </c:pt>
                <c:pt idx="32">
                  <c:v>1600</c:v>
                </c:pt>
                <c:pt idx="33">
                  <c:v>1650</c:v>
                </c:pt>
                <c:pt idx="34">
                  <c:v>1700</c:v>
                </c:pt>
                <c:pt idx="35">
                  <c:v>1750</c:v>
                </c:pt>
                <c:pt idx="36">
                  <c:v>1800</c:v>
                </c:pt>
                <c:pt idx="37">
                  <c:v>1850</c:v>
                </c:pt>
                <c:pt idx="38">
                  <c:v>1900</c:v>
                </c:pt>
                <c:pt idx="39">
                  <c:v>1950</c:v>
                </c:pt>
                <c:pt idx="40">
                  <c:v>2000</c:v>
                </c:pt>
                <c:pt idx="41">
                  <c:v>2050</c:v>
                </c:pt>
                <c:pt idx="42">
                  <c:v>2100</c:v>
                </c:pt>
                <c:pt idx="43">
                  <c:v>2150</c:v>
                </c:pt>
                <c:pt idx="44">
                  <c:v>2200</c:v>
                </c:pt>
                <c:pt idx="45">
                  <c:v>2250</c:v>
                </c:pt>
                <c:pt idx="46">
                  <c:v>2300</c:v>
                </c:pt>
                <c:pt idx="47">
                  <c:v>2350</c:v>
                </c:pt>
                <c:pt idx="48">
                  <c:v>2400</c:v>
                </c:pt>
                <c:pt idx="49">
                  <c:v>2450</c:v>
                </c:pt>
                <c:pt idx="50">
                  <c:v>2500</c:v>
                </c:pt>
                <c:pt idx="51">
                  <c:v>2550</c:v>
                </c:pt>
                <c:pt idx="52">
                  <c:v>2600</c:v>
                </c:pt>
                <c:pt idx="53">
                  <c:v>2650</c:v>
                </c:pt>
                <c:pt idx="54">
                  <c:v>2700</c:v>
                </c:pt>
                <c:pt idx="55">
                  <c:v>2750</c:v>
                </c:pt>
                <c:pt idx="56">
                  <c:v>2800</c:v>
                </c:pt>
                <c:pt idx="57">
                  <c:v>2850</c:v>
                </c:pt>
                <c:pt idx="58">
                  <c:v>2900</c:v>
                </c:pt>
                <c:pt idx="59">
                  <c:v>2950</c:v>
                </c:pt>
                <c:pt idx="60">
                  <c:v>3000</c:v>
                </c:pt>
                <c:pt idx="61">
                  <c:v>3050</c:v>
                </c:pt>
                <c:pt idx="62">
                  <c:v>3100</c:v>
                </c:pt>
                <c:pt idx="63">
                  <c:v>3150</c:v>
                </c:pt>
                <c:pt idx="64">
                  <c:v>3200</c:v>
                </c:pt>
                <c:pt idx="65">
                  <c:v>3250</c:v>
                </c:pt>
                <c:pt idx="66">
                  <c:v>3300</c:v>
                </c:pt>
                <c:pt idx="67">
                  <c:v>3350</c:v>
                </c:pt>
                <c:pt idx="68">
                  <c:v>3400</c:v>
                </c:pt>
                <c:pt idx="69">
                  <c:v>3450</c:v>
                </c:pt>
                <c:pt idx="70">
                  <c:v>3500</c:v>
                </c:pt>
                <c:pt idx="71">
                  <c:v>3550</c:v>
                </c:pt>
                <c:pt idx="72">
                  <c:v>3600</c:v>
                </c:pt>
                <c:pt idx="73">
                  <c:v>3650</c:v>
                </c:pt>
                <c:pt idx="74">
                  <c:v>3700</c:v>
                </c:pt>
                <c:pt idx="75">
                  <c:v>3750</c:v>
                </c:pt>
                <c:pt idx="76">
                  <c:v>3800</c:v>
                </c:pt>
                <c:pt idx="77">
                  <c:v>3850</c:v>
                </c:pt>
                <c:pt idx="78">
                  <c:v>3900</c:v>
                </c:pt>
                <c:pt idx="79">
                  <c:v>3950</c:v>
                </c:pt>
                <c:pt idx="80">
                  <c:v>4000</c:v>
                </c:pt>
                <c:pt idx="81">
                  <c:v>4050</c:v>
                </c:pt>
                <c:pt idx="82">
                  <c:v>4100</c:v>
                </c:pt>
                <c:pt idx="83">
                  <c:v>4150</c:v>
                </c:pt>
                <c:pt idx="84">
                  <c:v>4200</c:v>
                </c:pt>
                <c:pt idx="85">
                  <c:v>4250</c:v>
                </c:pt>
                <c:pt idx="86">
                  <c:v>4300</c:v>
                </c:pt>
                <c:pt idx="87">
                  <c:v>4350</c:v>
                </c:pt>
                <c:pt idx="88">
                  <c:v>4400</c:v>
                </c:pt>
                <c:pt idx="89">
                  <c:v>4450</c:v>
                </c:pt>
                <c:pt idx="90">
                  <c:v>4500</c:v>
                </c:pt>
                <c:pt idx="91">
                  <c:v>4550</c:v>
                </c:pt>
                <c:pt idx="92">
                  <c:v>4600</c:v>
                </c:pt>
                <c:pt idx="93">
                  <c:v>4650</c:v>
                </c:pt>
                <c:pt idx="94">
                  <c:v>4700</c:v>
                </c:pt>
                <c:pt idx="95">
                  <c:v>4750</c:v>
                </c:pt>
                <c:pt idx="96">
                  <c:v>4800</c:v>
                </c:pt>
                <c:pt idx="97">
                  <c:v>4850</c:v>
                </c:pt>
                <c:pt idx="98">
                  <c:v>4900</c:v>
                </c:pt>
                <c:pt idx="99">
                  <c:v>4950</c:v>
                </c:pt>
                <c:pt idx="100">
                  <c:v>5000</c:v>
                </c:pt>
                <c:pt idx="101">
                  <c:v>5050</c:v>
                </c:pt>
                <c:pt idx="102">
                  <c:v>5100</c:v>
                </c:pt>
                <c:pt idx="103">
                  <c:v>5150</c:v>
                </c:pt>
                <c:pt idx="104">
                  <c:v>5200</c:v>
                </c:pt>
                <c:pt idx="105">
                  <c:v>5250</c:v>
                </c:pt>
                <c:pt idx="106">
                  <c:v>5300</c:v>
                </c:pt>
                <c:pt idx="107">
                  <c:v>5350</c:v>
                </c:pt>
                <c:pt idx="108">
                  <c:v>5400</c:v>
                </c:pt>
                <c:pt idx="109">
                  <c:v>5450</c:v>
                </c:pt>
                <c:pt idx="110">
                  <c:v>5500</c:v>
                </c:pt>
                <c:pt idx="111">
                  <c:v>5550</c:v>
                </c:pt>
                <c:pt idx="112">
                  <c:v>5600</c:v>
                </c:pt>
                <c:pt idx="113">
                  <c:v>5650</c:v>
                </c:pt>
                <c:pt idx="114">
                  <c:v>5700</c:v>
                </c:pt>
                <c:pt idx="115">
                  <c:v>5750</c:v>
                </c:pt>
                <c:pt idx="116">
                  <c:v>5800</c:v>
                </c:pt>
                <c:pt idx="117">
                  <c:v>5850</c:v>
                </c:pt>
                <c:pt idx="118">
                  <c:v>5900</c:v>
                </c:pt>
                <c:pt idx="119">
                  <c:v>5950</c:v>
                </c:pt>
                <c:pt idx="120">
                  <c:v>6000</c:v>
                </c:pt>
                <c:pt idx="121">
                  <c:v>6050</c:v>
                </c:pt>
                <c:pt idx="122">
                  <c:v>6100</c:v>
                </c:pt>
                <c:pt idx="123">
                  <c:v>6150</c:v>
                </c:pt>
                <c:pt idx="124">
                  <c:v>6200</c:v>
                </c:pt>
                <c:pt idx="125">
                  <c:v>6250</c:v>
                </c:pt>
                <c:pt idx="126">
                  <c:v>6300</c:v>
                </c:pt>
                <c:pt idx="127">
                  <c:v>6350</c:v>
                </c:pt>
                <c:pt idx="128">
                  <c:v>6400</c:v>
                </c:pt>
                <c:pt idx="129">
                  <c:v>6450</c:v>
                </c:pt>
                <c:pt idx="130">
                  <c:v>6500</c:v>
                </c:pt>
                <c:pt idx="131">
                  <c:v>6550</c:v>
                </c:pt>
                <c:pt idx="132">
                  <c:v>6600</c:v>
                </c:pt>
                <c:pt idx="133">
                  <c:v>6650</c:v>
                </c:pt>
                <c:pt idx="134">
                  <c:v>6700</c:v>
                </c:pt>
                <c:pt idx="135">
                  <c:v>6750</c:v>
                </c:pt>
                <c:pt idx="136">
                  <c:v>6800</c:v>
                </c:pt>
                <c:pt idx="137">
                  <c:v>6850</c:v>
                </c:pt>
                <c:pt idx="138">
                  <c:v>6900</c:v>
                </c:pt>
                <c:pt idx="139">
                  <c:v>6950</c:v>
                </c:pt>
                <c:pt idx="140">
                  <c:v>7000</c:v>
                </c:pt>
                <c:pt idx="141">
                  <c:v>7050</c:v>
                </c:pt>
                <c:pt idx="142">
                  <c:v>7100</c:v>
                </c:pt>
                <c:pt idx="143">
                  <c:v>7150</c:v>
                </c:pt>
                <c:pt idx="144">
                  <c:v>7200</c:v>
                </c:pt>
                <c:pt idx="145">
                  <c:v>7250</c:v>
                </c:pt>
                <c:pt idx="146">
                  <c:v>7300</c:v>
                </c:pt>
                <c:pt idx="147">
                  <c:v>7350</c:v>
                </c:pt>
                <c:pt idx="148">
                  <c:v>7400</c:v>
                </c:pt>
                <c:pt idx="149">
                  <c:v>7450</c:v>
                </c:pt>
                <c:pt idx="150">
                  <c:v>7500</c:v>
                </c:pt>
                <c:pt idx="151">
                  <c:v>7550</c:v>
                </c:pt>
                <c:pt idx="152">
                  <c:v>7600</c:v>
                </c:pt>
                <c:pt idx="153">
                  <c:v>7650</c:v>
                </c:pt>
                <c:pt idx="154">
                  <c:v>7700</c:v>
                </c:pt>
                <c:pt idx="155">
                  <c:v>7750</c:v>
                </c:pt>
                <c:pt idx="156">
                  <c:v>7800</c:v>
                </c:pt>
                <c:pt idx="157">
                  <c:v>7850</c:v>
                </c:pt>
                <c:pt idx="158">
                  <c:v>7900</c:v>
                </c:pt>
                <c:pt idx="159">
                  <c:v>7950</c:v>
                </c:pt>
                <c:pt idx="160">
                  <c:v>8000</c:v>
                </c:pt>
                <c:pt idx="161">
                  <c:v>8050</c:v>
                </c:pt>
                <c:pt idx="162">
                  <c:v>8100</c:v>
                </c:pt>
                <c:pt idx="163">
                  <c:v>8150</c:v>
                </c:pt>
                <c:pt idx="164">
                  <c:v>8200</c:v>
                </c:pt>
                <c:pt idx="165">
                  <c:v>8250</c:v>
                </c:pt>
                <c:pt idx="166">
                  <c:v>8300</c:v>
                </c:pt>
                <c:pt idx="167">
                  <c:v>8350</c:v>
                </c:pt>
                <c:pt idx="168">
                  <c:v>8400</c:v>
                </c:pt>
                <c:pt idx="169">
                  <c:v>8450</c:v>
                </c:pt>
                <c:pt idx="170">
                  <c:v>8500</c:v>
                </c:pt>
                <c:pt idx="171">
                  <c:v>8550</c:v>
                </c:pt>
                <c:pt idx="172">
                  <c:v>8600</c:v>
                </c:pt>
                <c:pt idx="173">
                  <c:v>8650</c:v>
                </c:pt>
                <c:pt idx="174">
                  <c:v>8700</c:v>
                </c:pt>
                <c:pt idx="175">
                  <c:v>8750</c:v>
                </c:pt>
                <c:pt idx="176">
                  <c:v>8800</c:v>
                </c:pt>
                <c:pt idx="177">
                  <c:v>8850</c:v>
                </c:pt>
                <c:pt idx="178">
                  <c:v>8900</c:v>
                </c:pt>
                <c:pt idx="179">
                  <c:v>8950</c:v>
                </c:pt>
                <c:pt idx="180">
                  <c:v>9000</c:v>
                </c:pt>
                <c:pt idx="181">
                  <c:v>9050</c:v>
                </c:pt>
                <c:pt idx="182">
                  <c:v>9100</c:v>
                </c:pt>
                <c:pt idx="183">
                  <c:v>9150</c:v>
                </c:pt>
                <c:pt idx="184">
                  <c:v>9200</c:v>
                </c:pt>
                <c:pt idx="185">
                  <c:v>9250</c:v>
                </c:pt>
                <c:pt idx="186">
                  <c:v>9300</c:v>
                </c:pt>
                <c:pt idx="187">
                  <c:v>9350</c:v>
                </c:pt>
                <c:pt idx="188">
                  <c:v>9400</c:v>
                </c:pt>
                <c:pt idx="189">
                  <c:v>9450</c:v>
                </c:pt>
                <c:pt idx="190">
                  <c:v>9500</c:v>
                </c:pt>
                <c:pt idx="191">
                  <c:v>9550</c:v>
                </c:pt>
                <c:pt idx="192">
                  <c:v>9600</c:v>
                </c:pt>
                <c:pt idx="193">
                  <c:v>9650</c:v>
                </c:pt>
                <c:pt idx="194">
                  <c:v>9700</c:v>
                </c:pt>
                <c:pt idx="195">
                  <c:v>9750</c:v>
                </c:pt>
                <c:pt idx="196">
                  <c:v>9800</c:v>
                </c:pt>
                <c:pt idx="197">
                  <c:v>9850</c:v>
                </c:pt>
                <c:pt idx="198">
                  <c:v>9900</c:v>
                </c:pt>
                <c:pt idx="199">
                  <c:v>9950</c:v>
                </c:pt>
                <c:pt idx="200">
                  <c:v>10000</c:v>
                </c:pt>
                <c:pt idx="201">
                  <c:v>10050</c:v>
                </c:pt>
                <c:pt idx="202">
                  <c:v>10100</c:v>
                </c:pt>
                <c:pt idx="203">
                  <c:v>10150</c:v>
                </c:pt>
                <c:pt idx="204">
                  <c:v>10200</c:v>
                </c:pt>
                <c:pt idx="205">
                  <c:v>10250</c:v>
                </c:pt>
                <c:pt idx="206">
                  <c:v>10300</c:v>
                </c:pt>
                <c:pt idx="207">
                  <c:v>10350</c:v>
                </c:pt>
                <c:pt idx="208">
                  <c:v>10400</c:v>
                </c:pt>
                <c:pt idx="209">
                  <c:v>10450</c:v>
                </c:pt>
                <c:pt idx="210">
                  <c:v>10500</c:v>
                </c:pt>
                <c:pt idx="211">
                  <c:v>10550</c:v>
                </c:pt>
                <c:pt idx="212">
                  <c:v>10600</c:v>
                </c:pt>
                <c:pt idx="213">
                  <c:v>10650</c:v>
                </c:pt>
                <c:pt idx="214">
                  <c:v>10700</c:v>
                </c:pt>
                <c:pt idx="215">
                  <c:v>10750</c:v>
                </c:pt>
                <c:pt idx="216">
                  <c:v>10800</c:v>
                </c:pt>
                <c:pt idx="217">
                  <c:v>10850</c:v>
                </c:pt>
                <c:pt idx="218">
                  <c:v>10900</c:v>
                </c:pt>
                <c:pt idx="219">
                  <c:v>10950</c:v>
                </c:pt>
                <c:pt idx="220">
                  <c:v>11000</c:v>
                </c:pt>
                <c:pt idx="221">
                  <c:v>11050</c:v>
                </c:pt>
                <c:pt idx="222">
                  <c:v>11100</c:v>
                </c:pt>
                <c:pt idx="223">
                  <c:v>11150</c:v>
                </c:pt>
                <c:pt idx="224">
                  <c:v>11200</c:v>
                </c:pt>
                <c:pt idx="225">
                  <c:v>11250</c:v>
                </c:pt>
                <c:pt idx="226">
                  <c:v>11300</c:v>
                </c:pt>
                <c:pt idx="227">
                  <c:v>11350</c:v>
                </c:pt>
                <c:pt idx="228">
                  <c:v>11400</c:v>
                </c:pt>
                <c:pt idx="229">
                  <c:v>11450</c:v>
                </c:pt>
                <c:pt idx="230">
                  <c:v>11500</c:v>
                </c:pt>
                <c:pt idx="231">
                  <c:v>11550</c:v>
                </c:pt>
                <c:pt idx="232">
                  <c:v>11600</c:v>
                </c:pt>
                <c:pt idx="233">
                  <c:v>11650</c:v>
                </c:pt>
                <c:pt idx="234">
                  <c:v>11700</c:v>
                </c:pt>
                <c:pt idx="235">
                  <c:v>11750</c:v>
                </c:pt>
                <c:pt idx="236">
                  <c:v>11800</c:v>
                </c:pt>
                <c:pt idx="237">
                  <c:v>11850</c:v>
                </c:pt>
                <c:pt idx="238">
                  <c:v>11900</c:v>
                </c:pt>
                <c:pt idx="239">
                  <c:v>11950</c:v>
                </c:pt>
                <c:pt idx="240">
                  <c:v>12000</c:v>
                </c:pt>
              </c:numCache>
            </c:numRef>
          </c:cat>
          <c:val>
            <c:numRef>
              <c:f>'Chart Data'!$B$2:$B$242</c:f>
              <c:numCache>
                <c:formatCode>0.0</c:formatCode>
                <c:ptCount val="241"/>
                <c:pt idx="0">
                  <c:v>0.6970687154</c:v>
                </c:pt>
                <c:pt idx="1">
                  <c:v>0.6721886549</c:v>
                </c:pt>
                <c:pt idx="2">
                  <c:v>0.6632630545</c:v>
                </c:pt>
                <c:pt idx="3">
                  <c:v>0.6563054959</c:v>
                </c:pt>
                <c:pt idx="4">
                  <c:v>0.6501465188</c:v>
                </c:pt>
                <c:pt idx="5">
                  <c:v>0.6447422064</c:v>
                </c:pt>
                <c:pt idx="6">
                  <c:v>0.6396396869</c:v>
                </c:pt>
                <c:pt idx="7">
                  <c:v>0.6347661463</c:v>
                </c:pt>
                <c:pt idx="8">
                  <c:v>0.6302439645</c:v>
                </c:pt>
                <c:pt idx="9">
                  <c:v>0.6259073462</c:v>
                </c:pt>
                <c:pt idx="10">
                  <c:v>0.6218548004</c:v>
                </c:pt>
                <c:pt idx="11">
                  <c:v>0.6171475626</c:v>
                </c:pt>
                <c:pt idx="12">
                  <c:v>0.6126183609</c:v>
                </c:pt>
                <c:pt idx="13">
                  <c:v>0.6086592811</c:v>
                </c:pt>
                <c:pt idx="14">
                  <c:v>0.6048176884</c:v>
                </c:pt>
                <c:pt idx="15">
                  <c:v>0.6012505912</c:v>
                </c:pt>
                <c:pt idx="16">
                  <c:v>0.5979444278</c:v>
                </c:pt>
                <c:pt idx="17">
                  <c:v>0.5949120647</c:v>
                </c:pt>
                <c:pt idx="18">
                  <c:v>0.5921113751</c:v>
                </c:pt>
                <c:pt idx="19">
                  <c:v>0.5895159665</c:v>
                </c:pt>
                <c:pt idx="20">
                  <c:v>0.5870656543</c:v>
                </c:pt>
                <c:pt idx="21">
                  <c:v>0.5848035464</c:v>
                </c:pt>
                <c:pt idx="22">
                  <c:v>0.5827827192</c:v>
                </c:pt>
                <c:pt idx="23">
                  <c:v>0.5805408037</c:v>
                </c:pt>
                <c:pt idx="24">
                  <c:v>0.5780993224</c:v>
                </c:pt>
                <c:pt idx="25">
                  <c:v>0.576020476</c:v>
                </c:pt>
                <c:pt idx="26">
                  <c:v>0.5741419164</c:v>
                </c:pt>
                <c:pt idx="27">
                  <c:v>0.5723565073</c:v>
                </c:pt>
                <c:pt idx="28">
                  <c:v>0.5705330384</c:v>
                </c:pt>
                <c:pt idx="29">
                  <c:v>0.5684144313</c:v>
                </c:pt>
                <c:pt idx="30">
                  <c:v>0.5659192322</c:v>
                </c:pt>
                <c:pt idx="31">
                  <c:v>0.5634244655</c:v>
                </c:pt>
                <c:pt idx="32">
                  <c:v>0.5611818214</c:v>
                </c:pt>
                <c:pt idx="33">
                  <c:v>0.5591570613</c:v>
                </c:pt>
                <c:pt idx="34">
                  <c:v>0.5565894893</c:v>
                </c:pt>
                <c:pt idx="35">
                  <c:v>0.5542292645</c:v>
                </c:pt>
                <c:pt idx="36">
                  <c:v>0.5520262243</c:v>
                </c:pt>
                <c:pt idx="37">
                  <c:v>0.5496701199</c:v>
                </c:pt>
                <c:pt idx="38">
                  <c:v>0.5473363894</c:v>
                </c:pt>
                <c:pt idx="39">
                  <c:v>0.5450580885</c:v>
                </c:pt>
                <c:pt idx="40">
                  <c:v>0.5428227943</c:v>
                </c:pt>
                <c:pt idx="41">
                  <c:v>0.5405922948</c:v>
                </c:pt>
                <c:pt idx="42">
                  <c:v>0.5382894971</c:v>
                </c:pt>
                <c:pt idx="43">
                  <c:v>0.535942575</c:v>
                </c:pt>
                <c:pt idx="44">
                  <c:v>0.5332465694</c:v>
                </c:pt>
                <c:pt idx="45">
                  <c:v>0.5303302009</c:v>
                </c:pt>
                <c:pt idx="46">
                  <c:v>0.527466502</c:v>
                </c:pt>
                <c:pt idx="47">
                  <c:v>0.5241953788</c:v>
                </c:pt>
                <c:pt idx="48">
                  <c:v>0.5212165691</c:v>
                </c:pt>
                <c:pt idx="49">
                  <c:v>0.517794937</c:v>
                </c:pt>
                <c:pt idx="50">
                  <c:v>0.5144357232</c:v>
                </c:pt>
                <c:pt idx="51">
                  <c:v>0.5114854202</c:v>
                </c:pt>
                <c:pt idx="52">
                  <c:v>0.5081451117</c:v>
                </c:pt>
                <c:pt idx="53">
                  <c:v>0.5043157955</c:v>
                </c:pt>
                <c:pt idx="54">
                  <c:v>0.500760239</c:v>
                </c:pt>
                <c:pt idx="55">
                  <c:v>0.4973247976</c:v>
                </c:pt>
                <c:pt idx="56">
                  <c:v>0.4935191528</c:v>
                </c:pt>
                <c:pt idx="57">
                  <c:v>0.4890730896</c:v>
                </c:pt>
                <c:pt idx="58">
                  <c:v>0.4857388196</c:v>
                </c:pt>
                <c:pt idx="59">
                  <c:v>0.4805264249</c:v>
                </c:pt>
                <c:pt idx="60">
                  <c:v>0.4760792489</c:v>
                </c:pt>
                <c:pt idx="61">
                  <c:v>0.471663273</c:v>
                </c:pt>
                <c:pt idx="62">
                  <c:v>0.4660745413</c:v>
                </c:pt>
                <c:pt idx="63">
                  <c:v>0.4560407146</c:v>
                </c:pt>
                <c:pt idx="64">
                  <c:v>0.4484842206</c:v>
                </c:pt>
                <c:pt idx="65">
                  <c:v>0.4419207789</c:v>
                </c:pt>
                <c:pt idx="66">
                  <c:v>0.4344999896</c:v>
                </c:pt>
                <c:pt idx="67">
                  <c:v>0.4304836183</c:v>
                </c:pt>
                <c:pt idx="68">
                  <c:v>0.4265698701</c:v>
                </c:pt>
                <c:pt idx="69">
                  <c:v>0.4204107602</c:v>
                </c:pt>
                <c:pt idx="70">
                  <c:v>0.417840988</c:v>
                </c:pt>
                <c:pt idx="71">
                  <c:v>0.4092089676</c:v>
                </c:pt>
                <c:pt idx="72">
                  <c:v>0.4024439606</c:v>
                </c:pt>
                <c:pt idx="73">
                  <c:v>0.3916432191</c:v>
                </c:pt>
                <c:pt idx="74">
                  <c:v>0.3888735712</c:v>
                </c:pt>
                <c:pt idx="75">
                  <c:v>0.3802260884</c:v>
                </c:pt>
                <c:pt idx="76">
                  <c:v>0.3648827583</c:v>
                </c:pt>
                <c:pt idx="77">
                  <c:v>0.3619017222</c:v>
                </c:pt>
                <c:pt idx="78">
                  <c:v>0.3467380302</c:v>
                </c:pt>
                <c:pt idx="79">
                  <c:v>0.3325456447</c:v>
                </c:pt>
                <c:pt idx="80">
                  <c:v>0.3249031793</c:v>
                </c:pt>
                <c:pt idx="81">
                  <c:v>0.3170546347</c:v>
                </c:pt>
                <c:pt idx="82">
                  <c:v>0.3040130298</c:v>
                </c:pt>
                <c:pt idx="83">
                  <c:v>0.3026366667</c:v>
                </c:pt>
                <c:pt idx="84">
                  <c:v>0.2913943548</c:v>
                </c:pt>
                <c:pt idx="85">
                  <c:v>0.2817951255</c:v>
                </c:pt>
                <c:pt idx="86">
                  <c:v>0.273847992</c:v>
                </c:pt>
                <c:pt idx="87">
                  <c:v>0.2700777646</c:v>
                </c:pt>
                <c:pt idx="88">
                  <c:v>0.2547894376</c:v>
                </c:pt>
                <c:pt idx="89">
                  <c:v>0.2435292298</c:v>
                </c:pt>
                <c:pt idx="90">
                  <c:v>0.2242351823</c:v>
                </c:pt>
                <c:pt idx="91">
                  <c:v>0.2093587427</c:v>
                </c:pt>
                <c:pt idx="92">
                  <c:v>0.1982605092</c:v>
                </c:pt>
                <c:pt idx="93">
                  <c:v>0.1897947943</c:v>
                </c:pt>
                <c:pt idx="94">
                  <c:v>0.1827596687</c:v>
                </c:pt>
                <c:pt idx="95">
                  <c:v>0.1764132195</c:v>
                </c:pt>
                <c:pt idx="96">
                  <c:v>0.1705070414</c:v>
                </c:pt>
                <c:pt idx="97">
                  <c:v>0.1643954965</c:v>
                </c:pt>
                <c:pt idx="98">
                  <c:v>0.1584620298</c:v>
                </c:pt>
                <c:pt idx="99">
                  <c:v>0.1532460295</c:v>
                </c:pt>
                <c:pt idx="100">
                  <c:v>0.147295666</c:v>
                </c:pt>
                <c:pt idx="101">
                  <c:v>0.1424884471</c:v>
                </c:pt>
                <c:pt idx="102">
                  <c:v>0.1386168385</c:v>
                </c:pt>
                <c:pt idx="103">
                  <c:v>0.1352304536</c:v>
                </c:pt>
                <c:pt idx="104">
                  <c:v>0.1321400688</c:v>
                </c:pt>
                <c:pt idx="105">
                  <c:v>0.1292033523</c:v>
                </c:pt>
                <c:pt idx="106">
                  <c:v>0.1265243133</c:v>
                </c:pt>
                <c:pt idx="107">
                  <c:v>0.1240658668</c:v>
                </c:pt>
                <c:pt idx="108">
                  <c:v>0.1218967438</c:v>
                </c:pt>
                <c:pt idx="109">
                  <c:v>0.1198621016</c:v>
                </c:pt>
                <c:pt idx="110">
                  <c:v>0.1178553655</c:v>
                </c:pt>
                <c:pt idx="111">
                  <c:v>0.1160524342</c:v>
                </c:pt>
                <c:pt idx="112">
                  <c:v>0.1143256731</c:v>
                </c:pt>
                <c:pt idx="113">
                  <c:v>0.11272582</c:v>
                </c:pt>
                <c:pt idx="114">
                  <c:v>0.111220819</c:v>
                </c:pt>
                <c:pt idx="115">
                  <c:v>0.1097587206</c:v>
                </c:pt>
                <c:pt idx="116">
                  <c:v>0.1079497689</c:v>
                </c:pt>
                <c:pt idx="117">
                  <c:v>0.1062954484</c:v>
                </c:pt>
                <c:pt idx="118">
                  <c:v>0.104816862</c:v>
                </c:pt>
                <c:pt idx="119">
                  <c:v>0.1034380488</c:v>
                </c:pt>
                <c:pt idx="120">
                  <c:v>0.1021114363</c:v>
                </c:pt>
                <c:pt idx="121">
                  <c:v>0.1005322758</c:v>
                </c:pt>
                <c:pt idx="122">
                  <c:v>0.0989423</c:v>
                </c:pt>
                <c:pt idx="123">
                  <c:v>0.0976982906</c:v>
                </c:pt>
                <c:pt idx="124">
                  <c:v>0.0965956905</c:v>
                </c:pt>
                <c:pt idx="125">
                  <c:v>0.0955534043</c:v>
                </c:pt>
                <c:pt idx="126">
                  <c:v>0.0945597615</c:v>
                </c:pt>
                <c:pt idx="127">
                  <c:v>0.0935947002</c:v>
                </c:pt>
                <c:pt idx="128">
                  <c:v>0.0927686565</c:v>
                </c:pt>
                <c:pt idx="129">
                  <c:v>0.0919175907</c:v>
                </c:pt>
                <c:pt idx="130">
                  <c:v>0.091175631</c:v>
                </c:pt>
                <c:pt idx="131">
                  <c:v>0.0904391368</c:v>
                </c:pt>
                <c:pt idx="132">
                  <c:v>0.0897075435</c:v>
                </c:pt>
                <c:pt idx="133">
                  <c:v>0.0890978769</c:v>
                </c:pt>
                <c:pt idx="134">
                  <c:v>0.0884299487</c:v>
                </c:pt>
                <c:pt idx="135">
                  <c:v>0.0878149679</c:v>
                </c:pt>
                <c:pt idx="136">
                  <c:v>0.087237827</c:v>
                </c:pt>
                <c:pt idx="137">
                  <c:v>0.0867210298</c:v>
                </c:pt>
                <c:pt idx="138">
                  <c:v>0.0861921126</c:v>
                </c:pt>
                <c:pt idx="139">
                  <c:v>0.0856293941</c:v>
                </c:pt>
                <c:pt idx="140">
                  <c:v>0.0851594663</c:v>
                </c:pt>
                <c:pt idx="141">
                  <c:v>0.0846825858</c:v>
                </c:pt>
                <c:pt idx="142">
                  <c:v>0.0841956281</c:v>
                </c:pt>
                <c:pt idx="143">
                  <c:v>0.0837837897</c:v>
                </c:pt>
                <c:pt idx="144">
                  <c:v>0.0833326609</c:v>
                </c:pt>
                <c:pt idx="145">
                  <c:v>0.0829243946</c:v>
                </c:pt>
                <c:pt idx="146">
                  <c:v>0.0825080077</c:v>
                </c:pt>
                <c:pt idx="147">
                  <c:v>0.0821098679</c:v>
                </c:pt>
                <c:pt idx="148">
                  <c:v>0.08169151</c:v>
                </c:pt>
                <c:pt idx="149">
                  <c:v>0.0813268189</c:v>
                </c:pt>
                <c:pt idx="150">
                  <c:v>0.0809527978</c:v>
                </c:pt>
                <c:pt idx="151">
                  <c:v>0.0806046344</c:v>
                </c:pt>
                <c:pt idx="152">
                  <c:v>0.0802337081</c:v>
                </c:pt>
                <c:pt idx="153">
                  <c:v>0.0799342082</c:v>
                </c:pt>
                <c:pt idx="154">
                  <c:v>0.0795633803</c:v>
                </c:pt>
                <c:pt idx="155">
                  <c:v>0.0792420894</c:v>
                </c:pt>
                <c:pt idx="156">
                  <c:v>0.0786829306</c:v>
                </c:pt>
                <c:pt idx="157">
                  <c:v>0.0782071641</c:v>
                </c:pt>
                <c:pt idx="158">
                  <c:v>0.0778095378</c:v>
                </c:pt>
                <c:pt idx="159">
                  <c:v>0.0774924497</c:v>
                </c:pt>
                <c:pt idx="160">
                  <c:v>0.0771552249</c:v>
                </c:pt>
                <c:pt idx="161">
                  <c:v>0.0768131611</c:v>
                </c:pt>
                <c:pt idx="162">
                  <c:v>0.0765286022</c:v>
                </c:pt>
                <c:pt idx="163">
                  <c:v>0.0762499337</c:v>
                </c:pt>
                <c:pt idx="164">
                  <c:v>0.0759390728</c:v>
                </c:pt>
                <c:pt idx="165">
                  <c:v>0.0756354886</c:v>
                </c:pt>
                <c:pt idx="166">
                  <c:v>0.0753603355</c:v>
                </c:pt>
                <c:pt idx="167">
                  <c:v>0.0751247253</c:v>
                </c:pt>
                <c:pt idx="168">
                  <c:v>0.0748543696</c:v>
                </c:pt>
                <c:pt idx="169">
                  <c:v>0.074574737</c:v>
                </c:pt>
                <c:pt idx="170">
                  <c:v>0.0743900929</c:v>
                </c:pt>
                <c:pt idx="171">
                  <c:v>0.0741142209</c:v>
                </c:pt>
                <c:pt idx="172">
                  <c:v>0.0738703341</c:v>
                </c:pt>
                <c:pt idx="173">
                  <c:v>0.0736727159</c:v>
                </c:pt>
                <c:pt idx="174">
                  <c:v>0.0734297033</c:v>
                </c:pt>
                <c:pt idx="175">
                  <c:v>0.0731741063</c:v>
                </c:pt>
                <c:pt idx="176">
                  <c:v>0.0729445947</c:v>
                </c:pt>
                <c:pt idx="177">
                  <c:v>0.0727149898</c:v>
                </c:pt>
                <c:pt idx="178">
                  <c:v>0.0724931677</c:v>
                </c:pt>
                <c:pt idx="179">
                  <c:v>0.0722923699</c:v>
                </c:pt>
                <c:pt idx="180">
                  <c:v>0.0720866489</c:v>
                </c:pt>
                <c:pt idx="181">
                  <c:v>0.0718299121</c:v>
                </c:pt>
                <c:pt idx="182">
                  <c:v>0.0716634951</c:v>
                </c:pt>
                <c:pt idx="183">
                  <c:v>0.0714306587</c:v>
                </c:pt>
                <c:pt idx="184">
                  <c:v>0.0712532843</c:v>
                </c:pt>
                <c:pt idx="185">
                  <c:v>0.0710458762</c:v>
                </c:pt>
                <c:pt idx="186">
                  <c:v>0.0708686559</c:v>
                </c:pt>
                <c:pt idx="187">
                  <c:v>0.0706908163</c:v>
                </c:pt>
                <c:pt idx="188">
                  <c:v>0.0704390081</c:v>
                </c:pt>
                <c:pt idx="189">
                  <c:v>0.0703359549</c:v>
                </c:pt>
                <c:pt idx="190">
                  <c:v>0.0700911451</c:v>
                </c:pt>
                <c:pt idx="191">
                  <c:v>0.0700168374</c:v>
                </c:pt>
                <c:pt idx="192">
                  <c:v>0.0698107099</c:v>
                </c:pt>
                <c:pt idx="193">
                  <c:v>0.0696495283</c:v>
                </c:pt>
                <c:pt idx="194">
                  <c:v>0.0695199405</c:v>
                </c:pt>
                <c:pt idx="195">
                  <c:v>0.0693246801</c:v>
                </c:pt>
                <c:pt idx="196">
                  <c:v>0.0691680126</c:v>
                </c:pt>
                <c:pt idx="197">
                  <c:v>0.0690417858</c:v>
                </c:pt>
                <c:pt idx="198">
                  <c:v>0.068884162</c:v>
                </c:pt>
                <c:pt idx="199">
                  <c:v>0.0688420399</c:v>
                </c:pt>
                <c:pt idx="200">
                  <c:v>0.0687125063</c:v>
                </c:pt>
                <c:pt idx="201">
                  <c:v>0.0685892673</c:v>
                </c:pt>
                <c:pt idx="202">
                  <c:v>0.0683982009</c:v>
                </c:pt>
                <c:pt idx="203">
                  <c:v>0.0683000634</c:v>
                </c:pt>
                <c:pt idx="204">
                  <c:v>0.0682619914</c:v>
                </c:pt>
                <c:pt idx="205">
                  <c:v>0.0680719404</c:v>
                </c:pt>
                <c:pt idx="206">
                  <c:v>0.0679717198</c:v>
                </c:pt>
                <c:pt idx="207">
                  <c:v>0.0680468928</c:v>
                </c:pt>
                <c:pt idx="208">
                  <c:v>0.0678204991</c:v>
                </c:pt>
                <c:pt idx="209">
                  <c:v>0.067756256</c:v>
                </c:pt>
                <c:pt idx="210">
                  <c:v>0.0674331874</c:v>
                </c:pt>
                <c:pt idx="211">
                  <c:v>0.0673141371</c:v>
                </c:pt>
                <c:pt idx="212">
                  <c:v>0.0669863313</c:v>
                </c:pt>
                <c:pt idx="213">
                  <c:v>0.0668027022</c:v>
                </c:pt>
                <c:pt idx="214">
                  <c:v>0.0666810284</c:v>
                </c:pt>
                <c:pt idx="215">
                  <c:v>0.0677664861</c:v>
                </c:pt>
                <c:pt idx="216">
                  <c:v>0.0646551422</c:v>
                </c:pt>
                <c:pt idx="217">
                  <c:v>0.0644485586</c:v>
                </c:pt>
                <c:pt idx="218">
                  <c:v>0.0638922797</c:v>
                </c:pt>
                <c:pt idx="219">
                  <c:v>0.0639999251</c:v>
                </c:pt>
                <c:pt idx="220">
                  <c:v>0.0641335512</c:v>
                </c:pt>
                <c:pt idx="221">
                  <c:v>0.0638223531</c:v>
                </c:pt>
                <c:pt idx="222">
                  <c:v>0.0642991329</c:v>
                </c:pt>
                <c:pt idx="223">
                  <c:v>0.0637445175</c:v>
                </c:pt>
                <c:pt idx="224">
                  <c:v>0.0636645002</c:v>
                </c:pt>
                <c:pt idx="225">
                  <c:v>0.0635556074</c:v>
                </c:pt>
                <c:pt idx="226">
                  <c:v>0.0631785686</c:v>
                </c:pt>
                <c:pt idx="227">
                  <c:v>0.0628693833</c:v>
                </c:pt>
                <c:pt idx="228">
                  <c:v>0.0627132963</c:v>
                </c:pt>
                <c:pt idx="229">
                  <c:v>0.0621844835</c:v>
                </c:pt>
                <c:pt idx="230">
                  <c:v>0.062089617</c:v>
                </c:pt>
                <c:pt idx="231">
                  <c:v>0.0618014712</c:v>
                </c:pt>
                <c:pt idx="232">
                  <c:v>0.0616098164</c:v>
                </c:pt>
                <c:pt idx="233">
                  <c:v>0.0750300868</c:v>
                </c:pt>
                <c:pt idx="234">
                  <c:v>0.068666477</c:v>
                </c:pt>
                <c:pt idx="235">
                  <c:v>0.0640233569</c:v>
                </c:pt>
                <c:pt idx="236">
                  <c:v>0.0608125446</c:v>
                </c:pt>
                <c:pt idx="237">
                  <c:v>0.0607223412</c:v>
                </c:pt>
                <c:pt idx="238">
                  <c:v>0.0574450191</c:v>
                </c:pt>
                <c:pt idx="239">
                  <c:v>0.0566247574</c:v>
                </c:pt>
                <c:pt idx="240">
                  <c:v>0.0580584379</c:v>
                </c:pt>
              </c:numCache>
            </c:numRef>
          </c:val>
          <c:smooth val="0"/>
        </c:ser>
        <c:ser>
          <c:idx val="1"/>
          <c:order val="1"/>
          <c:tx>
            <c:v>Validation</c:v>
          </c:tx>
          <c:spPr>
            <a:ln xmlns:a="http://schemas.openxmlformats.org/drawingml/2006/main" w="19050">
              <a:solidFill>
                <a:srgbClr val="D05B50"/>
              </a:solidFill>
              <a:prstDash val="solid"/>
            </a:ln>
          </c:spPr>
          <c:marker>
            <c:symbol val="none"/>
          </c:marker>
          <c:cat>
            <c:numRef>
              <c:f>'Chart Data'!$C$2:$C$242</c:f>
              <c:numCache>
                <c:formatCode>General</c:formatCode>
                <c:ptCount val="241"/>
                <c:pt idx="0">
                  <c:v>0</c:v>
                </c:pt>
                <c:pt idx="1">
                  <c:v>50</c:v>
                </c:pt>
                <c:pt idx="2">
                  <c:v>100</c:v>
                </c:pt>
                <c:pt idx="3">
                  <c:v>150</c:v>
                </c:pt>
                <c:pt idx="4">
                  <c:v>200</c:v>
                </c:pt>
                <c:pt idx="5">
                  <c:v>250</c:v>
                </c:pt>
                <c:pt idx="6">
                  <c:v>300</c:v>
                </c:pt>
                <c:pt idx="7">
                  <c:v>350</c:v>
                </c:pt>
                <c:pt idx="8">
                  <c:v>400</c:v>
                </c:pt>
                <c:pt idx="9">
                  <c:v>450</c:v>
                </c:pt>
                <c:pt idx="10">
                  <c:v>500</c:v>
                </c:pt>
                <c:pt idx="11">
                  <c:v>550</c:v>
                </c:pt>
                <c:pt idx="12">
                  <c:v>600</c:v>
                </c:pt>
                <c:pt idx="13">
                  <c:v>650</c:v>
                </c:pt>
                <c:pt idx="14">
                  <c:v>700</c:v>
                </c:pt>
                <c:pt idx="15">
                  <c:v>750</c:v>
                </c:pt>
                <c:pt idx="16">
                  <c:v>800</c:v>
                </c:pt>
                <c:pt idx="17">
                  <c:v>850</c:v>
                </c:pt>
                <c:pt idx="18">
                  <c:v>900</c:v>
                </c:pt>
                <c:pt idx="19">
                  <c:v>950</c:v>
                </c:pt>
                <c:pt idx="20">
                  <c:v>1000</c:v>
                </c:pt>
                <c:pt idx="21">
                  <c:v>1050</c:v>
                </c:pt>
                <c:pt idx="22">
                  <c:v>1100</c:v>
                </c:pt>
                <c:pt idx="23">
                  <c:v>1150</c:v>
                </c:pt>
                <c:pt idx="24">
                  <c:v>1200</c:v>
                </c:pt>
                <c:pt idx="25">
                  <c:v>1250</c:v>
                </c:pt>
                <c:pt idx="26">
                  <c:v>1300</c:v>
                </c:pt>
                <c:pt idx="27">
                  <c:v>1350</c:v>
                </c:pt>
                <c:pt idx="28">
                  <c:v>1400</c:v>
                </c:pt>
                <c:pt idx="29">
                  <c:v>1450</c:v>
                </c:pt>
                <c:pt idx="30">
                  <c:v>1500</c:v>
                </c:pt>
                <c:pt idx="31">
                  <c:v>1550</c:v>
                </c:pt>
                <c:pt idx="32">
                  <c:v>1600</c:v>
                </c:pt>
                <c:pt idx="33">
                  <c:v>1650</c:v>
                </c:pt>
                <c:pt idx="34">
                  <c:v>1700</c:v>
                </c:pt>
                <c:pt idx="35">
                  <c:v>1750</c:v>
                </c:pt>
                <c:pt idx="36">
                  <c:v>1800</c:v>
                </c:pt>
                <c:pt idx="37">
                  <c:v>1850</c:v>
                </c:pt>
                <c:pt idx="38">
                  <c:v>1900</c:v>
                </c:pt>
                <c:pt idx="39">
                  <c:v>1950</c:v>
                </c:pt>
                <c:pt idx="40">
                  <c:v>2000</c:v>
                </c:pt>
                <c:pt idx="41">
                  <c:v>2050</c:v>
                </c:pt>
                <c:pt idx="42">
                  <c:v>2100</c:v>
                </c:pt>
                <c:pt idx="43">
                  <c:v>2150</c:v>
                </c:pt>
                <c:pt idx="44">
                  <c:v>2200</c:v>
                </c:pt>
                <c:pt idx="45">
                  <c:v>2250</c:v>
                </c:pt>
                <c:pt idx="46">
                  <c:v>2300</c:v>
                </c:pt>
                <c:pt idx="47">
                  <c:v>2350</c:v>
                </c:pt>
                <c:pt idx="48">
                  <c:v>2400</c:v>
                </c:pt>
                <c:pt idx="49">
                  <c:v>2450</c:v>
                </c:pt>
                <c:pt idx="50">
                  <c:v>2500</c:v>
                </c:pt>
                <c:pt idx="51">
                  <c:v>2550</c:v>
                </c:pt>
                <c:pt idx="52">
                  <c:v>2600</c:v>
                </c:pt>
                <c:pt idx="53">
                  <c:v>2650</c:v>
                </c:pt>
                <c:pt idx="54">
                  <c:v>2700</c:v>
                </c:pt>
                <c:pt idx="55">
                  <c:v>2750</c:v>
                </c:pt>
                <c:pt idx="56">
                  <c:v>2800</c:v>
                </c:pt>
                <c:pt idx="57">
                  <c:v>2850</c:v>
                </c:pt>
                <c:pt idx="58">
                  <c:v>2900</c:v>
                </c:pt>
                <c:pt idx="59">
                  <c:v>2950</c:v>
                </c:pt>
                <c:pt idx="60">
                  <c:v>3000</c:v>
                </c:pt>
                <c:pt idx="61">
                  <c:v>3050</c:v>
                </c:pt>
                <c:pt idx="62">
                  <c:v>3100</c:v>
                </c:pt>
                <c:pt idx="63">
                  <c:v>3150</c:v>
                </c:pt>
                <c:pt idx="64">
                  <c:v>3200</c:v>
                </c:pt>
                <c:pt idx="65">
                  <c:v>3250</c:v>
                </c:pt>
                <c:pt idx="66">
                  <c:v>3300</c:v>
                </c:pt>
                <c:pt idx="67">
                  <c:v>3350</c:v>
                </c:pt>
                <c:pt idx="68">
                  <c:v>3400</c:v>
                </c:pt>
                <c:pt idx="69">
                  <c:v>3450</c:v>
                </c:pt>
                <c:pt idx="70">
                  <c:v>3500</c:v>
                </c:pt>
                <c:pt idx="71">
                  <c:v>3550</c:v>
                </c:pt>
                <c:pt idx="72">
                  <c:v>3600</c:v>
                </c:pt>
                <c:pt idx="73">
                  <c:v>3650</c:v>
                </c:pt>
                <c:pt idx="74">
                  <c:v>3700</c:v>
                </c:pt>
                <c:pt idx="75">
                  <c:v>3750</c:v>
                </c:pt>
                <c:pt idx="76">
                  <c:v>3800</c:v>
                </c:pt>
                <c:pt idx="77">
                  <c:v>3850</c:v>
                </c:pt>
                <c:pt idx="78">
                  <c:v>3900</c:v>
                </c:pt>
                <c:pt idx="79">
                  <c:v>3950</c:v>
                </c:pt>
                <c:pt idx="80">
                  <c:v>4000</c:v>
                </c:pt>
                <c:pt idx="81">
                  <c:v>4050</c:v>
                </c:pt>
                <c:pt idx="82">
                  <c:v>4100</c:v>
                </c:pt>
                <c:pt idx="83">
                  <c:v>4150</c:v>
                </c:pt>
                <c:pt idx="84">
                  <c:v>4200</c:v>
                </c:pt>
                <c:pt idx="85">
                  <c:v>4250</c:v>
                </c:pt>
                <c:pt idx="86">
                  <c:v>4300</c:v>
                </c:pt>
                <c:pt idx="87">
                  <c:v>4350</c:v>
                </c:pt>
                <c:pt idx="88">
                  <c:v>4400</c:v>
                </c:pt>
                <c:pt idx="89">
                  <c:v>4450</c:v>
                </c:pt>
                <c:pt idx="90">
                  <c:v>4500</c:v>
                </c:pt>
                <c:pt idx="91">
                  <c:v>4550</c:v>
                </c:pt>
                <c:pt idx="92">
                  <c:v>4600</c:v>
                </c:pt>
                <c:pt idx="93">
                  <c:v>4650</c:v>
                </c:pt>
                <c:pt idx="94">
                  <c:v>4700</c:v>
                </c:pt>
                <c:pt idx="95">
                  <c:v>4750</c:v>
                </c:pt>
                <c:pt idx="96">
                  <c:v>4800</c:v>
                </c:pt>
                <c:pt idx="97">
                  <c:v>4850</c:v>
                </c:pt>
                <c:pt idx="98">
                  <c:v>4900</c:v>
                </c:pt>
                <c:pt idx="99">
                  <c:v>4950</c:v>
                </c:pt>
                <c:pt idx="100">
                  <c:v>5000</c:v>
                </c:pt>
                <c:pt idx="101">
                  <c:v>5050</c:v>
                </c:pt>
                <c:pt idx="102">
                  <c:v>5100</c:v>
                </c:pt>
                <c:pt idx="103">
                  <c:v>5150</c:v>
                </c:pt>
                <c:pt idx="104">
                  <c:v>5200</c:v>
                </c:pt>
                <c:pt idx="105">
                  <c:v>5250</c:v>
                </c:pt>
                <c:pt idx="106">
                  <c:v>5300</c:v>
                </c:pt>
                <c:pt idx="107">
                  <c:v>5350</c:v>
                </c:pt>
                <c:pt idx="108">
                  <c:v>5400</c:v>
                </c:pt>
                <c:pt idx="109">
                  <c:v>5450</c:v>
                </c:pt>
                <c:pt idx="110">
                  <c:v>5500</c:v>
                </c:pt>
                <c:pt idx="111">
                  <c:v>5550</c:v>
                </c:pt>
                <c:pt idx="112">
                  <c:v>5600</c:v>
                </c:pt>
                <c:pt idx="113">
                  <c:v>5650</c:v>
                </c:pt>
                <c:pt idx="114">
                  <c:v>5700</c:v>
                </c:pt>
                <c:pt idx="115">
                  <c:v>5750</c:v>
                </c:pt>
                <c:pt idx="116">
                  <c:v>5800</c:v>
                </c:pt>
                <c:pt idx="117">
                  <c:v>5850</c:v>
                </c:pt>
                <c:pt idx="118">
                  <c:v>5900</c:v>
                </c:pt>
                <c:pt idx="119">
                  <c:v>5950</c:v>
                </c:pt>
                <c:pt idx="120">
                  <c:v>6000</c:v>
                </c:pt>
                <c:pt idx="121">
                  <c:v>6050</c:v>
                </c:pt>
                <c:pt idx="122">
                  <c:v>6100</c:v>
                </c:pt>
                <c:pt idx="123">
                  <c:v>6150</c:v>
                </c:pt>
                <c:pt idx="124">
                  <c:v>6200</c:v>
                </c:pt>
                <c:pt idx="125">
                  <c:v>6250</c:v>
                </c:pt>
                <c:pt idx="126">
                  <c:v>6300</c:v>
                </c:pt>
                <c:pt idx="127">
                  <c:v>6350</c:v>
                </c:pt>
                <c:pt idx="128">
                  <c:v>6400</c:v>
                </c:pt>
                <c:pt idx="129">
                  <c:v>6450</c:v>
                </c:pt>
                <c:pt idx="130">
                  <c:v>6500</c:v>
                </c:pt>
                <c:pt idx="131">
                  <c:v>6550</c:v>
                </c:pt>
                <c:pt idx="132">
                  <c:v>6600</c:v>
                </c:pt>
                <c:pt idx="133">
                  <c:v>6650</c:v>
                </c:pt>
                <c:pt idx="134">
                  <c:v>6700</c:v>
                </c:pt>
                <c:pt idx="135">
                  <c:v>6750</c:v>
                </c:pt>
                <c:pt idx="136">
                  <c:v>6800</c:v>
                </c:pt>
                <c:pt idx="137">
                  <c:v>6850</c:v>
                </c:pt>
                <c:pt idx="138">
                  <c:v>6900</c:v>
                </c:pt>
                <c:pt idx="139">
                  <c:v>6950</c:v>
                </c:pt>
                <c:pt idx="140">
                  <c:v>7000</c:v>
                </c:pt>
                <c:pt idx="141">
                  <c:v>7050</c:v>
                </c:pt>
                <c:pt idx="142">
                  <c:v>7100</c:v>
                </c:pt>
                <c:pt idx="143">
                  <c:v>7150</c:v>
                </c:pt>
                <c:pt idx="144">
                  <c:v>7200</c:v>
                </c:pt>
                <c:pt idx="145">
                  <c:v>7250</c:v>
                </c:pt>
                <c:pt idx="146">
                  <c:v>7300</c:v>
                </c:pt>
                <c:pt idx="147">
                  <c:v>7350</c:v>
                </c:pt>
                <c:pt idx="148">
                  <c:v>7400</c:v>
                </c:pt>
                <c:pt idx="149">
                  <c:v>7450</c:v>
                </c:pt>
                <c:pt idx="150">
                  <c:v>7500</c:v>
                </c:pt>
                <c:pt idx="151">
                  <c:v>7550</c:v>
                </c:pt>
                <c:pt idx="152">
                  <c:v>7600</c:v>
                </c:pt>
                <c:pt idx="153">
                  <c:v>7650</c:v>
                </c:pt>
                <c:pt idx="154">
                  <c:v>7700</c:v>
                </c:pt>
                <c:pt idx="155">
                  <c:v>7750</c:v>
                </c:pt>
                <c:pt idx="156">
                  <c:v>7800</c:v>
                </c:pt>
                <c:pt idx="157">
                  <c:v>7850</c:v>
                </c:pt>
                <c:pt idx="158">
                  <c:v>7900</c:v>
                </c:pt>
                <c:pt idx="159">
                  <c:v>7950</c:v>
                </c:pt>
                <c:pt idx="160">
                  <c:v>8000</c:v>
                </c:pt>
                <c:pt idx="161">
                  <c:v>8050</c:v>
                </c:pt>
                <c:pt idx="162">
                  <c:v>8100</c:v>
                </c:pt>
                <c:pt idx="163">
                  <c:v>8150</c:v>
                </c:pt>
                <c:pt idx="164">
                  <c:v>8200</c:v>
                </c:pt>
                <c:pt idx="165">
                  <c:v>8250</c:v>
                </c:pt>
                <c:pt idx="166">
                  <c:v>8300</c:v>
                </c:pt>
                <c:pt idx="167">
                  <c:v>8350</c:v>
                </c:pt>
                <c:pt idx="168">
                  <c:v>8400</c:v>
                </c:pt>
                <c:pt idx="169">
                  <c:v>8450</c:v>
                </c:pt>
                <c:pt idx="170">
                  <c:v>8500</c:v>
                </c:pt>
                <c:pt idx="171">
                  <c:v>8550</c:v>
                </c:pt>
                <c:pt idx="172">
                  <c:v>8600</c:v>
                </c:pt>
                <c:pt idx="173">
                  <c:v>8650</c:v>
                </c:pt>
                <c:pt idx="174">
                  <c:v>8700</c:v>
                </c:pt>
                <c:pt idx="175">
                  <c:v>8750</c:v>
                </c:pt>
                <c:pt idx="176">
                  <c:v>8800</c:v>
                </c:pt>
                <c:pt idx="177">
                  <c:v>8850</c:v>
                </c:pt>
                <c:pt idx="178">
                  <c:v>8900</c:v>
                </c:pt>
                <c:pt idx="179">
                  <c:v>8950</c:v>
                </c:pt>
                <c:pt idx="180">
                  <c:v>9000</c:v>
                </c:pt>
                <c:pt idx="181">
                  <c:v>9050</c:v>
                </c:pt>
                <c:pt idx="182">
                  <c:v>9100</c:v>
                </c:pt>
                <c:pt idx="183">
                  <c:v>9150</c:v>
                </c:pt>
                <c:pt idx="184">
                  <c:v>9200</c:v>
                </c:pt>
                <c:pt idx="185">
                  <c:v>9250</c:v>
                </c:pt>
                <c:pt idx="186">
                  <c:v>9300</c:v>
                </c:pt>
                <c:pt idx="187">
                  <c:v>9350</c:v>
                </c:pt>
                <c:pt idx="188">
                  <c:v>9400</c:v>
                </c:pt>
                <c:pt idx="189">
                  <c:v>9450</c:v>
                </c:pt>
                <c:pt idx="190">
                  <c:v>9500</c:v>
                </c:pt>
                <c:pt idx="191">
                  <c:v>9550</c:v>
                </c:pt>
                <c:pt idx="192">
                  <c:v>9600</c:v>
                </c:pt>
                <c:pt idx="193">
                  <c:v>9650</c:v>
                </c:pt>
                <c:pt idx="194">
                  <c:v>9700</c:v>
                </c:pt>
                <c:pt idx="195">
                  <c:v>9750</c:v>
                </c:pt>
                <c:pt idx="196">
                  <c:v>9800</c:v>
                </c:pt>
                <c:pt idx="197">
                  <c:v>9850</c:v>
                </c:pt>
                <c:pt idx="198">
                  <c:v>9900</c:v>
                </c:pt>
                <c:pt idx="199">
                  <c:v>9950</c:v>
                </c:pt>
                <c:pt idx="200">
                  <c:v>10000</c:v>
                </c:pt>
                <c:pt idx="201">
                  <c:v>10050</c:v>
                </c:pt>
                <c:pt idx="202">
                  <c:v>10100</c:v>
                </c:pt>
                <c:pt idx="203">
                  <c:v>10150</c:v>
                </c:pt>
                <c:pt idx="204">
                  <c:v>10200</c:v>
                </c:pt>
                <c:pt idx="205">
                  <c:v>10250</c:v>
                </c:pt>
                <c:pt idx="206">
                  <c:v>10300</c:v>
                </c:pt>
                <c:pt idx="207">
                  <c:v>10350</c:v>
                </c:pt>
                <c:pt idx="208">
                  <c:v>10400</c:v>
                </c:pt>
                <c:pt idx="209">
                  <c:v>10450</c:v>
                </c:pt>
                <c:pt idx="210">
                  <c:v>10500</c:v>
                </c:pt>
                <c:pt idx="211">
                  <c:v>10550</c:v>
                </c:pt>
                <c:pt idx="212">
                  <c:v>10600</c:v>
                </c:pt>
                <c:pt idx="213">
                  <c:v>10650</c:v>
                </c:pt>
                <c:pt idx="214">
                  <c:v>10700</c:v>
                </c:pt>
                <c:pt idx="215">
                  <c:v>10750</c:v>
                </c:pt>
                <c:pt idx="216">
                  <c:v>10800</c:v>
                </c:pt>
                <c:pt idx="217">
                  <c:v>10850</c:v>
                </c:pt>
                <c:pt idx="218">
                  <c:v>10900</c:v>
                </c:pt>
                <c:pt idx="219">
                  <c:v>10950</c:v>
                </c:pt>
                <c:pt idx="220">
                  <c:v>11000</c:v>
                </c:pt>
                <c:pt idx="221">
                  <c:v>11050</c:v>
                </c:pt>
                <c:pt idx="222">
                  <c:v>11100</c:v>
                </c:pt>
                <c:pt idx="223">
                  <c:v>11150</c:v>
                </c:pt>
                <c:pt idx="224">
                  <c:v>11200</c:v>
                </c:pt>
                <c:pt idx="225">
                  <c:v>11250</c:v>
                </c:pt>
                <c:pt idx="226">
                  <c:v>11300</c:v>
                </c:pt>
                <c:pt idx="227">
                  <c:v>11350</c:v>
                </c:pt>
                <c:pt idx="228">
                  <c:v>11400</c:v>
                </c:pt>
                <c:pt idx="229">
                  <c:v>11450</c:v>
                </c:pt>
                <c:pt idx="230">
                  <c:v>11500</c:v>
                </c:pt>
                <c:pt idx="231">
                  <c:v>11550</c:v>
                </c:pt>
                <c:pt idx="232">
                  <c:v>11600</c:v>
                </c:pt>
                <c:pt idx="233">
                  <c:v>11650</c:v>
                </c:pt>
                <c:pt idx="234">
                  <c:v>11700</c:v>
                </c:pt>
                <c:pt idx="235">
                  <c:v>11750</c:v>
                </c:pt>
                <c:pt idx="236">
                  <c:v>11800</c:v>
                </c:pt>
                <c:pt idx="237">
                  <c:v>11850</c:v>
                </c:pt>
                <c:pt idx="238">
                  <c:v>11900</c:v>
                </c:pt>
                <c:pt idx="239">
                  <c:v>11950</c:v>
                </c:pt>
                <c:pt idx="240">
                  <c:v>12000</c:v>
                </c:pt>
              </c:numCache>
            </c:numRef>
          </c:cat>
          <c:val>
            <c:numRef>
              <c:f>'Chart Data'!$D$2:$D$242</c:f>
              <c:numCache>
                <c:formatCode>0.0</c:formatCode>
                <c:ptCount val="241"/>
                <c:pt idx="0">
                  <c:v>0.7003715729</c:v>
                </c:pt>
                <c:pt idx="1">
                  <c:v>0.6955249108</c:v>
                </c:pt>
                <c:pt idx="2">
                  <c:v>0.6995157776</c:v>
                </c:pt>
                <c:pt idx="3">
                  <c:v>0.7030186544</c:v>
                </c:pt>
                <c:pt idx="4">
                  <c:v>0.7059168098</c:v>
                </c:pt>
                <c:pt idx="5">
                  <c:v>0.7073193416</c:v>
                </c:pt>
                <c:pt idx="6">
                  <c:v>0.7084658324</c:v>
                </c:pt>
                <c:pt idx="7">
                  <c:v>0.7081306461</c:v>
                </c:pt>
                <c:pt idx="8">
                  <c:v>0.7078414956</c:v>
                </c:pt>
                <c:pt idx="9">
                  <c:v>0.7069119523</c:v>
                </c:pt>
                <c:pt idx="10">
                  <c:v>0.7061682266</c:v>
                </c:pt>
                <c:pt idx="11">
                  <c:v>0.7061899966</c:v>
                </c:pt>
                <c:pt idx="12">
                  <c:v>0.705490834</c:v>
                </c:pt>
                <c:pt idx="13">
                  <c:v>0.7046270483</c:v>
                </c:pt>
                <c:pt idx="14">
                  <c:v>0.7044121883</c:v>
                </c:pt>
                <c:pt idx="15">
                  <c:v>0.7042678596</c:v>
                </c:pt>
                <c:pt idx="16">
                  <c:v>0.70459249</c:v>
                </c:pt>
                <c:pt idx="17">
                  <c:v>0.7052978071</c:v>
                </c:pt>
                <c:pt idx="18">
                  <c:v>0.7061476123</c:v>
                </c:pt>
                <c:pt idx="19">
                  <c:v>0.7073220653</c:v>
                </c:pt>
                <c:pt idx="20">
                  <c:v>0.7085848662</c:v>
                </c:pt>
                <c:pt idx="21">
                  <c:v>0.7098085594</c:v>
                </c:pt>
                <c:pt idx="22">
                  <c:v>0.7114095535</c:v>
                </c:pt>
                <c:pt idx="23">
                  <c:v>0.7139156176</c:v>
                </c:pt>
                <c:pt idx="24">
                  <c:v>0.7147548661</c:v>
                </c:pt>
                <c:pt idx="25">
                  <c:v>0.7156659487</c:v>
                </c:pt>
                <c:pt idx="26">
                  <c:v>0.7159363756</c:v>
                </c:pt>
                <c:pt idx="27">
                  <c:v>0.7164351345</c:v>
                </c:pt>
                <c:pt idx="28">
                  <c:v>0.7164334604</c:v>
                </c:pt>
                <c:pt idx="29">
                  <c:v>0.7156973448</c:v>
                </c:pt>
                <c:pt idx="30">
                  <c:v>0.7137417219</c:v>
                </c:pt>
                <c:pt idx="31">
                  <c:v>0.7133340269</c:v>
                </c:pt>
                <c:pt idx="32">
                  <c:v>0.7128704546</c:v>
                </c:pt>
                <c:pt idx="33">
                  <c:v>0.7124105507</c:v>
                </c:pt>
                <c:pt idx="34">
                  <c:v>0.7109220261</c:v>
                </c:pt>
                <c:pt idx="35">
                  <c:v>0.7095155024</c:v>
                </c:pt>
                <c:pt idx="36">
                  <c:v>0.7092462326</c:v>
                </c:pt>
                <c:pt idx="37">
                  <c:v>0.7087380623</c:v>
                </c:pt>
                <c:pt idx="38">
                  <c:v>0.708310975</c:v>
                </c:pt>
                <c:pt idx="39">
                  <c:v>0.7084778284</c:v>
                </c:pt>
                <c:pt idx="40">
                  <c:v>0.7088029319</c:v>
                </c:pt>
                <c:pt idx="41">
                  <c:v>0.7088757464</c:v>
                </c:pt>
                <c:pt idx="42">
                  <c:v>0.7082840927</c:v>
                </c:pt>
                <c:pt idx="43">
                  <c:v>0.7057564484</c:v>
                </c:pt>
                <c:pt idx="44">
                  <c:v>0.7040444631</c:v>
                </c:pt>
                <c:pt idx="45">
                  <c:v>0.7026828249</c:v>
                </c:pt>
                <c:pt idx="46">
                  <c:v>0.7020066428</c:v>
                </c:pt>
                <c:pt idx="47">
                  <c:v>0.7012232411</c:v>
                </c:pt>
                <c:pt idx="48">
                  <c:v>0.6992334301</c:v>
                </c:pt>
                <c:pt idx="49">
                  <c:v>0.6989271291</c:v>
                </c:pt>
                <c:pt idx="50">
                  <c:v>0.6976591373</c:v>
                </c:pt>
                <c:pt idx="51">
                  <c:v>0.695867869</c:v>
                </c:pt>
                <c:pt idx="52">
                  <c:v>0.6941314761</c:v>
                </c:pt>
                <c:pt idx="53">
                  <c:v>0.6931831232</c:v>
                </c:pt>
                <c:pt idx="54">
                  <c:v>0.6925925067</c:v>
                </c:pt>
                <c:pt idx="55">
                  <c:v>0.6917571517</c:v>
                </c:pt>
                <c:pt idx="56">
                  <c:v>0.6911181872</c:v>
                </c:pt>
                <c:pt idx="57">
                  <c:v>0.6901803435</c:v>
                </c:pt>
                <c:pt idx="58">
                  <c:v>0.6886793381</c:v>
                </c:pt>
                <c:pt idx="59">
                  <c:v>0.6876529978</c:v>
                </c:pt>
                <c:pt idx="60">
                  <c:v>0.6848043859</c:v>
                </c:pt>
                <c:pt idx="61">
                  <c:v>0.6788956013</c:v>
                </c:pt>
                <c:pt idx="62">
                  <c:v>0.6730027881</c:v>
                </c:pt>
                <c:pt idx="63">
                  <c:v>0.6671648385</c:v>
                </c:pt>
                <c:pt idx="64">
                  <c:v>0.6611561191</c:v>
                </c:pt>
                <c:pt idx="65">
                  <c:v>0.6545647666</c:v>
                </c:pt>
                <c:pt idx="66">
                  <c:v>0.64832611</c:v>
                </c:pt>
                <c:pt idx="67">
                  <c:v>0.6469721602</c:v>
                </c:pt>
                <c:pt idx="68">
                  <c:v>0.6419854731</c:v>
                </c:pt>
                <c:pt idx="69">
                  <c:v>0.635509567</c:v>
                </c:pt>
                <c:pt idx="70">
                  <c:v>0.6312423038</c:v>
                </c:pt>
                <c:pt idx="71">
                  <c:v>0.6215806235</c:v>
                </c:pt>
                <c:pt idx="72">
                  <c:v>0.61643877</c:v>
                </c:pt>
                <c:pt idx="73">
                  <c:v>0.6051813346</c:v>
                </c:pt>
                <c:pt idx="74">
                  <c:v>0.6019711945</c:v>
                </c:pt>
                <c:pt idx="75">
                  <c:v>0.5919278736</c:v>
                </c:pt>
                <c:pt idx="76">
                  <c:v>0.5747004058</c:v>
                </c:pt>
                <c:pt idx="77">
                  <c:v>0.575243269</c:v>
                </c:pt>
                <c:pt idx="78">
                  <c:v>0.5588542023</c:v>
                </c:pt>
                <c:pt idx="79">
                  <c:v>0.5418312062</c:v>
                </c:pt>
                <c:pt idx="80">
                  <c:v>0.5312188833</c:v>
                </c:pt>
                <c:pt idx="81">
                  <c:v>0.5223052478</c:v>
                </c:pt>
                <c:pt idx="82">
                  <c:v>0.5071052413</c:v>
                </c:pt>
                <c:pt idx="83">
                  <c:v>0.506537933</c:v>
                </c:pt>
                <c:pt idx="84">
                  <c:v>0.4930930199</c:v>
                </c:pt>
                <c:pt idx="85">
                  <c:v>0.4798699031</c:v>
                </c:pt>
                <c:pt idx="86">
                  <c:v>0.467573848</c:v>
                </c:pt>
                <c:pt idx="87">
                  <c:v>0.4598451475</c:v>
                </c:pt>
                <c:pt idx="88">
                  <c:v>0.4403384139</c:v>
                </c:pt>
                <c:pt idx="89">
                  <c:v>0.4259321807</c:v>
                </c:pt>
                <c:pt idx="90">
                  <c:v>0.4016106525</c:v>
                </c:pt>
                <c:pt idx="91">
                  <c:v>0.3832748848</c:v>
                </c:pt>
                <c:pt idx="92">
                  <c:v>0.3695853465</c:v>
                </c:pt>
                <c:pt idx="93">
                  <c:v>0.3479085721</c:v>
                </c:pt>
                <c:pt idx="94">
                  <c:v>0.3316922128</c:v>
                </c:pt>
                <c:pt idx="95">
                  <c:v>0.3185259656</c:v>
                </c:pt>
                <c:pt idx="96">
                  <c:v>0.3078349144</c:v>
                </c:pt>
                <c:pt idx="97">
                  <c:v>0.2984253836</c:v>
                </c:pt>
                <c:pt idx="98">
                  <c:v>0.2883685498</c:v>
                </c:pt>
                <c:pt idx="99">
                  <c:v>0.2786035159</c:v>
                </c:pt>
                <c:pt idx="100">
                  <c:v>0.2750346273</c:v>
                </c:pt>
                <c:pt idx="101">
                  <c:v>0.2652038564</c:v>
                </c:pt>
                <c:pt idx="102">
                  <c:v>0.2600930843</c:v>
                </c:pt>
                <c:pt idx="103">
                  <c:v>0.2548599968</c:v>
                </c:pt>
                <c:pt idx="104">
                  <c:v>0.2489299028</c:v>
                </c:pt>
                <c:pt idx="105">
                  <c:v>0.2442976466</c:v>
                </c:pt>
                <c:pt idx="106">
                  <c:v>0.24111177</c:v>
                </c:pt>
                <c:pt idx="107">
                  <c:v>0.2391981162</c:v>
                </c:pt>
                <c:pt idx="108">
                  <c:v>0.2367947125</c:v>
                </c:pt>
                <c:pt idx="109">
                  <c:v>0.2335450169</c:v>
                </c:pt>
                <c:pt idx="110">
                  <c:v>0.2320705303</c:v>
                </c:pt>
                <c:pt idx="111">
                  <c:v>0.2295924028</c:v>
                </c:pt>
                <c:pt idx="112">
                  <c:v>0.2283551443</c:v>
                </c:pt>
                <c:pt idx="113">
                  <c:v>0.2261291492</c:v>
                </c:pt>
                <c:pt idx="114">
                  <c:v>0.2249588117</c:v>
                </c:pt>
                <c:pt idx="115">
                  <c:v>0.2232423029</c:v>
                </c:pt>
                <c:pt idx="116">
                  <c:v>0.2205537707</c:v>
                </c:pt>
                <c:pt idx="117">
                  <c:v>0.2174069567</c:v>
                </c:pt>
                <c:pt idx="118">
                  <c:v>0.2157003995</c:v>
                </c:pt>
                <c:pt idx="119">
                  <c:v>0.2128745055</c:v>
                </c:pt>
                <c:pt idx="120">
                  <c:v>0.2104758393</c:v>
                </c:pt>
                <c:pt idx="121">
                  <c:v>0.2063005203</c:v>
                </c:pt>
                <c:pt idx="122">
                  <c:v>0.2020818335</c:v>
                </c:pt>
                <c:pt idx="123">
                  <c:v>0.1994433308</c:v>
                </c:pt>
                <c:pt idx="124">
                  <c:v>0.1990248548</c:v>
                </c:pt>
                <c:pt idx="125">
                  <c:v>0.1975902344</c:v>
                </c:pt>
                <c:pt idx="126">
                  <c:v>0.19604976</c:v>
                </c:pt>
                <c:pt idx="127">
                  <c:v>0.1952987261</c:v>
                </c:pt>
                <c:pt idx="128">
                  <c:v>0.1938093214</c:v>
                </c:pt>
                <c:pt idx="129">
                  <c:v>0.194010558</c:v>
                </c:pt>
                <c:pt idx="130">
                  <c:v>0.1938043201</c:v>
                </c:pt>
                <c:pt idx="131">
                  <c:v>0.1930916208</c:v>
                </c:pt>
                <c:pt idx="132">
                  <c:v>0.1942476936</c:v>
                </c:pt>
                <c:pt idx="133">
                  <c:v>0.1929039612</c:v>
                </c:pt>
                <c:pt idx="134">
                  <c:v>0.1948948909</c:v>
                </c:pt>
                <c:pt idx="135">
                  <c:v>0.1942559625</c:v>
                </c:pt>
                <c:pt idx="136">
                  <c:v>0.1944113765</c:v>
                </c:pt>
                <c:pt idx="137">
                  <c:v>0.1924455164</c:v>
                </c:pt>
                <c:pt idx="138">
                  <c:v>0.1922618008</c:v>
                </c:pt>
                <c:pt idx="139">
                  <c:v>0.1936297022</c:v>
                </c:pt>
                <c:pt idx="140">
                  <c:v>0.1924229904</c:v>
                </c:pt>
                <c:pt idx="141">
                  <c:v>0.1935599677</c:v>
                </c:pt>
                <c:pt idx="142">
                  <c:v>0.1931826961</c:v>
                </c:pt>
                <c:pt idx="143">
                  <c:v>0.1915247029</c:v>
                </c:pt>
                <c:pt idx="144">
                  <c:v>0.1932828891</c:v>
                </c:pt>
                <c:pt idx="145">
                  <c:v>0.1929736597</c:v>
                </c:pt>
                <c:pt idx="146">
                  <c:v>0.1932460461</c:v>
                </c:pt>
                <c:pt idx="147">
                  <c:v>0.191628526</c:v>
                </c:pt>
                <c:pt idx="148">
                  <c:v>0.1928033005</c:v>
                </c:pt>
                <c:pt idx="149">
                  <c:v>0.1926223571</c:v>
                </c:pt>
                <c:pt idx="150">
                  <c:v>0.191994965</c:v>
                </c:pt>
                <c:pt idx="151">
                  <c:v>0.1920900446</c:v>
                </c:pt>
                <c:pt idx="152">
                  <c:v>0.1918094783</c:v>
                </c:pt>
                <c:pt idx="153">
                  <c:v>0.1924783386</c:v>
                </c:pt>
                <c:pt idx="154">
                  <c:v>0.1921300043</c:v>
                </c:pt>
                <c:pt idx="155">
                  <c:v>0.1920092625</c:v>
                </c:pt>
                <c:pt idx="156">
                  <c:v>0.1908934247</c:v>
                </c:pt>
                <c:pt idx="157">
                  <c:v>0.1886286539</c:v>
                </c:pt>
                <c:pt idx="158">
                  <c:v>0.1888110895</c:v>
                </c:pt>
                <c:pt idx="159">
                  <c:v>0.1876204127</c:v>
                </c:pt>
                <c:pt idx="160">
                  <c:v>0.1883753093</c:v>
                </c:pt>
                <c:pt idx="161">
                  <c:v>0.1891403896</c:v>
                </c:pt>
                <c:pt idx="162">
                  <c:v>0.1903440091</c:v>
                </c:pt>
                <c:pt idx="163">
                  <c:v>0.1892602516</c:v>
                </c:pt>
                <c:pt idx="164">
                  <c:v>0.1912935231</c:v>
                </c:pt>
                <c:pt idx="165">
                  <c:v>0.1907893332</c:v>
                </c:pt>
                <c:pt idx="166">
                  <c:v>0.1923024266</c:v>
                </c:pt>
                <c:pt idx="167">
                  <c:v>0.1915690507</c:v>
                </c:pt>
                <c:pt idx="168">
                  <c:v>0.192542808</c:v>
                </c:pt>
                <c:pt idx="169">
                  <c:v>0.1925281544</c:v>
                </c:pt>
                <c:pt idx="170">
                  <c:v>0.1911597619</c:v>
                </c:pt>
                <c:pt idx="171">
                  <c:v>0.1916755436</c:v>
                </c:pt>
                <c:pt idx="172">
                  <c:v>0.1916988993</c:v>
                </c:pt>
                <c:pt idx="173">
                  <c:v>0.1916818316</c:v>
                </c:pt>
                <c:pt idx="174">
                  <c:v>0.191719135</c:v>
                </c:pt>
                <c:pt idx="175">
                  <c:v>0.1919876092</c:v>
                </c:pt>
                <c:pt idx="176">
                  <c:v>0.1921041064</c:v>
                </c:pt>
                <c:pt idx="177">
                  <c:v>0.1931332654</c:v>
                </c:pt>
                <c:pt idx="178">
                  <c:v>0.1928008864</c:v>
                </c:pt>
                <c:pt idx="179">
                  <c:v>0.193114826</c:v>
                </c:pt>
                <c:pt idx="180">
                  <c:v>0.1917967178</c:v>
                </c:pt>
                <c:pt idx="181">
                  <c:v>0.1924441224</c:v>
                </c:pt>
                <c:pt idx="182">
                  <c:v>0.1918844936</c:v>
                </c:pt>
                <c:pt idx="183">
                  <c:v>0.1931596086</c:v>
                </c:pt>
                <c:pt idx="184">
                  <c:v>0.1923143777</c:v>
                </c:pt>
                <c:pt idx="185">
                  <c:v>0.1924271221</c:v>
                </c:pt>
                <c:pt idx="186">
                  <c:v>0.1929153051</c:v>
                </c:pt>
                <c:pt idx="187">
                  <c:v>0.1922010027</c:v>
                </c:pt>
                <c:pt idx="188">
                  <c:v>0.1943116236</c:v>
                </c:pt>
                <c:pt idx="189">
                  <c:v>0.1926413715</c:v>
                </c:pt>
                <c:pt idx="190">
                  <c:v>0.1939147825</c:v>
                </c:pt>
                <c:pt idx="191">
                  <c:v>0.1926594451</c:v>
                </c:pt>
                <c:pt idx="192">
                  <c:v>0.1928717097</c:v>
                </c:pt>
                <c:pt idx="193">
                  <c:v>0.1933458922</c:v>
                </c:pt>
                <c:pt idx="194">
                  <c:v>0.1934507741</c:v>
                </c:pt>
                <c:pt idx="195">
                  <c:v>0.1943596125</c:v>
                </c:pt>
                <c:pt idx="196">
                  <c:v>0.1927028136</c:v>
                </c:pt>
                <c:pt idx="197">
                  <c:v>0.1913429788</c:v>
                </c:pt>
                <c:pt idx="198">
                  <c:v>0.1911602304</c:v>
                </c:pt>
                <c:pt idx="199">
                  <c:v>0.1903384954</c:v>
                </c:pt>
                <c:pt idx="200">
                  <c:v>0.1902637967</c:v>
                </c:pt>
                <c:pt idx="201">
                  <c:v>0.1914722939</c:v>
                </c:pt>
                <c:pt idx="202">
                  <c:v>0.1916468486</c:v>
                </c:pt>
                <c:pt idx="203">
                  <c:v>0.1916238035</c:v>
                </c:pt>
                <c:pt idx="204">
                  <c:v>0.1893313625</c:v>
                </c:pt>
                <c:pt idx="205">
                  <c:v>0.1914420189</c:v>
                </c:pt>
                <c:pt idx="206">
                  <c:v>0.1902519241</c:v>
                </c:pt>
                <c:pt idx="207">
                  <c:v>0.188008273</c:v>
                </c:pt>
                <c:pt idx="208">
                  <c:v>0.1890366783</c:v>
                </c:pt>
                <c:pt idx="209">
                  <c:v>0.1890648067</c:v>
                </c:pt>
                <c:pt idx="210">
                  <c:v>0.1880662421</c:v>
                </c:pt>
                <c:pt idx="211">
                  <c:v>0.1842346125</c:v>
                </c:pt>
                <c:pt idx="212">
                  <c:v>0.1826679346</c:v>
                </c:pt>
                <c:pt idx="213">
                  <c:v>0.1819420764</c:v>
                </c:pt>
                <c:pt idx="214">
                  <c:v>0.1807099705</c:v>
                </c:pt>
                <c:pt idx="215">
                  <c:v>0.1782066275</c:v>
                </c:pt>
                <c:pt idx="216">
                  <c:v>0.1710608534</c:v>
                </c:pt>
                <c:pt idx="217">
                  <c:v>0.1725594124</c:v>
                </c:pt>
                <c:pt idx="218">
                  <c:v>0.1708384269</c:v>
                </c:pt>
                <c:pt idx="219">
                  <c:v>0.1715121176</c:v>
                </c:pt>
                <c:pt idx="220">
                  <c:v>0.1701422446</c:v>
                </c:pt>
                <c:pt idx="221">
                  <c:v>0.1698943587</c:v>
                </c:pt>
                <c:pt idx="222">
                  <c:v>0.1687766854</c:v>
                </c:pt>
                <c:pt idx="223">
                  <c:v>0.1679548406</c:v>
                </c:pt>
                <c:pt idx="224">
                  <c:v>0.1690912713</c:v>
                </c:pt>
                <c:pt idx="225">
                  <c:v>0.1683196033</c:v>
                </c:pt>
                <c:pt idx="226">
                  <c:v>0.1682372986</c:v>
                </c:pt>
                <c:pt idx="227">
                  <c:v>0.1688839223</c:v>
                </c:pt>
                <c:pt idx="228">
                  <c:v>0.1689230926</c:v>
                </c:pt>
                <c:pt idx="229">
                  <c:v>0.1685324016</c:v>
                </c:pt>
                <c:pt idx="230">
                  <c:v>0.1689207228</c:v>
                </c:pt>
                <c:pt idx="231">
                  <c:v>0.1686645446</c:v>
                </c:pt>
                <c:pt idx="232">
                  <c:v>0.1685827699</c:v>
                </c:pt>
                <c:pt idx="233">
                  <c:v>0.1849888553</c:v>
                </c:pt>
                <c:pt idx="234">
                  <c:v>0.180400536</c:v>
                </c:pt>
                <c:pt idx="235">
                  <c:v>0.1765559312</c:v>
                </c:pt>
                <c:pt idx="236">
                  <c:v>0.1719101074</c:v>
                </c:pt>
                <c:pt idx="237">
                  <c:v>0.1724369545</c:v>
                </c:pt>
                <c:pt idx="238">
                  <c:v>0.1657474887</c:v>
                </c:pt>
                <c:pt idx="239">
                  <c:v>0.1640678899</c:v>
                </c:pt>
                <c:pt idx="240">
                  <c:v>0.1695369242</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350">
                    <a:latin typeface="Arial"/>
                    <a:ea typeface="Arial"/>
                    <a:cs typeface="Arial"/>
                  </a:rPr>
                  <a:t>Completed updates</a:t>
                </a:r>
              </a:p>
            </c:rich>
          </c:tx>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sz="1350">
                    <a:latin typeface="Arial"/>
                    <a:ea typeface="Arial"/>
                    <a:cs typeface="Arial"/>
                  </a:rPr>
                  <a:t>Cross-entropy</a:t>
                </a:r>
              </a:p>
            </c:rich>
          </c:tx>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spPr>
        <a:solidFill xmlns:a="http://schemas.openxmlformats.org/drawingml/2006/main">
          <a:srgbClr val="F2F1E8"/>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legend>
    <c:plotVisOnly val="1"/>
  </c:chart>
  <c:spPr>
    <a:solidFill xmlns:a="http://schemas.openxmlformats.org/drawingml/2006/main">
      <a:srgbClr val="F2F1E8"/>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83C2D"/>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E68E1E5-F337-4006-B4B9-1FDC840B14F8}"/>
              </a:ext>
            </a:extLst>
          </p:cNvPr>
          <p:cNvSpPr>
            <a:spLocks xmlns:a="http://schemas.openxmlformats.org/drawingml/2006/main" noGrp="1"/>
          </p:cNvSpPr>
          <p:nvPr/>
        </p:nvSpPr>
        <p:spPr>
          <a:xfrm xmlns:a="http://schemas.openxmlformats.org/drawingml/2006/main">
            <a:off x="609600" y="1524000"/>
            <a:ext cx="109728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F1E8"/>
                </a:solidFill>
                <a:latin typeface="Arial"/>
                <a:ea typeface="Arial"/>
                <a:cs typeface="Arial"/>
              </a:defRPr>
            </a:defPPr>
          </a:lstStyle>
          <a:p xmlns:a="http://schemas.openxmlformats.org/drawingml/2006/main">
            <a:pPr>
              <a:defRPr sz="4350" b="1">
                <a:solidFill>
                  <a:srgbClr val="F2F1E8"/>
                </a:solidFill>
                <a:latin typeface="Arial"/>
                <a:ea typeface="Arial"/>
                <a:cs typeface="Arial"/>
              </a:defRPr>
            </a:pPr>
            <a:r>
              <a:rPr sz="4350" b="1">
                <a:solidFill>
                  <a:srgbClr val="F2F1E8"/>
                </a:solidFill>
                <a:latin typeface="Arial"/>
                <a:ea typeface="Arial"/>
                <a:cs typeface="Arial"/>
              </a:rPr>
              <a:t>Neural networks through matrix operations</a:t>
            </a:r>
          </a:p>
        </p:txBody>
      </p:sp>
      <p:sp>
        <p:nvSpPr>
          <p:cNvPr id="2" name="">
            <a:extLst xmlns:a="http://schemas.openxmlformats.org/drawingml/2006/main">
              <a:ext uri="{FF2B5EF4-FFF2-40B4-BE49-F238E27FC236}">
                <a16:creationId xmlns:a16="http://schemas.microsoft.com/office/drawing/2014/main" id="{6C727F08-24F3-4993-B858-1098228A7BCA}"/>
              </a:ext>
            </a:extLst>
          </p:cNvPr>
          <p:cNvSpPr>
            <a:spLocks xmlns:a="http://schemas.openxmlformats.org/drawingml/2006/main" noGrp="1"/>
          </p:cNvSpPr>
          <p:nvPr/>
        </p:nvSpPr>
        <p:spPr>
          <a:xfrm xmlns:a="http://schemas.openxmlformats.org/drawingml/2006/main">
            <a:off x="647700" y="3667125"/>
            <a:ext cx="10477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F2F1E8"/>
                </a:solidFill>
                <a:latin typeface="Arial"/>
                <a:ea typeface="Arial"/>
                <a:cs typeface="Arial"/>
              </a:defRPr>
            </a:defPPr>
          </a:lstStyle>
          <a:p xmlns:a="http://schemas.openxmlformats.org/drawingml/2006/main">
            <a:pPr>
              <a:defRPr sz="2400" b="0">
                <a:solidFill>
                  <a:srgbClr val="F2F1E8"/>
                </a:solidFill>
                <a:latin typeface="Arial"/>
                <a:ea typeface="Arial"/>
                <a:cs typeface="Arial"/>
              </a:defRPr>
            </a:pPr>
            <a:r>
              <a:rPr sz="2400" b="0">
                <a:solidFill>
                  <a:srgbClr val="F2F1E8"/>
                </a:solidFill>
                <a:latin typeface="Arial"/>
                <a:ea typeface="Arial"/>
                <a:cs typeface="Arial"/>
              </a:rPr>
              <a:t>Affine maps, backpropagation, PCA and SVD</a:t>
            </a:r>
          </a:p>
          <a:p xmlns:a="http://schemas.openxmlformats.org/drawingml/2006/main">
            <a:pPr>
              <a:defRPr sz="2400" b="0">
                <a:solidFill>
                  <a:srgbClr val="F2F1E8"/>
                </a:solidFill>
                <a:latin typeface="Arial"/>
                <a:ea typeface="Arial"/>
                <a:cs typeface="Arial"/>
              </a:defRPr>
            </a:pPr>
            <a:r>
              <a:rPr sz="2400" b="0">
                <a:solidFill>
                  <a:srgbClr val="F2F1E8"/>
                </a:solidFill>
                <a:latin typeface="Arial"/>
                <a:ea typeface="Arial"/>
                <a:cs typeface="Arial"/>
              </a:rPr>
              <a:t>UE25MA242A: Mathematical Foundation for AI &amp; Data Science</a:t>
            </a:r>
          </a:p>
        </p:txBody>
      </p:sp>
      <p:sp>
        <p:nvSpPr>
          <p:cNvPr id="3" name="">
            <a:extLst xmlns:a="http://schemas.openxmlformats.org/drawingml/2006/main">
              <a:ext uri="{FF2B5EF4-FFF2-40B4-BE49-F238E27FC236}">
                <a16:creationId xmlns:a16="http://schemas.microsoft.com/office/drawing/2014/main" id="{A0734183-A36F-4E21-A7E7-FB64A61D40CA}"/>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9C3AD"/>
                </a:solidFill>
                <a:latin typeface="Arial"/>
                <a:ea typeface="Arial"/>
                <a:cs typeface="Arial"/>
              </a:defRPr>
            </a:defPPr>
          </a:lstStyle>
          <a:p xmlns:a="http://schemas.openxmlformats.org/drawingml/2006/main">
            <a:pPr>
              <a:defRPr sz="1200" b="0">
                <a:solidFill>
                  <a:srgbClr val="A9C3AD"/>
                </a:solidFill>
                <a:latin typeface="Arial"/>
                <a:ea typeface="Arial"/>
                <a:cs typeface="Arial"/>
              </a:defRPr>
            </a:pPr>
            <a:r>
              <a:rPr sz="1200" b="0">
                <a:solidFill>
                  <a:srgbClr val="A9C3AD"/>
                </a:solidFill>
                <a:latin typeface="Arial"/>
                <a:ea typeface="Arial"/>
                <a:cs typeface="Arial"/>
              </a:rPr>
              <a:t>01 / 16</a:t>
            </a:r>
          </a:p>
        </p:txBody>
      </p:sp>
    </p:spTree>
    <p:extLst>
      <p:ext uri="{BB962C8B-B14F-4D97-AF65-F5344CB8AC3E}">
        <p14:creationId xmlns:p14="http://schemas.microsoft.com/office/powerpoint/2010/main" val="87240302"/>
      </p:ext>
    </p:extLst>
  </p:cSld>
</p:sld>
</file>

<file path=ppt/slides/slide2.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FCF1BA4-AF82-4409-8933-F81B464D6155}"/>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Connection to the supplied projects</a:t>
            </a:r>
          </a:p>
        </p:txBody>
      </p:sp>
      <p:sp>
        <p:nvSpPr>
          <p:cNvPr id="2" name="">
            <a:extLst xmlns:a="http://schemas.openxmlformats.org/drawingml/2006/main">
              <a:ext uri="{FF2B5EF4-FFF2-40B4-BE49-F238E27FC236}">
                <a16:creationId xmlns:a16="http://schemas.microsoft.com/office/drawing/2014/main" id="{0B18B52D-558F-4710-ACE8-8B6DFFDFB15D}"/>
              </a:ext>
            </a:extLst>
          </p:cNvPr>
          <p:cNvSpPr>
            <a:spLocks xmlns:a="http://schemas.openxmlformats.org/drawingml/2006/main" noGrp="1"/>
          </p:cNvSpPr>
          <p:nvPr/>
        </p:nvSpPr>
        <p:spPr>
          <a:xfrm xmlns:a="http://schemas.openxmlformats.org/drawingml/2006/main">
            <a:off x="857250" y="2000250"/>
            <a:ext cx="104775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183C2D"/>
                </a:solidFill>
                <a:latin typeface="Arial"/>
                <a:ea typeface="Arial"/>
                <a:cs typeface="Arial"/>
              </a:defRPr>
            </a:defPPr>
          </a:lstStyle>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Project 10: compositions of matrix transformations</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Project 11: PCA of hidden activations</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Project 14: SVD and rank approximation</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An extension of the supplied topics</a:t>
            </a:r>
          </a:p>
        </p:txBody>
      </p:sp>
      <p:sp>
        <p:nvSpPr>
          <p:cNvPr id="3" name="">
            <a:extLst xmlns:a="http://schemas.openxmlformats.org/drawingml/2006/main">
              <a:ext uri="{FF2B5EF4-FFF2-40B4-BE49-F238E27FC236}">
                <a16:creationId xmlns:a16="http://schemas.microsoft.com/office/drawing/2014/main" id="{BFD82D8D-4EA8-478F-8D41-C0BDEFFE33AE}"/>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02 / 16</a:t>
            </a:r>
          </a:p>
        </p:txBody>
      </p:sp>
    </p:spTree>
    <p:extLst>
      <p:ext uri="{BB962C8B-B14F-4D97-AF65-F5344CB8AC3E}">
        <p14:creationId xmlns:p14="http://schemas.microsoft.com/office/powerpoint/2010/main" val="2040504976"/>
      </p:ext>
    </p:extLst>
  </p:cSld>
</p:sld>
</file>

<file path=ppt/slides/slide3.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C9E0C35-BFBA-49C4-9CEA-1BADA6B0D757}"/>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Two spirals and a held-out test set</a:t>
            </a:r>
          </a:p>
        </p:txBody>
      </p:sp>
      <p:pic>
        <p:nvPicPr>
          <p:cNvPr id="2" name="">
            <a:extLst xmlns:a="http://schemas.openxmlformats.org/drawingml/2006/main">
              <a:ext uri="{FF2B5EF4-FFF2-40B4-BE49-F238E27FC236}">
                <a16:creationId xmlns:a16="http://schemas.microsoft.com/office/drawing/2014/main" id="{448B31E6-71B1-43F4-80FA-80FFA39845A1}"/>
              </a:ext>
            </a:extLst>
          </p:cNvPr>
          <p:cNvPicPr>
            <a:picLocks xmlns:a="http://schemas.openxmlformats.org/drawingml/2006/main" noChangeAspect="1"/>
          </p:cNvPicPr>
          <p:nvPr/>
        </p:nvPicPr>
        <p:blipFill>
          <a:blip xmlns:r="http://schemas.openxmlformats.org/officeDocument/2006/relationships" xmlns:a="http://schemas.openxmlformats.org/drawingml/2006/main" r:embed="R49c8f78d17884fbb"/>
          <a:stretch xmlns:a="http://schemas.openxmlformats.org/drawingml/2006/main"/>
        </p:blipFill>
        <p:spPr>
          <a:xfrm xmlns:a="http://schemas.openxmlformats.org/drawingml/2006/main">
            <a:off x="1243184" y="1657350"/>
            <a:ext cx="9705631" cy="33813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F1EA7A0-2DB1-420C-BC93-ED69A560B83F}"/>
              </a:ext>
            </a:extLst>
          </p:cNvPr>
          <p:cNvSpPr>
            <a:spLocks xmlns:a="http://schemas.openxmlformats.org/drawingml/2006/main" noGrp="1"/>
          </p:cNvSpPr>
          <p:nvPr/>
        </p:nvSpPr>
        <p:spPr>
          <a:xfrm xmlns:a="http://schemas.openxmlformats.org/drawingml/2006/main">
            <a:off x="647700" y="52863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C2D"/>
                </a:solidFill>
                <a:latin typeface="Arial"/>
                <a:ea typeface="Arial"/>
                <a:cs typeface="Arial"/>
              </a:defRPr>
            </a:defPPr>
          </a:lstStyle>
          <a:p xmlns:a="http://schemas.openxmlformats.org/drawingml/2006/main">
            <a:pPr>
              <a:defRPr sz="2025" b="0">
                <a:solidFill>
                  <a:srgbClr val="183C2D"/>
                </a:solidFill>
                <a:latin typeface="Arial"/>
                <a:ea typeface="Arial"/>
                <a:cs typeface="Arial"/>
              </a:defRPr>
            </a:pPr>
            <a:r>
              <a:rPr sz="2025" b="0">
                <a:solidFill>
                  <a:srgbClr val="183C2D"/>
                </a:solidFill>
                <a:latin typeface="Arial"/>
                <a:ea typeface="Arial"/>
                <a:cs typeface="Arial"/>
              </a:rPr>
              <a:t>400 points, two turns per spiral</a:t>
            </a:r>
          </a:p>
          <a:p xmlns:a="http://schemas.openxmlformats.org/drawingml/2006/main">
            <a:pPr>
              <a:defRPr sz="2025" b="0">
                <a:solidFill>
                  <a:srgbClr val="183C2D"/>
                </a:solidFill>
                <a:latin typeface="Arial"/>
                <a:ea typeface="Arial"/>
                <a:cs typeface="Arial"/>
              </a:defRPr>
            </a:pPr>
            <a:r>
              <a:rPr sz="2025" b="0">
                <a:solidFill>
                  <a:srgbClr val="183C2D"/>
                </a:solidFill>
                <a:latin typeface="Arial"/>
                <a:ea typeface="Arial"/>
                <a:cs typeface="Arial"/>
              </a:rPr>
              <a:t>Cartesian noise standard deviation 0.0125</a:t>
            </a:r>
          </a:p>
          <a:p xmlns:a="http://schemas.openxmlformats.org/drawingml/2006/main">
            <a:pPr>
              <a:defRPr sz="2025" b="0">
                <a:solidFill>
                  <a:srgbClr val="183C2D"/>
                </a:solidFill>
                <a:latin typeface="Arial"/>
                <a:ea typeface="Arial"/>
                <a:cs typeface="Arial"/>
              </a:defRPr>
            </a:pPr>
            <a:r>
              <a:rPr sz="2025" b="0">
                <a:solidFill>
                  <a:srgbClr val="183C2D"/>
                </a:solidFill>
                <a:latin typeface="Arial"/>
                <a:ea typeface="Arial"/>
                <a:cs typeface="Arial"/>
              </a:rPr>
              <a:t>240 training, 80 validation, 80 test</a:t>
            </a:r>
          </a:p>
          <a:p xmlns:a="http://schemas.openxmlformats.org/drawingml/2006/main">
            <a:pPr>
              <a:defRPr sz="2025" b="0">
                <a:solidFill>
                  <a:srgbClr val="183C2D"/>
                </a:solidFill>
                <a:latin typeface="Arial"/>
                <a:ea typeface="Arial"/>
                <a:cs typeface="Arial"/>
              </a:defRPr>
            </a:pPr>
            <a:r>
              <a:rPr sz="2025" b="0">
                <a:solidFill>
                  <a:srgbClr val="183C2D"/>
                </a:solidFill>
                <a:latin typeface="Arial"/>
                <a:ea typeface="Arial"/>
                <a:cs typeface="Arial"/>
              </a:rPr>
              <a:t>Balanced classes in each split</a:t>
            </a:r>
          </a:p>
        </p:txBody>
      </p:sp>
      <p:sp>
        <p:nvSpPr>
          <p:cNvPr id="4" name="">
            <a:extLst xmlns:a="http://schemas.openxmlformats.org/drawingml/2006/main">
              <a:ext uri="{FF2B5EF4-FFF2-40B4-BE49-F238E27FC236}">
                <a16:creationId xmlns:a16="http://schemas.microsoft.com/office/drawing/2014/main" id="{14B9E881-5A90-4B86-B867-006C2C6A47BF}"/>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03 / 16</a:t>
            </a:r>
          </a:p>
        </p:txBody>
      </p:sp>
    </p:spTree>
    <p:extLst>
      <p:ext uri="{BB962C8B-B14F-4D97-AF65-F5344CB8AC3E}">
        <p14:creationId xmlns:p14="http://schemas.microsoft.com/office/powerpoint/2010/main" val="900874897"/>
      </p:ext>
    </p:extLst>
  </p:cSld>
</p:sld>
</file>

<file path=ppt/slides/slide4.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F2CECC5-9977-49FF-9698-53148A6829D8}"/>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Why a line cannot classify every point</a:t>
            </a:r>
          </a:p>
        </p:txBody>
      </p:sp>
      <p:sp>
        <p:nvSpPr>
          <p:cNvPr id="2" name="">
            <a:extLst xmlns:a="http://schemas.openxmlformats.org/drawingml/2006/main">
              <a:ext uri="{FF2B5EF4-FFF2-40B4-BE49-F238E27FC236}">
                <a16:creationId xmlns:a16="http://schemas.microsoft.com/office/drawing/2014/main" id="{4337D397-9AD2-4E7F-BA12-1054E336643D}"/>
              </a:ext>
            </a:extLst>
          </p:cNvPr>
          <p:cNvSpPr>
            <a:spLocks xmlns:a="http://schemas.openxmlformats.org/drawingml/2006/main" noGrp="1"/>
          </p:cNvSpPr>
          <p:nvPr/>
        </p:nvSpPr>
        <p:spPr>
          <a:xfrm xmlns:a="http://schemas.openxmlformats.org/drawingml/2006/main">
            <a:off x="857250" y="2000250"/>
            <a:ext cx="104775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183C2D"/>
                </a:solidFill>
                <a:latin typeface="Arial"/>
                <a:ea typeface="Arial"/>
                <a:cs typeface="Arial"/>
              </a:defRPr>
            </a:defPPr>
          </a:lstStyle>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An affine classifier has a straight decision boundary</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Two same-class segments intersect across classes</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The intersection lies in both convex hulls</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Perfect strict separation is impossible</a:t>
            </a:r>
          </a:p>
        </p:txBody>
      </p:sp>
      <p:sp>
        <p:nvSpPr>
          <p:cNvPr id="3" name="">
            <a:extLst xmlns:a="http://schemas.openxmlformats.org/drawingml/2006/main">
              <a:ext uri="{FF2B5EF4-FFF2-40B4-BE49-F238E27FC236}">
                <a16:creationId xmlns:a16="http://schemas.microsoft.com/office/drawing/2014/main" id="{1E441840-598F-4623-8A97-2A469B76ACA1}"/>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04 / 16</a:t>
            </a:r>
          </a:p>
        </p:txBody>
      </p:sp>
    </p:spTree>
    <p:extLst>
      <p:ext uri="{BB962C8B-B14F-4D97-AF65-F5344CB8AC3E}">
        <p14:creationId xmlns:p14="http://schemas.microsoft.com/office/powerpoint/2010/main" val="844417020"/>
      </p:ext>
    </p:extLst>
  </p:cSld>
</p:sld>
</file>

<file path=ppt/slides/slide5.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7B6FB6D-2080-40CB-A462-8C19F87B51AE}"/>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Architecture and parameter count</a:t>
            </a:r>
          </a:p>
        </p:txBody>
      </p:sp>
      <p:graphicFrame>
        <p:nvGraphicFramePr>
          <p:cNvPr id="2" name="">
            <a:extLst xmlns:a="http://schemas.openxmlformats.org/drawingml/2006/main">
              <a:ext uri="{FF2B5EF4-FFF2-40B4-BE49-F238E27FC236}">
                <a16:creationId xmlns:a16="http://schemas.microsoft.com/office/drawing/2014/main" id="{BBCA0C5E-BC12-481B-B746-3926DBECD15F}"/>
              </a:ext>
            </a:extLst>
          </p:cNvPr>
          <p:cNvGraphicFramePr/>
          <p:nvPr/>
        </p:nvGraphicFramePr>
        <p:xfrm>
          <a:off xmlns:a="http://schemas.openxmlformats.org/drawingml/2006/main" x="609600" y="1809750"/>
          <a:ext xmlns:a="http://schemas.openxmlformats.org/drawingml/2006/main" cx="10972800" cy="3048000"/>
        </p:xfrm>
        <a:graphic xmlns:a="http://schemas.openxmlformats.org/drawingml/2006/main">
          <a:graphicData uri="http://schemas.openxmlformats.org/drawingml/2006/table">
            <a:tbl>
              <a:tblPr/>
              <a:tblGrid>
                <a:gridCol w="2743200"/>
                <a:gridCol w="2743200"/>
                <a:gridCol w="2743200"/>
                <a:gridCol w="2743200"/>
              </a:tblGrid>
              <a:tr h="609600">
                <a:tc>
                  <a:txBody>
                    <a:bodyPr/>
                    <a:lstStyle/>
                    <a:p>
                      <a:r>
                        <a:rPr sz="1875" b="1">
                          <a:solidFill>
                            <a:srgbClr val="183C2D"/>
                          </a:solidFill>
                          <a:latin typeface="Arial"/>
                          <a:ea typeface="Arial"/>
                          <a:cs typeface="Arial"/>
                        </a:rPr>
                        <a:t>Map</a:t>
                      </a:r>
                    </a:p>
                  </a:txBody>
                  <a:tcPr marL="91440" marR="91440" marT="45720" marB="45720">
                    <a:lnL w="5715">
                      <a:solidFill>
                        <a:srgbClr val="B6C6B4"/>
                      </a:solidFill>
                      <a:prstDash val="solid"/>
                    </a:lnL>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Weights</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Biases</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Parameters</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r>
              <a:tr h="609600">
                <a:tc>
                  <a:txBody>
                    <a:bodyPr/>
                    <a:lstStyle/>
                    <a:p>
                      <a:r>
                        <a:rPr sz="1875" b="0">
                          <a:solidFill>
                            <a:srgbClr val="183C2D"/>
                          </a:solidFill>
                          <a:latin typeface="Arial"/>
                          <a:ea typeface="Arial"/>
                          <a:cs typeface="Arial"/>
                        </a:rPr>
                        <a:t>Input to hidden 1</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16 x 2</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16 x 1</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48</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875" b="0">
                          <a:solidFill>
                            <a:srgbClr val="183C2D"/>
                          </a:solidFill>
                          <a:latin typeface="Arial"/>
                          <a:ea typeface="Arial"/>
                          <a:cs typeface="Arial"/>
                        </a:rPr>
                        <a:t>Hidden 1 to hidden 2</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16 x 16</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16 x 1</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272</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875" b="0">
                          <a:solidFill>
                            <a:srgbClr val="183C2D"/>
                          </a:solidFill>
                          <a:latin typeface="Arial"/>
                          <a:ea typeface="Arial"/>
                          <a:cs typeface="Arial"/>
                        </a:rPr>
                        <a:t>Hidden 2 to output</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2 x 16</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2 x 1</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34</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875" b="0">
                          <a:solidFill>
                            <a:srgbClr val="183C2D"/>
                          </a:solidFill>
                          <a:latin typeface="Arial"/>
                          <a:ea typeface="Arial"/>
                          <a:cs typeface="Arial"/>
                        </a:rPr>
                        <a:t>Total</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320 entries</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34 entries</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354</a:t>
                      </a:r>
                    </a:p>
                  </a:txBody>
                  <a:tcPr marL="91440" marR="91440" marT="45720" marB="45720">
                    <a:lnR w="5715">
                      <a:solidFill>
                        <a:srgbClr val="B6C6B4"/>
                      </a:solidFill>
                      <a:prstDash val="solid"/>
                    </a:lnR>
                    <a:lnB w="5715">
                      <a:solidFill>
                        <a:srgbClr val="B6C6B4"/>
                      </a:solidFill>
                      <a:prstDash val="solid"/>
                    </a:lnB>
                    <a:solidFill>
                      <a:srgbClr val="F2F1E8"/>
                    </a:solidFill>
                  </a:tcPr>
                </a:tc>
              </a:tr>
            </a:tbl>
          </a:graphicData>
        </a:graphic>
      </p:graphicFrame>
      <p:sp>
        <p:nvSpPr>
          <p:cNvPr id="3" name="">
            <a:extLst xmlns:a="http://schemas.openxmlformats.org/drawingml/2006/main">
              <a:ext uri="{FF2B5EF4-FFF2-40B4-BE49-F238E27FC236}">
                <a16:creationId xmlns:a16="http://schemas.microsoft.com/office/drawing/2014/main" id="{79859787-5084-45FE-A61D-711DC0C09C2A}"/>
              </a:ext>
            </a:extLst>
          </p:cNvPr>
          <p:cNvSpPr>
            <a:spLocks xmlns:a="http://schemas.openxmlformats.org/drawingml/2006/main" noGrp="1"/>
          </p:cNvSpPr>
          <p:nvPr/>
        </p:nvSpPr>
        <p:spPr>
          <a:xfrm xmlns:a="http://schemas.openxmlformats.org/drawingml/2006/main">
            <a:off x="647700" y="5619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83C2D"/>
                </a:solidFill>
                <a:latin typeface="Arial"/>
                <a:ea typeface="Arial"/>
                <a:cs typeface="Arial"/>
              </a:defRPr>
            </a:defPPr>
          </a:lstStyle>
          <a:p xmlns:a="http://schemas.openxmlformats.org/drawingml/2006/main">
            <a:pPr>
              <a:defRPr sz="1950" b="0">
                <a:solidFill>
                  <a:srgbClr val="183C2D"/>
                </a:solidFill>
                <a:latin typeface="Arial"/>
                <a:ea typeface="Arial"/>
                <a:cs typeface="Arial"/>
              </a:defRPr>
            </a:pPr>
            <a:r>
              <a:rPr sz="1950" b="0">
                <a:solidFill>
                  <a:srgbClr val="183C2D"/>
                </a:solidFill>
                <a:latin typeface="Arial"/>
                <a:ea typeface="Arial"/>
                <a:cs typeface="Arial"/>
              </a:rPr>
              <a:t>Two ReLU hidden layers and a softmax output</a:t>
            </a:r>
          </a:p>
        </p:txBody>
      </p:sp>
      <p:sp>
        <p:nvSpPr>
          <p:cNvPr id="4" name="">
            <a:extLst xmlns:a="http://schemas.openxmlformats.org/drawingml/2006/main">
              <a:ext uri="{FF2B5EF4-FFF2-40B4-BE49-F238E27FC236}">
                <a16:creationId xmlns:a16="http://schemas.microsoft.com/office/drawing/2014/main" id="{60F39E2F-9DA0-4EDE-8ED8-0C8F8E9160DC}"/>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05 / 16</a:t>
            </a:r>
          </a:p>
        </p:txBody>
      </p:sp>
    </p:spTree>
    <p:extLst>
      <p:ext uri="{BB962C8B-B14F-4D97-AF65-F5344CB8AC3E}">
        <p14:creationId xmlns:p14="http://schemas.microsoft.com/office/powerpoint/2010/main" val="1929874408"/>
      </p:ext>
    </p:extLst>
  </p:cSld>
</p:sld>
</file>

<file path=ppt/slides/slide6.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3C15B98-B600-4E34-8B48-F7C6B9800836}"/>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Vectorized forward propagation</a:t>
            </a:r>
          </a:p>
        </p:txBody>
      </p:sp>
      <p:sp>
        <p:nvSpPr>
          <p:cNvPr id="2" name="">
            <a:extLst xmlns:a="http://schemas.openxmlformats.org/drawingml/2006/main">
              <a:ext uri="{FF2B5EF4-FFF2-40B4-BE49-F238E27FC236}">
                <a16:creationId xmlns:a16="http://schemas.microsoft.com/office/drawing/2014/main" id="{E4F65F38-0627-4BF4-B1E9-3D197D580A51}"/>
              </a:ext>
            </a:extLst>
          </p:cNvPr>
          <p:cNvSpPr>
            <a:spLocks xmlns:a="http://schemas.openxmlformats.org/drawingml/2006/main" noGrp="1"/>
          </p:cNvSpPr>
          <p:nvPr/>
        </p:nvSpPr>
        <p:spPr>
          <a:xfrm xmlns:a="http://schemas.openxmlformats.org/drawingml/2006/main">
            <a:off x="857250" y="2000250"/>
            <a:ext cx="104775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183C2D"/>
                </a:solidFill>
                <a:latin typeface="Arial"/>
                <a:ea typeface="Arial"/>
                <a:cs typeface="Arial"/>
              </a:defRPr>
            </a:defPPr>
          </a:lstStyle>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Z_l = W_l A_(l-1) + b_l 1^T</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A1 = ReLU(Z1), A2 = ReLU(Z2)</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P = softmax(Z3)</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Each column holds one sample</a:t>
            </a:r>
          </a:p>
        </p:txBody>
      </p:sp>
      <p:sp>
        <p:nvSpPr>
          <p:cNvPr id="3" name="">
            <a:extLst xmlns:a="http://schemas.openxmlformats.org/drawingml/2006/main">
              <a:ext uri="{FF2B5EF4-FFF2-40B4-BE49-F238E27FC236}">
                <a16:creationId xmlns:a16="http://schemas.microsoft.com/office/drawing/2014/main" id="{E98DCAF2-FB31-4461-8F0A-6C8C7AB9DEE4}"/>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06 / 16</a:t>
            </a:r>
          </a:p>
        </p:txBody>
      </p:sp>
    </p:spTree>
    <p:extLst>
      <p:ext uri="{BB962C8B-B14F-4D97-AF65-F5344CB8AC3E}">
        <p14:creationId xmlns:p14="http://schemas.microsoft.com/office/powerpoint/2010/main" val="1763916112"/>
      </p:ext>
    </p:extLst>
  </p:cSld>
</p:sld>
</file>

<file path=ppt/slides/slide7.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735848E-15C9-41D9-B3EC-BC00B2B6B593}"/>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Cross-entropy and matrix gradients</a:t>
            </a:r>
          </a:p>
        </p:txBody>
      </p:sp>
      <p:sp>
        <p:nvSpPr>
          <p:cNvPr id="2" name="">
            <a:extLst xmlns:a="http://schemas.openxmlformats.org/drawingml/2006/main">
              <a:ext uri="{FF2B5EF4-FFF2-40B4-BE49-F238E27FC236}">
                <a16:creationId xmlns:a16="http://schemas.microsoft.com/office/drawing/2014/main" id="{681FA32D-8460-4D32-A783-8EBB6F3BD75F}"/>
              </a:ext>
            </a:extLst>
          </p:cNvPr>
          <p:cNvSpPr>
            <a:spLocks xmlns:a="http://schemas.openxmlformats.org/drawingml/2006/main" noGrp="1"/>
          </p:cNvSpPr>
          <p:nvPr/>
        </p:nvSpPr>
        <p:spPr>
          <a:xfrm xmlns:a="http://schemas.openxmlformats.org/drawingml/2006/main">
            <a:off x="857250" y="2000250"/>
            <a:ext cx="104775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183C2D"/>
                </a:solidFill>
                <a:latin typeface="Arial"/>
                <a:ea typeface="Arial"/>
                <a:cs typeface="Arial"/>
              </a:defRPr>
            </a:defPPr>
          </a:lstStyle>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D3 = P - Y</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D_l = (W_(l+1)^T D_(l+1)) * 1[Z_l &gt; 0]</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grad(W_l) = D_l A_(l-1)^T / m</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grad(b_l) = D_l 1 / m</a:t>
            </a:r>
          </a:p>
        </p:txBody>
      </p:sp>
      <p:sp>
        <p:nvSpPr>
          <p:cNvPr id="3" name="">
            <a:extLst xmlns:a="http://schemas.openxmlformats.org/drawingml/2006/main">
              <a:ext uri="{FF2B5EF4-FFF2-40B4-BE49-F238E27FC236}">
                <a16:creationId xmlns:a16="http://schemas.microsoft.com/office/drawing/2014/main" id="{0D89BE1D-871B-4791-B0D7-75F49607ECDB}"/>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07 / 16</a:t>
            </a:r>
          </a:p>
        </p:txBody>
      </p:sp>
    </p:spTree>
    <p:extLst>
      <p:ext uri="{BB962C8B-B14F-4D97-AF65-F5344CB8AC3E}">
        <p14:creationId xmlns:p14="http://schemas.microsoft.com/office/powerpoint/2010/main" val="893045853"/>
      </p:ext>
    </p:extLst>
  </p:cSld>
</p:sld>
</file>

<file path=ppt/slides/slide8.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7BB14A9-99D9-439D-8DEB-CA25FD0F9DED}"/>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Independent gradient verification</a:t>
            </a:r>
          </a:p>
        </p:txBody>
      </p:sp>
      <p:sp>
        <p:nvSpPr>
          <p:cNvPr id="2" name="">
            <a:extLst xmlns:a="http://schemas.openxmlformats.org/drawingml/2006/main">
              <a:ext uri="{FF2B5EF4-FFF2-40B4-BE49-F238E27FC236}">
                <a16:creationId xmlns:a16="http://schemas.microsoft.com/office/drawing/2014/main" id="{FFA0091E-AAD4-4BBA-9ABC-9B04F679ECF8}"/>
              </a:ext>
            </a:extLst>
          </p:cNvPr>
          <p:cNvSpPr>
            <a:spLocks xmlns:a="http://schemas.openxmlformats.org/drawingml/2006/main" noGrp="1"/>
          </p:cNvSpPr>
          <p:nvPr/>
        </p:nvSpPr>
        <p:spPr>
          <a:xfrm xmlns:a="http://schemas.openxmlformats.org/drawingml/2006/main">
            <a:off x="857250" y="2000250"/>
            <a:ext cx="104775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183C2D"/>
                </a:solidFill>
                <a:latin typeface="Arial"/>
                <a:ea typeface="Arial"/>
                <a:cs typeface="Arial"/>
              </a:defRPr>
            </a:defPPr>
          </a:lstStyle>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Centered finite differences check every scalar</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35 entries checked in a small network</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Maximum absolute error: 9.89e-11</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Seven mathematical checks pass</a:t>
            </a:r>
          </a:p>
        </p:txBody>
      </p:sp>
      <p:sp>
        <p:nvSpPr>
          <p:cNvPr id="3" name="">
            <a:extLst xmlns:a="http://schemas.openxmlformats.org/drawingml/2006/main">
              <a:ext uri="{FF2B5EF4-FFF2-40B4-BE49-F238E27FC236}">
                <a16:creationId xmlns:a16="http://schemas.microsoft.com/office/drawing/2014/main" id="{47DEA724-483A-42E0-BD1C-F9D3FA054751}"/>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08 / 16</a:t>
            </a:r>
          </a:p>
        </p:txBody>
      </p:sp>
    </p:spTree>
    <p:extLst>
      <p:ext uri="{BB962C8B-B14F-4D97-AF65-F5344CB8AC3E}">
        <p14:creationId xmlns:p14="http://schemas.microsoft.com/office/powerpoint/2010/main" val="2122155843"/>
      </p:ext>
    </p:extLst>
  </p:cSld>
</p:sld>
</file>

<file path=ppt/slides/slide9.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9B138A-24F6-4137-B3C1-EDE6632B8847}"/>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Training and validation</a:t>
            </a:r>
          </a:p>
        </p:txBody>
      </p:sp>
      <p:graphicFrame>
        <p:nvGraphicFramePr>
          <p:cNvPr id="2" name="Chart">
            <a:extLst xmlns:a="http://schemas.openxmlformats.org/drawingml/2006/main">
              <a:ext uri="{FF2B5EF4-FFF2-40B4-BE49-F238E27FC236}">
                <a16:creationId xmlns:a16="http://schemas.microsoft.com/office/drawing/2014/main" id="{4F69B6AE-5B29-4838-8E82-9CB0841E4732}"/>
              </a:ext>
            </a:extLst>
          </p:cNvPr>
          <p:cNvGraphicFramePr/>
          <p:nvPr/>
        </p:nvGraphicFramePr>
        <p:xfrm>
          <a:off xmlns:a="http://schemas.openxmlformats.org/drawingml/2006/main" x="609600" y="1657350"/>
          <a:ext xmlns:a="http://schemas.openxmlformats.org/drawingml/2006/main" cx="7239000" cy="3714750"/>
        </p:xfrm>
        <a:graphic xmlns:a="http://schemas.openxmlformats.org/drawingml/2006/main">
          <a:graphicData uri="http://schemas.openxmlformats.org/drawingml/2006/chart">
            <c:chart xmlns:r="http://schemas.openxmlformats.org/officeDocument/2006/relationships" xmlns:c="http://schemas.openxmlformats.org/drawingml/2006/chart" r:id="Red7fc184b94e4ee0"/>
          </a:graphicData>
        </a:graphic>
      </p:graphicFrame>
      <p:sp>
        <p:nvSpPr>
          <p:cNvPr id="3" name="">
            <a:extLst xmlns:a="http://schemas.openxmlformats.org/drawingml/2006/main">
              <a:ext uri="{FF2B5EF4-FFF2-40B4-BE49-F238E27FC236}">
                <a16:creationId xmlns:a16="http://schemas.microsoft.com/office/drawing/2014/main" id="{A390C057-4F1E-4CCD-843F-530881EFF180}"/>
              </a:ext>
            </a:extLst>
          </p:cNvPr>
          <p:cNvSpPr>
            <a:spLocks xmlns:a="http://schemas.openxmlformats.org/drawingml/2006/main" noGrp="1"/>
          </p:cNvSpPr>
          <p:nvPr/>
        </p:nvSpPr>
        <p:spPr>
          <a:xfrm xmlns:a="http://schemas.openxmlformats.org/drawingml/2006/main">
            <a:off x="8286750" y="1905000"/>
            <a:ext cx="314325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83C2D"/>
                </a:solidFill>
                <a:latin typeface="Arial"/>
                <a:ea typeface="Arial"/>
                <a:cs typeface="Arial"/>
              </a:defRPr>
            </a:defPPr>
          </a:lstStyle>
          <a:p xmlns:a="http://schemas.openxmlformats.org/drawingml/2006/main">
            <a:pPr>
              <a:defRPr sz="2100" b="0">
                <a:solidFill>
                  <a:srgbClr val="183C2D"/>
                </a:solidFill>
                <a:latin typeface="Arial"/>
                <a:ea typeface="Arial"/>
                <a:cs typeface="Arial"/>
              </a:defRPr>
            </a:pPr>
            <a:r>
              <a:rPr sz="2100" b="0">
                <a:solidFill>
                  <a:srgbClr val="183C2D"/>
                </a:solidFill>
                <a:latin typeface="Arial"/>
                <a:ea typeface="Arial"/>
                <a:cs typeface="Arial"/>
              </a:rPr>
              <a:t>12,000 full-batch updates, learning rate 0.1</a:t>
            </a:r>
          </a:p>
          <a:p xmlns:a="http://schemas.openxmlformats.org/drawingml/2006/main">
            <a:pPr>
              <a:defRPr sz="2100" b="0">
                <a:solidFill>
                  <a:srgbClr val="183C2D"/>
                </a:solidFill>
                <a:latin typeface="Arial"/>
                <a:ea typeface="Arial"/>
                <a:cs typeface="Arial"/>
              </a:defRPr>
            </a:pPr>
            <a:r>
              <a:rPr sz="2100" b="0">
                <a:solidFill>
                  <a:srgbClr val="183C2D"/>
                </a:solidFill>
                <a:latin typeface="Arial"/>
                <a:ea typeface="Arial"/>
                <a:cs typeface="Arial"/>
              </a:rPr>
              <a:t>Checkpoints every 50 updates</a:t>
            </a:r>
          </a:p>
          <a:p xmlns:a="http://schemas.openxmlformats.org/drawingml/2006/main">
            <a:pPr>
              <a:defRPr sz="2100" b="0">
                <a:solidFill>
                  <a:srgbClr val="183C2D"/>
                </a:solidFill>
                <a:latin typeface="Arial"/>
                <a:ea typeface="Arial"/>
                <a:cs typeface="Arial"/>
              </a:defRPr>
            </a:pPr>
            <a:r>
              <a:rPr sz="2100" b="0">
                <a:solidFill>
                  <a:srgbClr val="183C2D"/>
                </a:solidFill>
                <a:latin typeface="Arial"/>
                <a:ea typeface="Arial"/>
                <a:cs typeface="Arial"/>
              </a:rPr>
              <a:t>Seed 42 selects epoch 11950</a:t>
            </a:r>
          </a:p>
          <a:p xmlns:a="http://schemas.openxmlformats.org/drawingml/2006/main">
            <a:pPr>
              <a:defRPr sz="2100" b="0">
                <a:solidFill>
                  <a:srgbClr val="183C2D"/>
                </a:solidFill>
                <a:latin typeface="Arial"/>
                <a:ea typeface="Arial"/>
                <a:cs typeface="Arial"/>
              </a:defRPr>
            </a:pPr>
            <a:r>
              <a:rPr sz="2100" b="0">
                <a:solidFill>
                  <a:srgbClr val="183C2D"/>
                </a:solidFill>
                <a:latin typeface="Arial"/>
                <a:ea typeface="Arial"/>
                <a:cs typeface="Arial"/>
              </a:rPr>
              <a:t>Selection minimizes validation loss</a:t>
            </a:r>
          </a:p>
        </p:txBody>
      </p:sp>
      <p:sp>
        <p:nvSpPr>
          <p:cNvPr id="4" name="">
            <a:extLst xmlns:a="http://schemas.openxmlformats.org/drawingml/2006/main">
              <a:ext uri="{FF2B5EF4-FFF2-40B4-BE49-F238E27FC236}">
                <a16:creationId xmlns:a16="http://schemas.microsoft.com/office/drawing/2014/main" id="{B9B47CA7-5BB9-4EFF-9CE8-16025494E4E0}"/>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09 / 16</a:t>
            </a:r>
          </a:p>
        </p:txBody>
      </p:sp>
    </p:spTree>
    <p:extLst>
      <p:ext uri="{BB962C8B-B14F-4D97-AF65-F5344CB8AC3E}">
        <p14:creationId xmlns:p14="http://schemas.microsoft.com/office/powerpoint/2010/main" val="1706506333"/>
      </p:ext>
    </p:extLst>
  </p:cSld>
</p:sld>
</file>

<file path=ppt/slides/slide10.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DE0E214-7B62-4F54-BEAC-B3A1C59340F2}"/>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Primary results on disjoint data</a:t>
            </a:r>
          </a:p>
        </p:txBody>
      </p:sp>
      <p:graphicFrame>
        <p:nvGraphicFramePr>
          <p:cNvPr id="2" name="">
            <a:extLst xmlns:a="http://schemas.openxmlformats.org/drawingml/2006/main">
              <a:ext uri="{FF2B5EF4-FFF2-40B4-BE49-F238E27FC236}">
                <a16:creationId xmlns:a16="http://schemas.microsoft.com/office/drawing/2014/main" id="{8F5D2D88-F2B0-4E83-A2F4-604EA519A342}"/>
              </a:ext>
            </a:extLst>
          </p:cNvPr>
          <p:cNvGraphicFramePr/>
          <p:nvPr/>
        </p:nvGraphicFramePr>
        <p:xfrm>
          <a:off xmlns:a="http://schemas.openxmlformats.org/drawingml/2006/main" x="609600" y="1809750"/>
          <a:ext xmlns:a="http://schemas.openxmlformats.org/drawingml/2006/main" cx="10972800" cy="2438400"/>
        </p:xfrm>
        <a:graphic xmlns:a="http://schemas.openxmlformats.org/drawingml/2006/main">
          <a:graphicData uri="http://schemas.openxmlformats.org/drawingml/2006/table">
            <a:tbl>
              <a:tblPr/>
              <a:tblGrid>
                <a:gridCol w="1828800"/>
                <a:gridCol w="1828800"/>
                <a:gridCol w="1828800"/>
                <a:gridCol w="1828800"/>
                <a:gridCol w="1828800"/>
                <a:gridCol w="1828800"/>
              </a:tblGrid>
              <a:tr h="609600">
                <a:tc>
                  <a:txBody>
                    <a:bodyPr/>
                    <a:lstStyle/>
                    <a:p>
                      <a:r>
                        <a:rPr sz="1650" b="1">
                          <a:solidFill>
                            <a:srgbClr val="183C2D"/>
                          </a:solidFill>
                          <a:latin typeface="Arial"/>
                          <a:ea typeface="Arial"/>
                          <a:cs typeface="Arial"/>
                        </a:rPr>
                        <a:t>Model</a:t>
                      </a:r>
                    </a:p>
                  </a:txBody>
                  <a:tcPr marL="91440" marR="91440" marT="45720" marB="45720">
                    <a:lnL w="5715">
                      <a:solidFill>
                        <a:srgbClr val="B6C6B4"/>
                      </a:solidFill>
                      <a:prstDash val="solid"/>
                    </a:lnL>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Parameters</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Train</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Validation</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Test</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Epoch</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r>
              <a:tr h="609600">
                <a:tc>
                  <a:txBody>
                    <a:bodyPr/>
                    <a:lstStyle/>
                    <a:p>
                      <a:r>
                        <a:rPr sz="1650" b="0">
                          <a:solidFill>
                            <a:srgbClr val="183C2D"/>
                          </a:solidFill>
                          <a:latin typeface="Arial"/>
                          <a:ea typeface="Arial"/>
                          <a:cs typeface="Arial"/>
                        </a:rPr>
                        <a:t>Linear</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6</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50.00%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45.00%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58.75%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4500</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650" b="0">
                          <a:solidFill>
                            <a:srgbClr val="183C2D"/>
                          </a:solidFill>
                          <a:latin typeface="Arial"/>
                          <a:ea typeface="Arial"/>
                          <a:cs typeface="Arial"/>
                        </a:rPr>
                        <a:t>Shallow</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82</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57.50%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51.25%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58.75%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50</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650" b="0">
                          <a:solidFill>
                            <a:srgbClr val="183C2D"/>
                          </a:solidFill>
                          <a:latin typeface="Arial"/>
                          <a:ea typeface="Arial"/>
                          <a:cs typeface="Arial"/>
                        </a:rPr>
                        <a:t>Deep</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354</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97.08%</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93.75%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90.00%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11950</a:t>
                      </a:r>
                    </a:p>
                  </a:txBody>
                  <a:tcPr marL="91440" marR="91440" marT="45720" marB="45720">
                    <a:lnR w="5715">
                      <a:solidFill>
                        <a:srgbClr val="B6C6B4"/>
                      </a:solidFill>
                      <a:prstDash val="solid"/>
                    </a:lnR>
                    <a:lnB w="5715">
                      <a:solidFill>
                        <a:srgbClr val="B6C6B4"/>
                      </a:solidFill>
                      <a:prstDash val="solid"/>
                    </a:lnB>
                    <a:solidFill>
                      <a:srgbClr val="F2F1E8"/>
                    </a:solidFill>
                  </a:tcPr>
                </a:tc>
              </a:tr>
            </a:tbl>
          </a:graphicData>
        </a:graphic>
      </p:graphicFrame>
      <p:sp>
        <p:nvSpPr>
          <p:cNvPr id="3" name="">
            <a:extLst xmlns:a="http://schemas.openxmlformats.org/drawingml/2006/main">
              <a:ext uri="{FF2B5EF4-FFF2-40B4-BE49-F238E27FC236}">
                <a16:creationId xmlns:a16="http://schemas.microsoft.com/office/drawing/2014/main" id="{CDC5DED4-2B40-4740-8F7B-A99B56EEBC78}"/>
              </a:ext>
            </a:extLst>
          </p:cNvPr>
          <p:cNvSpPr>
            <a:spLocks xmlns:a="http://schemas.openxmlformats.org/drawingml/2006/main" noGrp="1"/>
          </p:cNvSpPr>
          <p:nvPr/>
        </p:nvSpPr>
        <p:spPr>
          <a:xfrm xmlns:a="http://schemas.openxmlformats.org/drawingml/2006/main">
            <a:off x="647700" y="5619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83C2D"/>
                </a:solidFill>
                <a:latin typeface="Arial"/>
                <a:ea typeface="Arial"/>
                <a:cs typeface="Arial"/>
              </a:defRPr>
            </a:defPPr>
          </a:lstStyle>
          <a:p xmlns:a="http://schemas.openxmlformats.org/drawingml/2006/main">
            <a:pPr>
              <a:defRPr sz="1950" b="0">
                <a:solidFill>
                  <a:srgbClr val="183C2D"/>
                </a:solidFill>
                <a:latin typeface="Arial"/>
                <a:ea typeface="Arial"/>
                <a:cs typeface="Arial"/>
              </a:defRPr>
            </a:pPr>
            <a:r>
              <a:rPr sz="1950" b="0">
                <a:solidFill>
                  <a:srgbClr val="183C2D"/>
                </a:solidFill>
                <a:latin typeface="Arial"/>
                <a:ea typeface="Arial"/>
                <a:cs typeface="Arial"/>
              </a:rPr>
              <a:t>Deep network: 72/80 test predictions correct</a:t>
            </a:r>
          </a:p>
        </p:txBody>
      </p:sp>
      <p:sp>
        <p:nvSpPr>
          <p:cNvPr id="4" name="">
            <a:extLst xmlns:a="http://schemas.openxmlformats.org/drawingml/2006/main">
              <a:ext uri="{FF2B5EF4-FFF2-40B4-BE49-F238E27FC236}">
                <a16:creationId xmlns:a16="http://schemas.microsoft.com/office/drawing/2014/main" id="{8004B66E-1A31-4FB5-BFA6-2162B38DD17D}"/>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10 / 16</a:t>
            </a:r>
          </a:p>
        </p:txBody>
      </p:sp>
    </p:spTree>
    <p:extLst>
      <p:ext uri="{BB962C8B-B14F-4D97-AF65-F5344CB8AC3E}">
        <p14:creationId xmlns:p14="http://schemas.microsoft.com/office/powerpoint/2010/main" val="390743576"/>
      </p:ext>
    </p:extLst>
  </p:cSld>
</p:sld>
</file>

<file path=ppt/slides/slide11.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B1E71F-F393-4E8E-B17C-14DEDA8B3ED9}"/>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Initialization sensitivity</a:t>
            </a:r>
          </a:p>
        </p:txBody>
      </p:sp>
      <p:graphicFrame>
        <p:nvGraphicFramePr>
          <p:cNvPr id="2" name="">
            <a:extLst xmlns:a="http://schemas.openxmlformats.org/drawingml/2006/main">
              <a:ext uri="{FF2B5EF4-FFF2-40B4-BE49-F238E27FC236}">
                <a16:creationId xmlns:a16="http://schemas.microsoft.com/office/drawing/2014/main" id="{00B4E91C-4F41-47D4-816D-A4EFBF4BBEB3}"/>
              </a:ext>
            </a:extLst>
          </p:cNvPr>
          <p:cNvGraphicFramePr/>
          <p:nvPr/>
        </p:nvGraphicFramePr>
        <p:xfrm>
          <a:off xmlns:a="http://schemas.openxmlformats.org/drawingml/2006/main" x="609600" y="1809750"/>
          <a:ext xmlns:a="http://schemas.openxmlformats.org/drawingml/2006/main" cx="10972800" cy="2438400"/>
        </p:xfrm>
        <a:graphic xmlns:a="http://schemas.openxmlformats.org/drawingml/2006/main">
          <a:graphicData uri="http://schemas.openxmlformats.org/drawingml/2006/table">
            <a:tbl>
              <a:tblPr/>
              <a:tblGrid>
                <a:gridCol w="1828800"/>
                <a:gridCol w="1828800"/>
                <a:gridCol w="1828800"/>
                <a:gridCol w="1828800"/>
                <a:gridCol w="1828800"/>
                <a:gridCol w="1828800"/>
              </a:tblGrid>
              <a:tr h="609600">
                <a:tc>
                  <a:txBody>
                    <a:bodyPr/>
                    <a:lstStyle/>
                    <a:p>
                      <a:r>
                        <a:rPr sz="1650" b="1">
                          <a:solidFill>
                            <a:srgbClr val="183C2D"/>
                          </a:solidFill>
                          <a:latin typeface="Arial"/>
                          <a:ea typeface="Arial"/>
                          <a:cs typeface="Arial"/>
                        </a:rPr>
                        <a:t>Model</a:t>
                      </a:r>
                    </a:p>
                  </a:txBody>
                  <a:tcPr marL="91440" marR="91440" marT="45720" marB="45720">
                    <a:lnL w="5715">
                      <a:solidFill>
                        <a:srgbClr val="B6C6B4"/>
                      </a:solidFill>
                      <a:prstDash val="solid"/>
                    </a:lnL>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Seed 42</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Seed 43</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Seed 44</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Mean</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650" b="1">
                          <a:solidFill>
                            <a:srgbClr val="183C2D"/>
                          </a:solidFill>
                          <a:latin typeface="Arial"/>
                          <a:ea typeface="Arial"/>
                          <a:cs typeface="Arial"/>
                        </a:rPr>
                        <a:t>Sample SD</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r>
              <a:tr h="609600">
                <a:tc>
                  <a:txBody>
                    <a:bodyPr/>
                    <a:lstStyle/>
                    <a:p>
                      <a:r>
                        <a:rPr sz="1650" b="0">
                          <a:solidFill>
                            <a:srgbClr val="183C2D"/>
                          </a:solidFill>
                          <a:latin typeface="Arial"/>
                          <a:ea typeface="Arial"/>
                          <a:cs typeface="Arial"/>
                        </a:rPr>
                        <a:t>Linear</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58.75%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57.50%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61.25%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59.17%</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1.91 pp</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650" b="0">
                          <a:solidFill>
                            <a:srgbClr val="183C2D"/>
                          </a:solidFill>
                          <a:latin typeface="Arial"/>
                          <a:ea typeface="Arial"/>
                          <a:cs typeface="Arial"/>
                        </a:rPr>
                        <a:t>Shallow</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58.75%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61.25%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55.00%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58.33%</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3.15 pp</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650" b="0">
                          <a:solidFill>
                            <a:srgbClr val="183C2D"/>
                          </a:solidFill>
                          <a:latin typeface="Arial"/>
                          <a:ea typeface="Arial"/>
                          <a:cs typeface="Arial"/>
                        </a:rPr>
                        <a:t>Deep</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90.00%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92.50%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78.75%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87.08%</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650" b="0">
                          <a:solidFill>
                            <a:srgbClr val="183C2D"/>
                          </a:solidFill>
                          <a:latin typeface="Arial"/>
                          <a:ea typeface="Arial"/>
                          <a:cs typeface="Arial"/>
                        </a:rPr>
                        <a:t>7.32 pp</a:t>
                      </a:r>
                    </a:p>
                  </a:txBody>
                  <a:tcPr marL="91440" marR="91440" marT="45720" marB="45720">
                    <a:lnR w="5715">
                      <a:solidFill>
                        <a:srgbClr val="B6C6B4"/>
                      </a:solidFill>
                      <a:prstDash val="solid"/>
                    </a:lnR>
                    <a:lnB w="5715">
                      <a:solidFill>
                        <a:srgbClr val="B6C6B4"/>
                      </a:solidFill>
                      <a:prstDash val="solid"/>
                    </a:lnB>
                    <a:solidFill>
                      <a:srgbClr val="F2F1E8"/>
                    </a:solidFill>
                  </a:tcPr>
                </a:tc>
              </a:tr>
            </a:tbl>
          </a:graphicData>
        </a:graphic>
      </p:graphicFrame>
      <p:sp>
        <p:nvSpPr>
          <p:cNvPr id="3" name="">
            <a:extLst xmlns:a="http://schemas.openxmlformats.org/drawingml/2006/main">
              <a:ext uri="{FF2B5EF4-FFF2-40B4-BE49-F238E27FC236}">
                <a16:creationId xmlns:a16="http://schemas.microsoft.com/office/drawing/2014/main" id="{999BAEFB-CAC6-4220-8BC9-6DF4D8418825}"/>
              </a:ext>
            </a:extLst>
          </p:cNvPr>
          <p:cNvSpPr>
            <a:spLocks xmlns:a="http://schemas.openxmlformats.org/drawingml/2006/main" noGrp="1"/>
          </p:cNvSpPr>
          <p:nvPr/>
        </p:nvSpPr>
        <p:spPr>
          <a:xfrm xmlns:a="http://schemas.openxmlformats.org/drawingml/2006/main">
            <a:off x="647700" y="5619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83C2D"/>
                </a:solidFill>
                <a:latin typeface="Arial"/>
                <a:ea typeface="Arial"/>
                <a:cs typeface="Arial"/>
              </a:defRPr>
            </a:defPPr>
          </a:lstStyle>
          <a:p xmlns:a="http://schemas.openxmlformats.org/drawingml/2006/main">
            <a:pPr>
              <a:defRPr sz="1950" b="0">
                <a:solidFill>
                  <a:srgbClr val="183C2D"/>
                </a:solidFill>
                <a:latin typeface="Arial"/>
                <a:ea typeface="Arial"/>
                <a:cs typeface="Arial"/>
              </a:defRPr>
            </a:pPr>
            <a:r>
              <a:rPr sz="1950" b="0">
                <a:solidFill>
                  <a:srgbClr val="183C2D"/>
                </a:solidFill>
                <a:latin typeface="Arial"/>
                <a:ea typeface="Arial"/>
                <a:cs typeface="Arial"/>
              </a:rPr>
              <a:t>Three initializations on one fixed split</a:t>
            </a:r>
          </a:p>
        </p:txBody>
      </p:sp>
      <p:sp>
        <p:nvSpPr>
          <p:cNvPr id="4" name="">
            <a:extLst xmlns:a="http://schemas.openxmlformats.org/drawingml/2006/main">
              <a:ext uri="{FF2B5EF4-FFF2-40B4-BE49-F238E27FC236}">
                <a16:creationId xmlns:a16="http://schemas.microsoft.com/office/drawing/2014/main" id="{E1026D02-306D-43F1-8C82-F3618F7546F9}"/>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11 / 16</a:t>
            </a:r>
          </a:p>
        </p:txBody>
      </p:sp>
    </p:spTree>
    <p:extLst>
      <p:ext uri="{BB962C8B-B14F-4D97-AF65-F5344CB8AC3E}">
        <p14:creationId xmlns:p14="http://schemas.microsoft.com/office/powerpoint/2010/main" val="2101142046"/>
      </p:ext>
    </p:extLst>
  </p:cSld>
</p:sld>
</file>

<file path=ppt/slides/slide12.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8E14329-B8A0-420F-AE27-441EF39BD0AC}"/>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The learned decision boundaries</a:t>
            </a:r>
          </a:p>
        </p:txBody>
      </p:sp>
      <p:pic>
        <p:nvPicPr>
          <p:cNvPr id="2" name="">
            <a:extLst xmlns:a="http://schemas.openxmlformats.org/drawingml/2006/main">
              <a:ext uri="{FF2B5EF4-FFF2-40B4-BE49-F238E27FC236}">
                <a16:creationId xmlns:a16="http://schemas.microsoft.com/office/drawing/2014/main" id="{2A2088DE-7909-49C1-B1BF-D4635A63ECC8}"/>
              </a:ext>
            </a:extLst>
          </p:cNvPr>
          <p:cNvPicPr>
            <a:picLocks xmlns:a="http://schemas.openxmlformats.org/drawingml/2006/main" noChangeAspect="1"/>
          </p:cNvPicPr>
          <p:nvPr/>
        </p:nvPicPr>
        <p:blipFill>
          <a:blip xmlns:r="http://schemas.openxmlformats.org/officeDocument/2006/relationships" xmlns:a="http://schemas.openxmlformats.org/drawingml/2006/main" r:embed="Ra652e7f56cc344ba"/>
          <a:stretch xmlns:a="http://schemas.openxmlformats.org/drawingml/2006/main"/>
        </p:blipFill>
        <p:spPr>
          <a:xfrm xmlns:a="http://schemas.openxmlformats.org/drawingml/2006/main">
            <a:off x="1243184" y="1657350"/>
            <a:ext cx="9705631" cy="33813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9AF7764-7B40-42FB-8BE6-BE90B694565F}"/>
              </a:ext>
            </a:extLst>
          </p:cNvPr>
          <p:cNvSpPr>
            <a:spLocks xmlns:a="http://schemas.openxmlformats.org/drawingml/2006/main" noGrp="1"/>
          </p:cNvSpPr>
          <p:nvPr/>
        </p:nvSpPr>
        <p:spPr>
          <a:xfrm xmlns:a="http://schemas.openxmlformats.org/drawingml/2006/main">
            <a:off x="647700" y="52863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C2D"/>
                </a:solidFill>
                <a:latin typeface="Arial"/>
                <a:ea typeface="Arial"/>
                <a:cs typeface="Arial"/>
              </a:defRPr>
            </a:defPPr>
          </a:lstStyle>
          <a:p xmlns:a="http://schemas.openxmlformats.org/drawingml/2006/main">
            <a:pPr>
              <a:defRPr sz="2025" b="0">
                <a:solidFill>
                  <a:srgbClr val="183C2D"/>
                </a:solidFill>
                <a:latin typeface="Arial"/>
                <a:ea typeface="Arial"/>
                <a:cs typeface="Arial"/>
              </a:defRPr>
            </a:pPr>
            <a:r>
              <a:rPr sz="2025" b="0">
                <a:solidFill>
                  <a:srgbClr val="183C2D"/>
                </a:solidFill>
                <a:latin typeface="Arial"/>
                <a:ea typeface="Arial"/>
                <a:cs typeface="Arial"/>
              </a:rPr>
              <a:t>Dots are held-out test points</a:t>
            </a:r>
          </a:p>
          <a:p xmlns:a="http://schemas.openxmlformats.org/drawingml/2006/main">
            <a:pPr>
              <a:defRPr sz="2025" b="0">
                <a:solidFill>
                  <a:srgbClr val="183C2D"/>
                </a:solidFill>
                <a:latin typeface="Arial"/>
                <a:ea typeface="Arial"/>
                <a:cs typeface="Arial"/>
              </a:defRPr>
            </a:pPr>
            <a:r>
              <a:rPr sz="2025" b="0">
                <a:solidFill>
                  <a:srgbClr val="183C2D"/>
                </a:solidFill>
                <a:latin typeface="Arial"/>
                <a:ea typeface="Arial"/>
                <a:cs typeface="Arial"/>
              </a:rPr>
              <a:t>Contours mark equal class probabilities</a:t>
            </a:r>
          </a:p>
        </p:txBody>
      </p:sp>
      <p:sp>
        <p:nvSpPr>
          <p:cNvPr id="4" name="">
            <a:extLst xmlns:a="http://schemas.openxmlformats.org/drawingml/2006/main">
              <a:ext uri="{FF2B5EF4-FFF2-40B4-BE49-F238E27FC236}">
                <a16:creationId xmlns:a16="http://schemas.microsoft.com/office/drawing/2014/main" id="{A0C19B9D-12BB-42B0-9360-CBAED32646D7}"/>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12 / 16</a:t>
            </a:r>
          </a:p>
        </p:txBody>
      </p:sp>
    </p:spTree>
    <p:extLst>
      <p:ext uri="{BB962C8B-B14F-4D97-AF65-F5344CB8AC3E}">
        <p14:creationId xmlns:p14="http://schemas.microsoft.com/office/powerpoint/2010/main" val="1684689947"/>
      </p:ext>
    </p:extLst>
  </p:cSld>
</p:sld>
</file>

<file path=ppt/slides/slide13.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648C2DC-8BD8-47C3-8387-D3E5D24F63F1}"/>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Hidden geometry through PCA</a:t>
            </a:r>
          </a:p>
        </p:txBody>
      </p:sp>
      <p:pic>
        <p:nvPicPr>
          <p:cNvPr id="2" name="">
            <a:extLst xmlns:a="http://schemas.openxmlformats.org/drawingml/2006/main">
              <a:ext uri="{FF2B5EF4-FFF2-40B4-BE49-F238E27FC236}">
                <a16:creationId xmlns:a16="http://schemas.microsoft.com/office/drawing/2014/main" id="{12EBC2EC-F388-4825-B613-17D9AE5A6934}"/>
              </a:ext>
            </a:extLst>
          </p:cNvPr>
          <p:cNvPicPr>
            <a:picLocks xmlns:a="http://schemas.openxmlformats.org/drawingml/2006/main" noChangeAspect="1"/>
          </p:cNvPicPr>
          <p:nvPr/>
        </p:nvPicPr>
        <p:blipFill>
          <a:blip xmlns:r="http://schemas.openxmlformats.org/officeDocument/2006/relationships" xmlns:a="http://schemas.openxmlformats.org/drawingml/2006/main" r:embed="Rccc5d2f196c844e0"/>
          <a:stretch xmlns:a="http://schemas.openxmlformats.org/drawingml/2006/main"/>
        </p:blipFill>
        <p:spPr>
          <a:xfrm xmlns:a="http://schemas.openxmlformats.org/drawingml/2006/main">
            <a:off x="1076486" y="1657350"/>
            <a:ext cx="10039028" cy="33813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2D0BAD85-043D-4957-9F2B-21EF6B9F41B2}"/>
              </a:ext>
            </a:extLst>
          </p:cNvPr>
          <p:cNvSpPr>
            <a:spLocks xmlns:a="http://schemas.openxmlformats.org/drawingml/2006/main" noGrp="1"/>
          </p:cNvSpPr>
          <p:nvPr/>
        </p:nvSpPr>
        <p:spPr>
          <a:xfrm xmlns:a="http://schemas.openxmlformats.org/drawingml/2006/main">
            <a:off x="647700" y="52863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C2D"/>
                </a:solidFill>
                <a:latin typeface="Arial"/>
                <a:ea typeface="Arial"/>
                <a:cs typeface="Arial"/>
              </a:defRPr>
            </a:defPPr>
          </a:lstStyle>
          <a:p xmlns:a="http://schemas.openxmlformats.org/drawingml/2006/main">
            <a:pPr>
              <a:defRPr sz="2025" b="0">
                <a:solidFill>
                  <a:srgbClr val="183C2D"/>
                </a:solidFill>
                <a:latin typeface="Arial"/>
                <a:ea typeface="Arial"/>
                <a:cs typeface="Arial"/>
              </a:defRPr>
            </a:pPr>
            <a:r>
              <a:rPr sz="2025" b="0">
                <a:solidFill>
                  <a:srgbClr val="183C2D"/>
                </a:solidFill>
                <a:latin typeface="Arial"/>
                <a:ea typeface="Arial"/>
                <a:cs typeface="Arial"/>
              </a:rPr>
              <a:t>PCA bases use training activations</a:t>
            </a:r>
          </a:p>
          <a:p xmlns:a="http://schemas.openxmlformats.org/drawingml/2006/main">
            <a:pPr>
              <a:defRPr sz="2025" b="0">
                <a:solidFill>
                  <a:srgbClr val="183C2D"/>
                </a:solidFill>
                <a:latin typeface="Arial"/>
                <a:ea typeface="Arial"/>
                <a:cs typeface="Arial"/>
              </a:defRPr>
            </a:pPr>
            <a:r>
              <a:rPr sz="2025" b="0">
                <a:solidFill>
                  <a:srgbClr val="183C2D"/>
                </a:solidFill>
                <a:latin typeface="Arial"/>
                <a:ea typeface="Arial"/>
                <a:cs typeface="Arial"/>
              </a:rPr>
              <a:t>Two components can discard useful information</a:t>
            </a:r>
          </a:p>
        </p:txBody>
      </p:sp>
      <p:sp>
        <p:nvSpPr>
          <p:cNvPr id="4" name="">
            <a:extLst xmlns:a="http://schemas.openxmlformats.org/drawingml/2006/main">
              <a:ext uri="{FF2B5EF4-FFF2-40B4-BE49-F238E27FC236}">
                <a16:creationId xmlns:a16="http://schemas.microsoft.com/office/drawing/2014/main" id="{248E0B20-C246-4195-B8F2-18E34F374614}"/>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13 / 16</a:t>
            </a:r>
          </a:p>
        </p:txBody>
      </p:sp>
    </p:spTree>
    <p:extLst>
      <p:ext uri="{BB962C8B-B14F-4D97-AF65-F5344CB8AC3E}">
        <p14:creationId xmlns:p14="http://schemas.microsoft.com/office/powerpoint/2010/main" val="815651923"/>
      </p:ext>
    </p:extLst>
  </p:cSld>
</p:sld>
</file>

<file path=ppt/slides/slide14.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F743F6E-C7B0-4F6D-B2DE-0B1EBE388595}"/>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Weight spectra and nullspaces</a:t>
            </a:r>
          </a:p>
        </p:txBody>
      </p:sp>
      <p:graphicFrame>
        <p:nvGraphicFramePr>
          <p:cNvPr id="2" name="">
            <a:extLst xmlns:a="http://schemas.openxmlformats.org/drawingml/2006/main">
              <a:ext uri="{FF2B5EF4-FFF2-40B4-BE49-F238E27FC236}">
                <a16:creationId xmlns:a16="http://schemas.microsoft.com/office/drawing/2014/main" id="{C3C76091-D208-4EB9-8AE8-E222FF3099C4}"/>
              </a:ext>
            </a:extLst>
          </p:cNvPr>
          <p:cNvGraphicFramePr/>
          <p:nvPr/>
        </p:nvGraphicFramePr>
        <p:xfrm>
          <a:off xmlns:a="http://schemas.openxmlformats.org/drawingml/2006/main" x="609600" y="1809750"/>
          <a:ext xmlns:a="http://schemas.openxmlformats.org/drawingml/2006/main" cx="10972800" cy="2438400"/>
        </p:xfrm>
        <a:graphic xmlns:a="http://schemas.openxmlformats.org/drawingml/2006/main">
          <a:graphicData uri="http://schemas.openxmlformats.org/drawingml/2006/table">
            <a:tbl>
              <a:tblPr/>
              <a:tblGrid>
                <a:gridCol w="2194560"/>
                <a:gridCol w="2194560"/>
                <a:gridCol w="2194560"/>
                <a:gridCol w="2194560"/>
                <a:gridCol w="2194560"/>
              </a:tblGrid>
              <a:tr h="609600">
                <a:tc>
                  <a:txBody>
                    <a:bodyPr/>
                    <a:lstStyle/>
                    <a:p>
                      <a:r>
                        <a:rPr sz="1875" b="1">
                          <a:solidFill>
                            <a:srgbClr val="183C2D"/>
                          </a:solidFill>
                          <a:latin typeface="Arial"/>
                          <a:ea typeface="Arial"/>
                          <a:cs typeface="Arial"/>
                        </a:rPr>
                        <a:t>Weight</a:t>
                      </a:r>
                    </a:p>
                  </a:txBody>
                  <a:tcPr marL="91440" marR="91440" marT="45720" marB="45720">
                    <a:lnL w="5715">
                      <a:solidFill>
                        <a:srgbClr val="B6C6B4"/>
                      </a:solidFill>
                      <a:prstDash val="solid"/>
                    </a:lnL>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Shape</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Rank</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Input nullity</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s_max / s_min</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r>
              <a:tr h="609600">
                <a:tc>
                  <a:txBody>
                    <a:bodyPr/>
                    <a:lstStyle/>
                    <a:p>
                      <a:r>
                        <a:rPr sz="1875" b="0">
                          <a:solidFill>
                            <a:srgbClr val="183C2D"/>
                          </a:solidFill>
                          <a:latin typeface="Arial"/>
                          <a:ea typeface="Arial"/>
                          <a:cs typeface="Arial"/>
                        </a:rPr>
                        <a:t>W1</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16 x 2</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2</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1.190</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875" b="0">
                          <a:solidFill>
                            <a:srgbClr val="183C2D"/>
                          </a:solidFill>
                          <a:latin typeface="Arial"/>
                          <a:ea typeface="Arial"/>
                          <a:cs typeface="Arial"/>
                        </a:rPr>
                        <a:t>W2</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16 x 16</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16</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197.537</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875" b="0">
                          <a:solidFill>
                            <a:srgbClr val="183C2D"/>
                          </a:solidFill>
                          <a:latin typeface="Arial"/>
                          <a:ea typeface="Arial"/>
                          <a:cs typeface="Arial"/>
                        </a:rPr>
                        <a:t>W3</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2 x 16</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2</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14</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13.287</a:t>
                      </a:r>
                    </a:p>
                  </a:txBody>
                  <a:tcPr marL="91440" marR="91440" marT="45720" marB="45720">
                    <a:lnR w="5715">
                      <a:solidFill>
                        <a:srgbClr val="B6C6B4"/>
                      </a:solidFill>
                      <a:prstDash val="solid"/>
                    </a:lnR>
                    <a:lnB w="5715">
                      <a:solidFill>
                        <a:srgbClr val="B6C6B4"/>
                      </a:solidFill>
                      <a:prstDash val="solid"/>
                    </a:lnB>
                    <a:solidFill>
                      <a:srgbClr val="F2F1E8"/>
                    </a:solidFill>
                  </a:tcPr>
                </a:tc>
              </a:tr>
            </a:tbl>
          </a:graphicData>
        </a:graphic>
      </p:graphicFrame>
      <p:sp>
        <p:nvSpPr>
          <p:cNvPr id="3" name="">
            <a:extLst xmlns:a="http://schemas.openxmlformats.org/drawingml/2006/main">
              <a:ext uri="{FF2B5EF4-FFF2-40B4-BE49-F238E27FC236}">
                <a16:creationId xmlns:a16="http://schemas.microsoft.com/office/drawing/2014/main" id="{37AB27A0-59AD-4C53-8D8A-9388926EBF07}"/>
              </a:ext>
            </a:extLst>
          </p:cNvPr>
          <p:cNvSpPr>
            <a:spLocks xmlns:a="http://schemas.openxmlformats.org/drawingml/2006/main" noGrp="1"/>
          </p:cNvSpPr>
          <p:nvPr/>
        </p:nvSpPr>
        <p:spPr>
          <a:xfrm xmlns:a="http://schemas.openxmlformats.org/drawingml/2006/main">
            <a:off x="647700" y="5619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83C2D"/>
                </a:solidFill>
                <a:latin typeface="Arial"/>
                <a:ea typeface="Arial"/>
                <a:cs typeface="Arial"/>
              </a:defRPr>
            </a:defPPr>
          </a:lstStyle>
          <a:p xmlns:a="http://schemas.openxmlformats.org/drawingml/2006/main">
            <a:pPr>
              <a:defRPr sz="1950" b="0">
                <a:solidFill>
                  <a:srgbClr val="183C2D"/>
                </a:solidFill>
                <a:latin typeface="Arial"/>
                <a:ea typeface="Arial"/>
                <a:cs typeface="Arial"/>
              </a:defRPr>
            </a:pPr>
            <a:r>
              <a:rPr sz="1950" b="0">
                <a:solidFill>
                  <a:srgbClr val="183C2D"/>
                </a:solidFill>
                <a:latin typeface="Arial"/>
                <a:ea typeface="Arial"/>
                <a:cs typeface="Arial"/>
              </a:rPr>
              <a:t>W = U diag(s) V^T</a:t>
            </a:r>
          </a:p>
          <a:p xmlns:a="http://schemas.openxmlformats.org/drawingml/2006/main">
            <a:pPr>
              <a:defRPr sz="1950" b="0">
                <a:solidFill>
                  <a:srgbClr val="183C2D"/>
                </a:solidFill>
                <a:latin typeface="Arial"/>
                <a:ea typeface="Arial"/>
                <a:cs typeface="Arial"/>
              </a:defRPr>
            </a:pPr>
            <a:r>
              <a:rPr sz="1950" b="0">
                <a:solidFill>
                  <a:srgbClr val="183C2D"/>
                </a:solidFill>
                <a:latin typeface="Arial"/>
                <a:ea typeface="Arial"/>
                <a:cs typeface="Arial"/>
              </a:rPr>
              <a:t>Gram eigenvalues are s_i^2 plus structural zeros</a:t>
            </a:r>
          </a:p>
        </p:txBody>
      </p:sp>
      <p:sp>
        <p:nvSpPr>
          <p:cNvPr id="4" name="">
            <a:extLst xmlns:a="http://schemas.openxmlformats.org/drawingml/2006/main">
              <a:ext uri="{FF2B5EF4-FFF2-40B4-BE49-F238E27FC236}">
                <a16:creationId xmlns:a16="http://schemas.microsoft.com/office/drawing/2014/main" id="{79373C4A-E491-44BD-97A0-1ABC8008DE68}"/>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14 / 16</a:t>
            </a:r>
          </a:p>
        </p:txBody>
      </p:sp>
    </p:spTree>
    <p:extLst>
      <p:ext uri="{BB962C8B-B14F-4D97-AF65-F5344CB8AC3E}">
        <p14:creationId xmlns:p14="http://schemas.microsoft.com/office/powerpoint/2010/main" val="1756132471"/>
      </p:ext>
    </p:extLst>
  </p:cSld>
</p:sld>
</file>

<file path=ppt/slides/slide15.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A82A715-8FC2-450A-872B-98A365F7D980}"/>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SVD approximation of the hidden map</a:t>
            </a:r>
          </a:p>
        </p:txBody>
      </p:sp>
      <p:graphicFrame>
        <p:nvGraphicFramePr>
          <p:cNvPr id="2" name="">
            <a:extLst xmlns:a="http://schemas.openxmlformats.org/drawingml/2006/main">
              <a:ext uri="{FF2B5EF4-FFF2-40B4-BE49-F238E27FC236}">
                <a16:creationId xmlns:a16="http://schemas.microsoft.com/office/drawing/2014/main" id="{614937B2-8DFE-4A51-AAA4-7AD79686B321}"/>
              </a:ext>
            </a:extLst>
          </p:cNvPr>
          <p:cNvGraphicFramePr/>
          <p:nvPr/>
        </p:nvGraphicFramePr>
        <p:xfrm>
          <a:off xmlns:a="http://schemas.openxmlformats.org/drawingml/2006/main" x="609600" y="1809750"/>
          <a:ext xmlns:a="http://schemas.openxmlformats.org/drawingml/2006/main" cx="10972800" cy="3657600"/>
        </p:xfrm>
        <a:graphic xmlns:a="http://schemas.openxmlformats.org/drawingml/2006/main">
          <a:graphicData uri="http://schemas.openxmlformats.org/drawingml/2006/table">
            <a:tbl>
              <a:tblPr/>
              <a:tblGrid>
                <a:gridCol w="2194560"/>
                <a:gridCol w="2194560"/>
                <a:gridCol w="2194560"/>
                <a:gridCol w="2194560"/>
                <a:gridCol w="2194560"/>
              </a:tblGrid>
              <a:tr h="609600">
                <a:tc>
                  <a:txBody>
                    <a:bodyPr/>
                    <a:lstStyle/>
                    <a:p>
                      <a:r>
                        <a:rPr sz="1875" b="1">
                          <a:solidFill>
                            <a:srgbClr val="183C2D"/>
                          </a:solidFill>
                          <a:latin typeface="Arial"/>
                          <a:ea typeface="Arial"/>
                          <a:cs typeface="Arial"/>
                        </a:rPr>
                        <a:t>Rank k</a:t>
                      </a:r>
                    </a:p>
                  </a:txBody>
                  <a:tcPr marL="91440" marR="91440" marT="45720" marB="45720">
                    <a:lnL w="5715">
                      <a:solidFill>
                        <a:srgbClr val="B6C6B4"/>
                      </a:solidFill>
                      <a:prstDash val="solid"/>
                    </a:lnL>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Energy</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Factor entries</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Validation</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c>
                  <a:txBody>
                    <a:bodyPr/>
                    <a:lstStyle/>
                    <a:p>
                      <a:r>
                        <a:rPr sz="1875" b="1">
                          <a:solidFill>
                            <a:srgbClr val="183C2D"/>
                          </a:solidFill>
                          <a:latin typeface="Arial"/>
                          <a:ea typeface="Arial"/>
                          <a:cs typeface="Arial"/>
                        </a:rPr>
                        <a:t>Test</a:t>
                      </a:r>
                    </a:p>
                  </a:txBody>
                  <a:tcPr marL="91440" marR="91440" marT="45720" marB="45720">
                    <a:lnR w="5715">
                      <a:solidFill>
                        <a:srgbClr val="B6C6B4"/>
                      </a:solidFill>
                      <a:prstDash val="solid"/>
                    </a:lnR>
                    <a:lnT w="5715">
                      <a:solidFill>
                        <a:srgbClr val="B6C6B4"/>
                      </a:solidFill>
                      <a:prstDash val="solid"/>
                    </a:lnT>
                    <a:lnB w="5715">
                      <a:solidFill>
                        <a:srgbClr val="B6C6B4"/>
                      </a:solidFill>
                      <a:prstDash val="solid"/>
                    </a:lnB>
                    <a:solidFill>
                      <a:srgbClr val="DCE8DC"/>
                    </a:solidFill>
                  </a:tcPr>
                </a:tc>
              </a:tr>
              <a:tr h="609600">
                <a:tc>
                  <a:txBody>
                    <a:bodyPr/>
                    <a:lstStyle/>
                    <a:p>
                      <a:r>
                        <a:rPr sz="1875" b="0">
                          <a:solidFill>
                            <a:srgbClr val="183C2D"/>
                          </a:solidFill>
                          <a:latin typeface="Arial"/>
                          <a:ea typeface="Arial"/>
                          <a:cs typeface="Arial"/>
                        </a:rPr>
                        <a:t>2</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64.47%</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64</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56.25%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65.00%</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875" b="0">
                          <a:solidFill>
                            <a:srgbClr val="183C2D"/>
                          </a:solidFill>
                          <a:latin typeface="Arial"/>
                          <a:ea typeface="Arial"/>
                          <a:cs typeface="Arial"/>
                        </a:rPr>
                        <a:t>4</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83.11%</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128</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68.75%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77.50%</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875" b="0">
                          <a:solidFill>
                            <a:srgbClr val="183C2D"/>
                          </a:solidFill>
                          <a:latin typeface="Arial"/>
                          <a:ea typeface="Arial"/>
                          <a:cs typeface="Arial"/>
                        </a:rPr>
                        <a:t>8</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95.61%</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256</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96.25%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90.00%</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875" b="0">
                          <a:solidFill>
                            <a:srgbClr val="183C2D"/>
                          </a:solidFill>
                          <a:latin typeface="Arial"/>
                          <a:ea typeface="Arial"/>
                          <a:cs typeface="Arial"/>
                        </a:rPr>
                        <a:t>12</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99.72%</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384</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92.50%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90.00%</a:t>
                      </a:r>
                    </a:p>
                  </a:txBody>
                  <a:tcPr marL="91440" marR="91440" marT="45720" marB="45720">
                    <a:lnR w="5715">
                      <a:solidFill>
                        <a:srgbClr val="B6C6B4"/>
                      </a:solidFill>
                      <a:prstDash val="solid"/>
                    </a:lnR>
                    <a:lnB w="5715">
                      <a:solidFill>
                        <a:srgbClr val="B6C6B4"/>
                      </a:solidFill>
                      <a:prstDash val="solid"/>
                    </a:lnB>
                    <a:solidFill>
                      <a:srgbClr val="F2F1E8"/>
                    </a:solidFill>
                  </a:tcPr>
                </a:tc>
              </a:tr>
              <a:tr h="609600">
                <a:tc>
                  <a:txBody>
                    <a:bodyPr/>
                    <a:lstStyle/>
                    <a:p>
                      <a:r>
                        <a:rPr sz="1875" b="0">
                          <a:solidFill>
                            <a:srgbClr val="183C2D"/>
                          </a:solidFill>
                          <a:latin typeface="Arial"/>
                          <a:ea typeface="Arial"/>
                          <a:cs typeface="Arial"/>
                        </a:rPr>
                        <a:t>16</a:t>
                      </a:r>
                    </a:p>
                  </a:txBody>
                  <a:tcPr marL="91440" marR="91440" marT="45720" marB="45720">
                    <a:lnL w="5715">
                      <a:solidFill>
                        <a:srgbClr val="B6C6B4"/>
                      </a:solidFill>
                      <a:prstDash val="solid"/>
                    </a:lnL>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100.00%</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512</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93.75%</a:t>
                      </a:r>
                    </a:p>
                  </a:txBody>
                  <a:tcPr marL="91440" marR="91440" marT="45720" marB="45720">
                    <a:lnR w="5715">
                      <a:solidFill>
                        <a:srgbClr val="B6C6B4"/>
                      </a:solidFill>
                      <a:prstDash val="solid"/>
                    </a:lnR>
                    <a:lnB w="5715">
                      <a:solidFill>
                        <a:srgbClr val="B6C6B4"/>
                      </a:solidFill>
                      <a:prstDash val="solid"/>
                    </a:lnB>
                    <a:solidFill>
                      <a:srgbClr val="F2F1E8"/>
                    </a:solidFill>
                  </a:tcPr>
                </a:tc>
                <a:tc>
                  <a:txBody>
                    <a:bodyPr/>
                    <a:lstStyle/>
                    <a:p>
                      <a:r>
                        <a:rPr sz="1875" b="0">
                          <a:solidFill>
                            <a:srgbClr val="183C2D"/>
                          </a:solidFill>
                          <a:latin typeface="Arial"/>
                          <a:ea typeface="Arial"/>
                          <a:cs typeface="Arial"/>
                        </a:rPr>
                        <a:t>90.00%</a:t>
                      </a:r>
                    </a:p>
                  </a:txBody>
                  <a:tcPr marL="91440" marR="91440" marT="45720" marB="45720">
                    <a:lnR w="5715">
                      <a:solidFill>
                        <a:srgbClr val="B6C6B4"/>
                      </a:solidFill>
                      <a:prstDash val="solid"/>
                    </a:lnR>
                    <a:lnB w="5715">
                      <a:solidFill>
                        <a:srgbClr val="B6C6B4"/>
                      </a:solidFill>
                      <a:prstDash val="solid"/>
                    </a:lnB>
                    <a:solidFill>
                      <a:srgbClr val="F2F1E8"/>
                    </a:solidFill>
                  </a:tcPr>
                </a:tc>
              </a:tr>
            </a:tbl>
          </a:graphicData>
        </a:graphic>
      </p:graphicFrame>
      <p:sp>
        <p:nvSpPr>
          <p:cNvPr id="3" name="">
            <a:extLst xmlns:a="http://schemas.openxmlformats.org/drawingml/2006/main">
              <a:ext uri="{FF2B5EF4-FFF2-40B4-BE49-F238E27FC236}">
                <a16:creationId xmlns:a16="http://schemas.microsoft.com/office/drawing/2014/main" id="{84E759B9-6A5D-47C1-A25F-7F4E3E55F4F5}"/>
              </a:ext>
            </a:extLst>
          </p:cNvPr>
          <p:cNvSpPr>
            <a:spLocks xmlns:a="http://schemas.openxmlformats.org/drawingml/2006/main" noGrp="1"/>
          </p:cNvSpPr>
          <p:nvPr/>
        </p:nvSpPr>
        <p:spPr>
          <a:xfrm xmlns:a="http://schemas.openxmlformats.org/drawingml/2006/main">
            <a:off x="647700" y="5619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83C2D"/>
                </a:solidFill>
                <a:latin typeface="Arial"/>
                <a:ea typeface="Arial"/>
                <a:cs typeface="Arial"/>
              </a:defRPr>
            </a:defPPr>
          </a:lstStyle>
          <a:p xmlns:a="http://schemas.openxmlformats.org/drawingml/2006/main">
            <a:pPr>
              <a:defRPr sz="1950" b="0">
                <a:solidFill>
                  <a:srgbClr val="183C2D"/>
                </a:solidFill>
                <a:latin typeface="Arial"/>
                <a:ea typeface="Arial"/>
                <a:cs typeface="Arial"/>
              </a:defRPr>
            </a:pPr>
            <a:r>
              <a:rPr sz="1950" b="0">
                <a:solidFill>
                  <a:srgbClr val="183C2D"/>
                </a:solidFill>
                <a:latin typeface="Arial"/>
                <a:ea typeface="Arial"/>
                <a:cs typeface="Arial"/>
              </a:rPr>
              <a:t>Fixed rank truncations of W2, without retraining</a:t>
            </a:r>
          </a:p>
        </p:txBody>
      </p:sp>
      <p:sp>
        <p:nvSpPr>
          <p:cNvPr id="4" name="">
            <a:extLst xmlns:a="http://schemas.openxmlformats.org/drawingml/2006/main">
              <a:ext uri="{FF2B5EF4-FFF2-40B4-BE49-F238E27FC236}">
                <a16:creationId xmlns:a16="http://schemas.microsoft.com/office/drawing/2014/main" id="{A0BDA4D8-F4F5-436E-AD5F-A1A08AF6D516}"/>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15 / 16</a:t>
            </a:r>
          </a:p>
        </p:txBody>
      </p:sp>
    </p:spTree>
    <p:extLst>
      <p:ext uri="{BB962C8B-B14F-4D97-AF65-F5344CB8AC3E}">
        <p14:creationId xmlns:p14="http://schemas.microsoft.com/office/powerpoint/2010/main" val="1662087285"/>
      </p:ext>
    </p:extLst>
  </p:cSld>
</p:sld>
</file>

<file path=ppt/slides/slide16.xml><?xml version="1.0" encoding="utf-8"?>
<p:sld xmlns:p="http://schemas.openxmlformats.org/presentationml/2006/main">
  <p:cSld>
    <p:bg>
      <p:bgPr>
        <a:solidFill xmlns:a="http://schemas.openxmlformats.org/drawingml/2006/main">
          <a:srgbClr val="F2F1E8"/>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1590FFE-B781-44EC-8433-3F4634F5F631}"/>
              </a:ext>
            </a:extLst>
          </p:cNvPr>
          <p:cNvSpPr>
            <a:spLocks xmlns:a="http://schemas.openxmlformats.org/drawingml/2006/main" noGrp="1"/>
          </p:cNvSpPr>
          <p:nvPr/>
        </p:nvSpPr>
        <p:spPr>
          <a:xfrm xmlns:a="http://schemas.openxmlformats.org/drawingml/2006/main">
            <a:off x="609600" y="5524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C2D"/>
                </a:solidFill>
                <a:latin typeface="Arial"/>
                <a:ea typeface="Arial"/>
                <a:cs typeface="Arial"/>
              </a:defRPr>
            </a:defPPr>
          </a:lstStyle>
          <a:p xmlns:a="http://schemas.openxmlformats.org/drawingml/2006/main">
            <a:pPr>
              <a:defRPr sz="3225" b="1">
                <a:solidFill>
                  <a:srgbClr val="183C2D"/>
                </a:solidFill>
                <a:latin typeface="Arial"/>
                <a:ea typeface="Arial"/>
                <a:cs typeface="Arial"/>
              </a:defRPr>
            </a:pPr>
            <a:r>
              <a:rPr sz="3225" b="1">
                <a:solidFill>
                  <a:srgbClr val="183C2D"/>
                </a:solidFill>
                <a:latin typeface="Arial"/>
                <a:ea typeface="Arial"/>
                <a:cs typeface="Arial"/>
              </a:rPr>
              <a:t>Conclusions and limits</a:t>
            </a:r>
          </a:p>
        </p:txBody>
      </p:sp>
      <p:sp>
        <p:nvSpPr>
          <p:cNvPr id="2" name="">
            <a:extLst xmlns:a="http://schemas.openxmlformats.org/drawingml/2006/main">
              <a:ext uri="{FF2B5EF4-FFF2-40B4-BE49-F238E27FC236}">
                <a16:creationId xmlns:a16="http://schemas.microsoft.com/office/drawing/2014/main" id="{59AC1508-81F4-45A3-9877-19B1EE6A134B}"/>
              </a:ext>
            </a:extLst>
          </p:cNvPr>
          <p:cNvSpPr>
            <a:spLocks xmlns:a="http://schemas.openxmlformats.org/drawingml/2006/main" noGrp="1"/>
          </p:cNvSpPr>
          <p:nvPr/>
        </p:nvSpPr>
        <p:spPr>
          <a:xfrm xmlns:a="http://schemas.openxmlformats.org/drawingml/2006/main">
            <a:off x="857250" y="2000250"/>
            <a:ext cx="104775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183C2D"/>
                </a:solidFill>
                <a:latin typeface="Arial"/>
                <a:ea typeface="Arial"/>
                <a:cs typeface="Arial"/>
              </a:defRPr>
            </a:defPPr>
          </a:lstStyle>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Nonlinear features improve this spiral experiment</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Matrix calculus makes learning explicit</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PCA and SVD describe different objects</a:t>
            </a:r>
          </a:p>
          <a:p xmlns:a="http://schemas.openxmlformats.org/drawingml/2006/main">
            <a:pPr>
              <a:defRPr sz="2625" b="0">
                <a:solidFill>
                  <a:srgbClr val="183C2D"/>
                </a:solidFill>
                <a:latin typeface="Arial"/>
                <a:ea typeface="Arial"/>
                <a:cs typeface="Arial"/>
              </a:defRPr>
            </a:pPr>
            <a:r>
              <a:rPr sz="2625" b="0">
                <a:solidFill>
                  <a:srgbClr val="183C2D"/>
                </a:solidFill>
                <a:latin typeface="Arial"/>
                <a:ea typeface="Arial"/>
                <a:cs typeface="Arial"/>
              </a:rPr>
              <a:t>One split and three seeds limit the conclusions</a:t>
            </a:r>
          </a:p>
        </p:txBody>
      </p:sp>
      <p:sp>
        <p:nvSpPr>
          <p:cNvPr id="3" name="">
            <a:extLst xmlns:a="http://schemas.openxmlformats.org/drawingml/2006/main">
              <a:ext uri="{FF2B5EF4-FFF2-40B4-BE49-F238E27FC236}">
                <a16:creationId xmlns:a16="http://schemas.microsoft.com/office/drawing/2014/main" id="{A2FD3416-2DB0-4FB4-8B5C-D144D9AAD5F8}"/>
              </a:ext>
            </a:extLst>
          </p:cNvPr>
          <p:cNvSpPr>
            <a:spLocks xmlns:a="http://schemas.openxmlformats.org/drawingml/2006/main" noGrp="1"/>
          </p:cNvSpPr>
          <p:nvPr/>
        </p:nvSpPr>
        <p:spPr>
          <a:xfrm xmlns:a="http://schemas.openxmlformats.org/drawingml/2006/main">
            <a:off x="11049000" y="64674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A5C"/>
                </a:solidFill>
                <a:latin typeface="Arial"/>
                <a:ea typeface="Arial"/>
                <a:cs typeface="Arial"/>
              </a:defRPr>
            </a:defPPr>
          </a:lstStyle>
          <a:p xmlns:a="http://schemas.openxmlformats.org/drawingml/2006/main">
            <a:pPr>
              <a:defRPr sz="1200" b="0">
                <a:solidFill>
                  <a:srgbClr val="526A5C"/>
                </a:solidFill>
                <a:latin typeface="Arial"/>
                <a:ea typeface="Arial"/>
                <a:cs typeface="Arial"/>
              </a:defRPr>
            </a:pPr>
            <a:r>
              <a:rPr sz="1200" b="0">
                <a:solidFill>
                  <a:srgbClr val="526A5C"/>
                </a:solidFill>
                <a:latin typeface="Arial"/>
                <a:ea typeface="Arial"/>
                <a:cs typeface="Arial"/>
              </a:rPr>
              <a:t>16 / 16</a:t>
            </a:r>
          </a:p>
        </p:txBody>
      </p:sp>
    </p:spTree>
    <p:extLst>
      <p:ext uri="{BB962C8B-B14F-4D97-AF65-F5344CB8AC3E}">
        <p14:creationId xmlns:p14="http://schemas.microsoft.com/office/powerpoint/2010/main" val="18603647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2026-10-12T18:28:17.6790000Z</dcterms:created>
  <dcterms:modified xsi:type="dcterms:W3CDTF">2026-10-12T18:28:17.6790000Z</dcterms:modified>
</coreProperties>
</file>