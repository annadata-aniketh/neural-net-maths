
<file path=[Content_Types].xml><?xml version="1.0" encoding="utf-8"?>
<Types xmlns="http://schemas.openxmlformats.org/package/2006/content-types">
  <Default ContentType="application/vnd.openxmlformats-officedocument.spreadsheetml.sheet" Extension="xlsx"/>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jFoU59b+brapHrA3fBwDUAA3L/0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403661-BDB2-423B-B92A-0399C7348F8E}">
  <a:tblStyle styleId="{66403661-BDB2-423B-B92A-0399C7348F8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1F"/>
                </a:solidFill>
                <a:latin typeface="+mn-lt"/>
              </a:defRPr>
            </a:pPr>
            <a:r>
              <a:rPr sz="1400" b="0" i="0" u="none" strike="noStrike">
                <a:solidFill>
                  <a:srgbClr val="16231F"/>
                </a:solidFill>
                <a:latin typeface="+mn-lt"/>
              </a:rPr>
              <a:t>Error (lower is better)</a:t>
            </a:r>
          </a:p>
        </c:rich>
      </c:tx>
      <c:layout/>
      <c:overlay val="0"/>
    </c:title>
    <c:autoTitleDeleted val="0"/>
    <c:plotArea>
      <c:layout/>
      <c:lineChart>
        <c:varyColors val="0"/>
        <c:ser>
          <c:idx val="0"/>
          <c:order val="0"/>
          <c:tx>
            <c:strRef>
              <c:f>Sheet1!$B$1</c:f>
              <c:strCache>
                <c:ptCount val="1"/>
                <c:pt idx="0">
                  <c:v>Training (practice)</c:v>
                </c:pt>
              </c:strCache>
            </c:strRef>
          </c:tx>
          <c:spPr>
            <a:solidFill>
              <a:srgbClr val="5B7FE0"/>
            </a:solidFill>
            <a:ln w="31750" cap="flat">
              <a:solidFill>
                <a:srgbClr val="5B7FE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7FE0"/>
              </a:solidFill>
              <a:ln w="9525" cap="flat">
                <a:solidFill>
                  <a:srgbClr val="5B7FE0"/>
                </a:solidFill>
                <a:prstDash val="solid"/>
                <a:round/>
              </a:ln>
              <a:effectLst/>
            </c:spPr>
          </c:marker>
          <c:cat>
            <c:multiLvlStrRef>
              <c:f>Sheet1!$A$2:$A$242</c:f>
              <c:multiLvlStrCache>
                <c:ptCount val="241"/>
                <c:lvl>
                  <c:pt idx="0">
                    <c:v>0</c:v>
                  </c:pt>
                  <c:pt idx="1">
                    <c:v>50</c:v>
                  </c:pt>
                  <c:pt idx="2">
                    <c:v>100</c:v>
                  </c:pt>
                  <c:pt idx="3">
                    <c:v>150</c:v>
                  </c:pt>
                  <c:pt idx="4">
                    <c:v>200</c:v>
                  </c:pt>
                  <c:pt idx="5">
                    <c:v>250</c:v>
                  </c:pt>
                  <c:pt idx="6">
                    <c:v>300</c:v>
                  </c:pt>
                  <c:pt idx="7">
                    <c:v>350</c:v>
                  </c:pt>
                  <c:pt idx="8">
                    <c:v>400</c:v>
                  </c:pt>
                  <c:pt idx="9">
                    <c:v>450</c:v>
                  </c:pt>
                  <c:pt idx="10">
                    <c:v>500</c:v>
                  </c:pt>
                  <c:pt idx="11">
                    <c:v>550</c:v>
                  </c:pt>
                  <c:pt idx="12">
                    <c:v>600</c:v>
                  </c:pt>
                  <c:pt idx="13">
                    <c:v>650</c:v>
                  </c:pt>
                  <c:pt idx="14">
                    <c:v>700</c:v>
                  </c:pt>
                  <c:pt idx="15">
                    <c:v>750</c:v>
                  </c:pt>
                  <c:pt idx="16">
                    <c:v>800</c:v>
                  </c:pt>
                  <c:pt idx="17">
                    <c:v>850</c:v>
                  </c:pt>
                  <c:pt idx="18">
                    <c:v>900</c:v>
                  </c:pt>
                  <c:pt idx="19">
                    <c:v>950</c:v>
                  </c:pt>
                  <c:pt idx="20">
                    <c:v>1000</c:v>
                  </c:pt>
                  <c:pt idx="21">
                    <c:v>1050</c:v>
                  </c:pt>
                  <c:pt idx="22">
                    <c:v>1100</c:v>
                  </c:pt>
                  <c:pt idx="23">
                    <c:v>1150</c:v>
                  </c:pt>
                  <c:pt idx="24">
                    <c:v>1200</c:v>
                  </c:pt>
                  <c:pt idx="25">
                    <c:v>1250</c:v>
                  </c:pt>
                  <c:pt idx="26">
                    <c:v>1300</c:v>
                  </c:pt>
                  <c:pt idx="27">
                    <c:v>1350</c:v>
                  </c:pt>
                  <c:pt idx="28">
                    <c:v>1400</c:v>
                  </c:pt>
                  <c:pt idx="29">
                    <c:v>1450</c:v>
                  </c:pt>
                  <c:pt idx="30">
                    <c:v>1500</c:v>
                  </c:pt>
                  <c:pt idx="31">
                    <c:v>1550</c:v>
                  </c:pt>
                  <c:pt idx="32">
                    <c:v>1600</c:v>
                  </c:pt>
                  <c:pt idx="33">
                    <c:v>1650</c:v>
                  </c:pt>
                  <c:pt idx="34">
                    <c:v>1700</c:v>
                  </c:pt>
                  <c:pt idx="35">
                    <c:v>1750</c:v>
                  </c:pt>
                  <c:pt idx="36">
                    <c:v>1800</c:v>
                  </c:pt>
                  <c:pt idx="37">
                    <c:v>1850</c:v>
                  </c:pt>
                  <c:pt idx="38">
                    <c:v>1900</c:v>
                  </c:pt>
                  <c:pt idx="39">
                    <c:v>1950</c:v>
                  </c:pt>
                  <c:pt idx="40">
                    <c:v>2000</c:v>
                  </c:pt>
                  <c:pt idx="41">
                    <c:v>2050</c:v>
                  </c:pt>
                  <c:pt idx="42">
                    <c:v>2100</c:v>
                  </c:pt>
                  <c:pt idx="43">
                    <c:v>2150</c:v>
                  </c:pt>
                  <c:pt idx="44">
                    <c:v>2200</c:v>
                  </c:pt>
                  <c:pt idx="45">
                    <c:v>2250</c:v>
                  </c:pt>
                  <c:pt idx="46">
                    <c:v>2300</c:v>
                  </c:pt>
                  <c:pt idx="47">
                    <c:v>2350</c:v>
                  </c:pt>
                  <c:pt idx="48">
                    <c:v>2400</c:v>
                  </c:pt>
                  <c:pt idx="49">
                    <c:v>2450</c:v>
                  </c:pt>
                  <c:pt idx="50">
                    <c:v>2500</c:v>
                  </c:pt>
                  <c:pt idx="51">
                    <c:v>2550</c:v>
                  </c:pt>
                  <c:pt idx="52">
                    <c:v>2600</c:v>
                  </c:pt>
                  <c:pt idx="53">
                    <c:v>2650</c:v>
                  </c:pt>
                  <c:pt idx="54">
                    <c:v>2700</c:v>
                  </c:pt>
                  <c:pt idx="55">
                    <c:v>2750</c:v>
                  </c:pt>
                  <c:pt idx="56">
                    <c:v>2800</c:v>
                  </c:pt>
                  <c:pt idx="57">
                    <c:v>2850</c:v>
                  </c:pt>
                  <c:pt idx="58">
                    <c:v>2900</c:v>
                  </c:pt>
                  <c:pt idx="59">
                    <c:v>2950</c:v>
                  </c:pt>
                  <c:pt idx="60">
                    <c:v>3000</c:v>
                  </c:pt>
                  <c:pt idx="61">
                    <c:v>3050</c:v>
                  </c:pt>
                  <c:pt idx="62">
                    <c:v>3100</c:v>
                  </c:pt>
                  <c:pt idx="63">
                    <c:v>3150</c:v>
                  </c:pt>
                  <c:pt idx="64">
                    <c:v>3200</c:v>
                  </c:pt>
                  <c:pt idx="65">
                    <c:v>3250</c:v>
                  </c:pt>
                  <c:pt idx="66">
                    <c:v>3300</c:v>
                  </c:pt>
                  <c:pt idx="67">
                    <c:v>3350</c:v>
                  </c:pt>
                  <c:pt idx="68">
                    <c:v>3400</c:v>
                  </c:pt>
                  <c:pt idx="69">
                    <c:v>3450</c:v>
                  </c:pt>
                  <c:pt idx="70">
                    <c:v>3500</c:v>
                  </c:pt>
                  <c:pt idx="71">
                    <c:v>3550</c:v>
                  </c:pt>
                  <c:pt idx="72">
                    <c:v>3600</c:v>
                  </c:pt>
                  <c:pt idx="73">
                    <c:v>3650</c:v>
                  </c:pt>
                  <c:pt idx="74">
                    <c:v>3700</c:v>
                  </c:pt>
                  <c:pt idx="75">
                    <c:v>3750</c:v>
                  </c:pt>
                  <c:pt idx="76">
                    <c:v>3800</c:v>
                  </c:pt>
                  <c:pt idx="77">
                    <c:v>3850</c:v>
                  </c:pt>
                  <c:pt idx="78">
                    <c:v>3900</c:v>
                  </c:pt>
                  <c:pt idx="79">
                    <c:v>3950</c:v>
                  </c:pt>
                  <c:pt idx="80">
                    <c:v>4000</c:v>
                  </c:pt>
                  <c:pt idx="81">
                    <c:v>4050</c:v>
                  </c:pt>
                  <c:pt idx="82">
                    <c:v>4100</c:v>
                  </c:pt>
                  <c:pt idx="83">
                    <c:v>4150</c:v>
                  </c:pt>
                  <c:pt idx="84">
                    <c:v>4200</c:v>
                  </c:pt>
                  <c:pt idx="85">
                    <c:v>4250</c:v>
                  </c:pt>
                  <c:pt idx="86">
                    <c:v>4300</c:v>
                  </c:pt>
                  <c:pt idx="87">
                    <c:v>4350</c:v>
                  </c:pt>
                  <c:pt idx="88">
                    <c:v>4400</c:v>
                  </c:pt>
                  <c:pt idx="89">
                    <c:v>4450</c:v>
                  </c:pt>
                  <c:pt idx="90">
                    <c:v>4500</c:v>
                  </c:pt>
                  <c:pt idx="91">
                    <c:v>4550</c:v>
                  </c:pt>
                  <c:pt idx="92">
                    <c:v>4600</c:v>
                  </c:pt>
                  <c:pt idx="93">
                    <c:v>4650</c:v>
                  </c:pt>
                  <c:pt idx="94">
                    <c:v>4700</c:v>
                  </c:pt>
                  <c:pt idx="95">
                    <c:v>4750</c:v>
                  </c:pt>
                  <c:pt idx="96">
                    <c:v>4800</c:v>
                  </c:pt>
                  <c:pt idx="97">
                    <c:v>4850</c:v>
                  </c:pt>
                  <c:pt idx="98">
                    <c:v>4900</c:v>
                  </c:pt>
                  <c:pt idx="99">
                    <c:v>4950</c:v>
                  </c:pt>
                  <c:pt idx="100">
                    <c:v>5000</c:v>
                  </c:pt>
                  <c:pt idx="101">
                    <c:v>5050</c:v>
                  </c:pt>
                  <c:pt idx="102">
                    <c:v>5100</c:v>
                  </c:pt>
                  <c:pt idx="103">
                    <c:v>5150</c:v>
                  </c:pt>
                  <c:pt idx="104">
                    <c:v>5200</c:v>
                  </c:pt>
                  <c:pt idx="105">
                    <c:v>5250</c:v>
                  </c:pt>
                  <c:pt idx="106">
                    <c:v>5300</c:v>
                  </c:pt>
                  <c:pt idx="107">
                    <c:v>5350</c:v>
                  </c:pt>
                  <c:pt idx="108">
                    <c:v>5400</c:v>
                  </c:pt>
                  <c:pt idx="109">
                    <c:v>5450</c:v>
                  </c:pt>
                  <c:pt idx="110">
                    <c:v>5500</c:v>
                  </c:pt>
                  <c:pt idx="111">
                    <c:v>5550</c:v>
                  </c:pt>
                  <c:pt idx="112">
                    <c:v>5600</c:v>
                  </c:pt>
                  <c:pt idx="113">
                    <c:v>5650</c:v>
                  </c:pt>
                  <c:pt idx="114">
                    <c:v>5700</c:v>
                  </c:pt>
                  <c:pt idx="115">
                    <c:v>5750</c:v>
                  </c:pt>
                  <c:pt idx="116">
                    <c:v>5800</c:v>
                  </c:pt>
                  <c:pt idx="117">
                    <c:v>5850</c:v>
                  </c:pt>
                  <c:pt idx="118">
                    <c:v>5900</c:v>
                  </c:pt>
                  <c:pt idx="119">
                    <c:v>5950</c:v>
                  </c:pt>
                  <c:pt idx="120">
                    <c:v>6000</c:v>
                  </c:pt>
                  <c:pt idx="121">
                    <c:v>6050</c:v>
                  </c:pt>
                  <c:pt idx="122">
                    <c:v>6100</c:v>
                  </c:pt>
                  <c:pt idx="123">
                    <c:v>6150</c:v>
                  </c:pt>
                  <c:pt idx="124">
                    <c:v>6200</c:v>
                  </c:pt>
                  <c:pt idx="125">
                    <c:v>6250</c:v>
                  </c:pt>
                  <c:pt idx="126">
                    <c:v>6300</c:v>
                  </c:pt>
                  <c:pt idx="127">
                    <c:v>6350</c:v>
                  </c:pt>
                  <c:pt idx="128">
                    <c:v>6400</c:v>
                  </c:pt>
                  <c:pt idx="129">
                    <c:v>6450</c:v>
                  </c:pt>
                  <c:pt idx="130">
                    <c:v>6500</c:v>
                  </c:pt>
                  <c:pt idx="131">
                    <c:v>6550</c:v>
                  </c:pt>
                  <c:pt idx="132">
                    <c:v>6600</c:v>
                  </c:pt>
                  <c:pt idx="133">
                    <c:v>6650</c:v>
                  </c:pt>
                  <c:pt idx="134">
                    <c:v>6700</c:v>
                  </c:pt>
                  <c:pt idx="135">
                    <c:v>6750</c:v>
                  </c:pt>
                  <c:pt idx="136">
                    <c:v>6800</c:v>
                  </c:pt>
                  <c:pt idx="137">
                    <c:v>6850</c:v>
                  </c:pt>
                  <c:pt idx="138">
                    <c:v>6900</c:v>
                  </c:pt>
                  <c:pt idx="139">
                    <c:v>6950</c:v>
                  </c:pt>
                  <c:pt idx="140">
                    <c:v>7000</c:v>
                  </c:pt>
                  <c:pt idx="141">
                    <c:v>7050</c:v>
                  </c:pt>
                  <c:pt idx="142">
                    <c:v>7100</c:v>
                  </c:pt>
                  <c:pt idx="143">
                    <c:v>7150</c:v>
                  </c:pt>
                  <c:pt idx="144">
                    <c:v>7200</c:v>
                  </c:pt>
                  <c:pt idx="145">
                    <c:v>7250</c:v>
                  </c:pt>
                  <c:pt idx="146">
                    <c:v>7300</c:v>
                  </c:pt>
                  <c:pt idx="147">
                    <c:v>7350</c:v>
                  </c:pt>
                  <c:pt idx="148">
                    <c:v>7400</c:v>
                  </c:pt>
                  <c:pt idx="149">
                    <c:v>7450</c:v>
                  </c:pt>
                  <c:pt idx="150">
                    <c:v>7500</c:v>
                  </c:pt>
                  <c:pt idx="151">
                    <c:v>7550</c:v>
                  </c:pt>
                  <c:pt idx="152">
                    <c:v>7600</c:v>
                  </c:pt>
                  <c:pt idx="153">
                    <c:v>7650</c:v>
                  </c:pt>
                  <c:pt idx="154">
                    <c:v>7700</c:v>
                  </c:pt>
                  <c:pt idx="155">
                    <c:v>7750</c:v>
                  </c:pt>
                  <c:pt idx="156">
                    <c:v>7800</c:v>
                  </c:pt>
                  <c:pt idx="157">
                    <c:v>7850</c:v>
                  </c:pt>
                  <c:pt idx="158">
                    <c:v>7900</c:v>
                  </c:pt>
                  <c:pt idx="159">
                    <c:v>7950</c:v>
                  </c:pt>
                  <c:pt idx="160">
                    <c:v>8000</c:v>
                  </c:pt>
                  <c:pt idx="161">
                    <c:v>8050</c:v>
                  </c:pt>
                  <c:pt idx="162">
                    <c:v>8100</c:v>
                  </c:pt>
                  <c:pt idx="163">
                    <c:v>8150</c:v>
                  </c:pt>
                  <c:pt idx="164">
                    <c:v>8200</c:v>
                  </c:pt>
                  <c:pt idx="165">
                    <c:v>8250</c:v>
                  </c:pt>
                  <c:pt idx="166">
                    <c:v>8300</c:v>
                  </c:pt>
                  <c:pt idx="167">
                    <c:v>8350</c:v>
                  </c:pt>
                  <c:pt idx="168">
                    <c:v>8400</c:v>
                  </c:pt>
                  <c:pt idx="169">
                    <c:v>8450</c:v>
                  </c:pt>
                  <c:pt idx="170">
                    <c:v>8500</c:v>
                  </c:pt>
                  <c:pt idx="171">
                    <c:v>8550</c:v>
                  </c:pt>
                  <c:pt idx="172">
                    <c:v>8600</c:v>
                  </c:pt>
                  <c:pt idx="173">
                    <c:v>8650</c:v>
                  </c:pt>
                  <c:pt idx="174">
                    <c:v>8700</c:v>
                  </c:pt>
                  <c:pt idx="175">
                    <c:v>8750</c:v>
                  </c:pt>
                  <c:pt idx="176">
                    <c:v>8800</c:v>
                  </c:pt>
                  <c:pt idx="177">
                    <c:v>8850</c:v>
                  </c:pt>
                  <c:pt idx="178">
                    <c:v>8900</c:v>
                  </c:pt>
                  <c:pt idx="179">
                    <c:v>8950</c:v>
                  </c:pt>
                  <c:pt idx="180">
                    <c:v>9000</c:v>
                  </c:pt>
                  <c:pt idx="181">
                    <c:v>9050</c:v>
                  </c:pt>
                  <c:pt idx="182">
                    <c:v>9100</c:v>
                  </c:pt>
                  <c:pt idx="183">
                    <c:v>9150</c:v>
                  </c:pt>
                  <c:pt idx="184">
                    <c:v>9200</c:v>
                  </c:pt>
                  <c:pt idx="185">
                    <c:v>9250</c:v>
                  </c:pt>
                  <c:pt idx="186">
                    <c:v>9300</c:v>
                  </c:pt>
                  <c:pt idx="187">
                    <c:v>9350</c:v>
                  </c:pt>
                  <c:pt idx="188">
                    <c:v>9400</c:v>
                  </c:pt>
                  <c:pt idx="189">
                    <c:v>9450</c:v>
                  </c:pt>
                  <c:pt idx="190">
                    <c:v>9500</c:v>
                  </c:pt>
                  <c:pt idx="191">
                    <c:v>9550</c:v>
                  </c:pt>
                  <c:pt idx="192">
                    <c:v>9600</c:v>
                  </c:pt>
                  <c:pt idx="193">
                    <c:v>9650</c:v>
                  </c:pt>
                  <c:pt idx="194">
                    <c:v>9700</c:v>
                  </c:pt>
                  <c:pt idx="195">
                    <c:v>9750</c:v>
                  </c:pt>
                  <c:pt idx="196">
                    <c:v>9800</c:v>
                  </c:pt>
                  <c:pt idx="197">
                    <c:v>9850</c:v>
                  </c:pt>
                  <c:pt idx="198">
                    <c:v>9900</c:v>
                  </c:pt>
                  <c:pt idx="199">
                    <c:v>9950</c:v>
                  </c:pt>
                  <c:pt idx="200">
                    <c:v>10000</c:v>
                  </c:pt>
                  <c:pt idx="201">
                    <c:v>10050</c:v>
                  </c:pt>
                  <c:pt idx="202">
                    <c:v>10100</c:v>
                  </c:pt>
                  <c:pt idx="203">
                    <c:v>10150</c:v>
                  </c:pt>
                  <c:pt idx="204">
                    <c:v>10200</c:v>
                  </c:pt>
                  <c:pt idx="205">
                    <c:v>10250</c:v>
                  </c:pt>
                  <c:pt idx="206">
                    <c:v>10300</c:v>
                  </c:pt>
                  <c:pt idx="207">
                    <c:v>10350</c:v>
                  </c:pt>
                  <c:pt idx="208">
                    <c:v>10400</c:v>
                  </c:pt>
                  <c:pt idx="209">
                    <c:v>10450</c:v>
                  </c:pt>
                  <c:pt idx="210">
                    <c:v>10500</c:v>
                  </c:pt>
                  <c:pt idx="211">
                    <c:v>10550</c:v>
                  </c:pt>
                  <c:pt idx="212">
                    <c:v>10600</c:v>
                  </c:pt>
                  <c:pt idx="213">
                    <c:v>10650</c:v>
                  </c:pt>
                  <c:pt idx="214">
                    <c:v>10700</c:v>
                  </c:pt>
                  <c:pt idx="215">
                    <c:v>10750</c:v>
                  </c:pt>
                  <c:pt idx="216">
                    <c:v>10800</c:v>
                  </c:pt>
                  <c:pt idx="217">
                    <c:v>10850</c:v>
                  </c:pt>
                  <c:pt idx="218">
                    <c:v>10900</c:v>
                  </c:pt>
                  <c:pt idx="219">
                    <c:v>10950</c:v>
                  </c:pt>
                  <c:pt idx="220">
                    <c:v>11000</c:v>
                  </c:pt>
                  <c:pt idx="221">
                    <c:v>11050</c:v>
                  </c:pt>
                  <c:pt idx="222">
                    <c:v>11100</c:v>
                  </c:pt>
                  <c:pt idx="223">
                    <c:v>11150</c:v>
                  </c:pt>
                  <c:pt idx="224">
                    <c:v>11200</c:v>
                  </c:pt>
                  <c:pt idx="225">
                    <c:v>11250</c:v>
                  </c:pt>
                  <c:pt idx="226">
                    <c:v>11300</c:v>
                  </c:pt>
                  <c:pt idx="227">
                    <c:v>11350</c:v>
                  </c:pt>
                  <c:pt idx="228">
                    <c:v>11400</c:v>
                  </c:pt>
                  <c:pt idx="229">
                    <c:v>11450</c:v>
                  </c:pt>
                  <c:pt idx="230">
                    <c:v>11500</c:v>
                  </c:pt>
                  <c:pt idx="231">
                    <c:v>11550</c:v>
                  </c:pt>
                  <c:pt idx="232">
                    <c:v>11600</c:v>
                  </c:pt>
                  <c:pt idx="233">
                    <c:v>11650</c:v>
                  </c:pt>
                  <c:pt idx="234">
                    <c:v>11700</c:v>
                  </c:pt>
                  <c:pt idx="235">
                    <c:v>11750</c:v>
                  </c:pt>
                  <c:pt idx="236">
                    <c:v>11800</c:v>
                  </c:pt>
                  <c:pt idx="237">
                    <c:v>11850</c:v>
                  </c:pt>
                  <c:pt idx="238">
                    <c:v>11900</c:v>
                  </c:pt>
                  <c:pt idx="239">
                    <c:v>11950</c:v>
                  </c:pt>
                  <c:pt idx="240">
                    <c:v>12000</c:v>
                  </c:pt>
                </c:lvl>
              </c:multiLvlStrCache>
            </c:multiLvlStrRef>
          </c:cat>
          <c:val>
            <c:numRef>
              <c:f>Sheet1!$B$2:$B$242</c:f>
              <c:numCache>
                <c:formatCode>General</c:formatCode>
                <c:ptCount val="241"/>
                <c:pt idx="0">
                  <c:v>0.6970687154</c:v>
                </c:pt>
                <c:pt idx="1">
                  <c:v>0.6721886549</c:v>
                </c:pt>
                <c:pt idx="2">
                  <c:v>0.6632630545</c:v>
                </c:pt>
                <c:pt idx="3">
                  <c:v>0.6563054959</c:v>
                </c:pt>
                <c:pt idx="4">
                  <c:v>0.6501465188</c:v>
                </c:pt>
                <c:pt idx="5">
                  <c:v>0.6447422064</c:v>
                </c:pt>
                <c:pt idx="6">
                  <c:v>0.6396396869</c:v>
                </c:pt>
                <c:pt idx="7">
                  <c:v>0.6347661463</c:v>
                </c:pt>
                <c:pt idx="8">
                  <c:v>0.6302439645</c:v>
                </c:pt>
                <c:pt idx="9">
                  <c:v>0.6259073462</c:v>
                </c:pt>
                <c:pt idx="10">
                  <c:v>0.6218548004</c:v>
                </c:pt>
                <c:pt idx="11">
                  <c:v>0.6171475626</c:v>
                </c:pt>
                <c:pt idx="12">
                  <c:v>0.6126183609</c:v>
                </c:pt>
                <c:pt idx="13">
                  <c:v>0.6086592811</c:v>
                </c:pt>
                <c:pt idx="14">
                  <c:v>0.6048176884</c:v>
                </c:pt>
                <c:pt idx="15">
                  <c:v>0.6012505912</c:v>
                </c:pt>
                <c:pt idx="16">
                  <c:v>0.5979444278</c:v>
                </c:pt>
                <c:pt idx="17">
                  <c:v>0.5949120647</c:v>
                </c:pt>
                <c:pt idx="18">
                  <c:v>0.5921113751</c:v>
                </c:pt>
                <c:pt idx="19">
                  <c:v>0.5895159665</c:v>
                </c:pt>
                <c:pt idx="20">
                  <c:v>0.5870656543</c:v>
                </c:pt>
                <c:pt idx="21">
                  <c:v>0.5848035464</c:v>
                </c:pt>
                <c:pt idx="22">
                  <c:v>0.5827827192</c:v>
                </c:pt>
                <c:pt idx="23">
                  <c:v>0.5805408037</c:v>
                </c:pt>
                <c:pt idx="24">
                  <c:v>0.5780993224</c:v>
                </c:pt>
                <c:pt idx="25">
                  <c:v>0.576020476</c:v>
                </c:pt>
                <c:pt idx="26">
                  <c:v>0.5741419164</c:v>
                </c:pt>
                <c:pt idx="27">
                  <c:v>0.5723565073</c:v>
                </c:pt>
                <c:pt idx="28">
                  <c:v>0.5705330384</c:v>
                </c:pt>
                <c:pt idx="29">
                  <c:v>0.5684144313</c:v>
                </c:pt>
                <c:pt idx="30">
                  <c:v>0.5659192322</c:v>
                </c:pt>
                <c:pt idx="31">
                  <c:v>0.5634244655</c:v>
                </c:pt>
                <c:pt idx="32">
                  <c:v>0.5611818214</c:v>
                </c:pt>
                <c:pt idx="33">
                  <c:v>0.5591570613</c:v>
                </c:pt>
                <c:pt idx="34">
                  <c:v>0.5565894893</c:v>
                </c:pt>
                <c:pt idx="35">
                  <c:v>0.5542292645</c:v>
                </c:pt>
                <c:pt idx="36">
                  <c:v>0.5520262243</c:v>
                </c:pt>
                <c:pt idx="37">
                  <c:v>0.5496701199</c:v>
                </c:pt>
                <c:pt idx="38">
                  <c:v>0.5473363894</c:v>
                </c:pt>
                <c:pt idx="39">
                  <c:v>0.5450580885</c:v>
                </c:pt>
                <c:pt idx="40">
                  <c:v>0.5428227943</c:v>
                </c:pt>
                <c:pt idx="41">
                  <c:v>0.5405922948</c:v>
                </c:pt>
                <c:pt idx="42">
                  <c:v>0.5382894971</c:v>
                </c:pt>
                <c:pt idx="43">
                  <c:v>0.535942575</c:v>
                </c:pt>
                <c:pt idx="44">
                  <c:v>0.5332465694</c:v>
                </c:pt>
                <c:pt idx="45">
                  <c:v>0.5303302009</c:v>
                </c:pt>
                <c:pt idx="46">
                  <c:v>0.527466502</c:v>
                </c:pt>
                <c:pt idx="47">
                  <c:v>0.5241953788</c:v>
                </c:pt>
                <c:pt idx="48">
                  <c:v>0.5212165691</c:v>
                </c:pt>
                <c:pt idx="49">
                  <c:v>0.517794937</c:v>
                </c:pt>
                <c:pt idx="50">
                  <c:v>0.5144357232</c:v>
                </c:pt>
                <c:pt idx="51">
                  <c:v>0.5114854202</c:v>
                </c:pt>
                <c:pt idx="52">
                  <c:v>0.5081451117</c:v>
                </c:pt>
                <c:pt idx="53">
                  <c:v>0.5043157955</c:v>
                </c:pt>
                <c:pt idx="54">
                  <c:v>0.500760239</c:v>
                </c:pt>
                <c:pt idx="55">
                  <c:v>0.4973247976</c:v>
                </c:pt>
                <c:pt idx="56">
                  <c:v>0.4935191528</c:v>
                </c:pt>
                <c:pt idx="57">
                  <c:v>0.4890730896</c:v>
                </c:pt>
                <c:pt idx="58">
                  <c:v>0.4857388196</c:v>
                </c:pt>
                <c:pt idx="59">
                  <c:v>0.4805264249</c:v>
                </c:pt>
                <c:pt idx="60">
                  <c:v>0.4760792489</c:v>
                </c:pt>
                <c:pt idx="61">
                  <c:v>0.471663273</c:v>
                </c:pt>
                <c:pt idx="62">
                  <c:v>0.4660745413</c:v>
                </c:pt>
                <c:pt idx="63">
                  <c:v>0.4560407146</c:v>
                </c:pt>
                <c:pt idx="64">
                  <c:v>0.4484842206</c:v>
                </c:pt>
                <c:pt idx="65">
                  <c:v>0.4419207789</c:v>
                </c:pt>
                <c:pt idx="66">
                  <c:v>0.4344999896</c:v>
                </c:pt>
                <c:pt idx="67">
                  <c:v>0.4304836183</c:v>
                </c:pt>
                <c:pt idx="68">
                  <c:v>0.4265698701</c:v>
                </c:pt>
                <c:pt idx="69">
                  <c:v>0.4204107602</c:v>
                </c:pt>
                <c:pt idx="70">
                  <c:v>0.417840988</c:v>
                </c:pt>
                <c:pt idx="71">
                  <c:v>0.4092089676</c:v>
                </c:pt>
                <c:pt idx="72">
                  <c:v>0.4024439606</c:v>
                </c:pt>
                <c:pt idx="73">
                  <c:v>0.3916432191</c:v>
                </c:pt>
                <c:pt idx="74">
                  <c:v>0.3888735712</c:v>
                </c:pt>
                <c:pt idx="75">
                  <c:v>0.3802260884</c:v>
                </c:pt>
                <c:pt idx="76">
                  <c:v>0.3648827583</c:v>
                </c:pt>
                <c:pt idx="77">
                  <c:v>0.3619017222</c:v>
                </c:pt>
                <c:pt idx="78">
                  <c:v>0.3467380302</c:v>
                </c:pt>
                <c:pt idx="79">
                  <c:v>0.3325456447</c:v>
                </c:pt>
                <c:pt idx="80">
                  <c:v>0.3249031793</c:v>
                </c:pt>
                <c:pt idx="81">
                  <c:v>0.3170546347</c:v>
                </c:pt>
                <c:pt idx="82">
                  <c:v>0.3040130298</c:v>
                </c:pt>
                <c:pt idx="83">
                  <c:v>0.3026366667</c:v>
                </c:pt>
                <c:pt idx="84">
                  <c:v>0.2913943548</c:v>
                </c:pt>
                <c:pt idx="85">
                  <c:v>0.2817951255</c:v>
                </c:pt>
                <c:pt idx="86">
                  <c:v>0.273847992</c:v>
                </c:pt>
                <c:pt idx="87">
                  <c:v>0.2700777646</c:v>
                </c:pt>
                <c:pt idx="88">
                  <c:v>0.2547894376</c:v>
                </c:pt>
                <c:pt idx="89">
                  <c:v>0.2435292298</c:v>
                </c:pt>
                <c:pt idx="90">
                  <c:v>0.2242351823</c:v>
                </c:pt>
                <c:pt idx="91">
                  <c:v>0.2093587427</c:v>
                </c:pt>
                <c:pt idx="92">
                  <c:v>0.1982605092</c:v>
                </c:pt>
                <c:pt idx="93">
                  <c:v>0.1897947943</c:v>
                </c:pt>
                <c:pt idx="94">
                  <c:v>0.1827596687</c:v>
                </c:pt>
                <c:pt idx="95">
                  <c:v>0.1764132195</c:v>
                </c:pt>
                <c:pt idx="96">
                  <c:v>0.1705070414</c:v>
                </c:pt>
                <c:pt idx="97">
                  <c:v>0.1643954965</c:v>
                </c:pt>
                <c:pt idx="98">
                  <c:v>0.1584620298</c:v>
                </c:pt>
                <c:pt idx="99">
                  <c:v>0.1532460295</c:v>
                </c:pt>
                <c:pt idx="100">
                  <c:v>0.147295666</c:v>
                </c:pt>
                <c:pt idx="101">
                  <c:v>0.1424884471</c:v>
                </c:pt>
                <c:pt idx="102">
                  <c:v>0.1386168385</c:v>
                </c:pt>
                <c:pt idx="103">
                  <c:v>0.1352304536</c:v>
                </c:pt>
                <c:pt idx="104">
                  <c:v>0.1321400688</c:v>
                </c:pt>
                <c:pt idx="105">
                  <c:v>0.1292033523</c:v>
                </c:pt>
                <c:pt idx="106">
                  <c:v>0.1265243133</c:v>
                </c:pt>
                <c:pt idx="107">
                  <c:v>0.1240658668</c:v>
                </c:pt>
                <c:pt idx="108">
                  <c:v>0.1218967438</c:v>
                </c:pt>
                <c:pt idx="109">
                  <c:v>0.1198621016</c:v>
                </c:pt>
                <c:pt idx="110">
                  <c:v>0.1178553655</c:v>
                </c:pt>
                <c:pt idx="111">
                  <c:v>0.1160524342</c:v>
                </c:pt>
                <c:pt idx="112">
                  <c:v>0.1143256731</c:v>
                </c:pt>
                <c:pt idx="113">
                  <c:v>0.11272582</c:v>
                </c:pt>
                <c:pt idx="114">
                  <c:v>0.111220819</c:v>
                </c:pt>
                <c:pt idx="115">
                  <c:v>0.1097587206</c:v>
                </c:pt>
                <c:pt idx="116">
                  <c:v>0.1079497689</c:v>
                </c:pt>
                <c:pt idx="117">
                  <c:v>0.1062954484</c:v>
                </c:pt>
                <c:pt idx="118">
                  <c:v>0.104816862</c:v>
                </c:pt>
                <c:pt idx="119">
                  <c:v>0.1034380488</c:v>
                </c:pt>
                <c:pt idx="120">
                  <c:v>0.1021114363</c:v>
                </c:pt>
                <c:pt idx="121">
                  <c:v>0.1005322758</c:v>
                </c:pt>
                <c:pt idx="122">
                  <c:v>0.0989423</c:v>
                </c:pt>
                <c:pt idx="123">
                  <c:v>0.0976982906</c:v>
                </c:pt>
                <c:pt idx="124">
                  <c:v>0.0965956905</c:v>
                </c:pt>
                <c:pt idx="125">
                  <c:v>0.0955534043</c:v>
                </c:pt>
                <c:pt idx="126">
                  <c:v>0.0945597615</c:v>
                </c:pt>
                <c:pt idx="127">
                  <c:v>0.0935947002</c:v>
                </c:pt>
                <c:pt idx="128">
                  <c:v>0.0927686565</c:v>
                </c:pt>
                <c:pt idx="129">
                  <c:v>0.0919175907</c:v>
                </c:pt>
                <c:pt idx="130">
                  <c:v>0.091175631</c:v>
                </c:pt>
                <c:pt idx="131">
                  <c:v>0.0904391368</c:v>
                </c:pt>
                <c:pt idx="132">
                  <c:v>0.0897075435</c:v>
                </c:pt>
                <c:pt idx="133">
                  <c:v>0.0890978769</c:v>
                </c:pt>
                <c:pt idx="134">
                  <c:v>0.0884299487</c:v>
                </c:pt>
                <c:pt idx="135">
                  <c:v>0.0878149679</c:v>
                </c:pt>
                <c:pt idx="136">
                  <c:v>0.087237827</c:v>
                </c:pt>
                <c:pt idx="137">
                  <c:v>0.0867210298</c:v>
                </c:pt>
                <c:pt idx="138">
                  <c:v>0.0861921126</c:v>
                </c:pt>
                <c:pt idx="139">
                  <c:v>0.0856293941</c:v>
                </c:pt>
                <c:pt idx="140">
                  <c:v>0.0851594663</c:v>
                </c:pt>
                <c:pt idx="141">
                  <c:v>0.0846825858</c:v>
                </c:pt>
                <c:pt idx="142">
                  <c:v>0.0841956281</c:v>
                </c:pt>
                <c:pt idx="143">
                  <c:v>0.0837837897</c:v>
                </c:pt>
                <c:pt idx="144">
                  <c:v>0.0833326609</c:v>
                </c:pt>
                <c:pt idx="145">
                  <c:v>0.0829243946</c:v>
                </c:pt>
                <c:pt idx="146">
                  <c:v>0.0825080077</c:v>
                </c:pt>
                <c:pt idx="147">
                  <c:v>0.0821098679</c:v>
                </c:pt>
                <c:pt idx="148">
                  <c:v>0.08169151</c:v>
                </c:pt>
                <c:pt idx="149">
                  <c:v>0.0813268189</c:v>
                </c:pt>
                <c:pt idx="150">
                  <c:v>0.0809527978</c:v>
                </c:pt>
                <c:pt idx="151">
                  <c:v>0.0806046344</c:v>
                </c:pt>
                <c:pt idx="152">
                  <c:v>0.0802337081</c:v>
                </c:pt>
                <c:pt idx="153">
                  <c:v>0.0799342082</c:v>
                </c:pt>
                <c:pt idx="154">
                  <c:v>0.0795633803</c:v>
                </c:pt>
                <c:pt idx="155">
                  <c:v>0.0792420894</c:v>
                </c:pt>
                <c:pt idx="156">
                  <c:v>0.0786829306</c:v>
                </c:pt>
                <c:pt idx="157">
                  <c:v>0.0782071641</c:v>
                </c:pt>
                <c:pt idx="158">
                  <c:v>0.0778095378</c:v>
                </c:pt>
                <c:pt idx="159">
                  <c:v>0.0774924497</c:v>
                </c:pt>
                <c:pt idx="160">
                  <c:v>0.0771552249</c:v>
                </c:pt>
                <c:pt idx="161">
                  <c:v>0.0768131611</c:v>
                </c:pt>
                <c:pt idx="162">
                  <c:v>0.0765286022</c:v>
                </c:pt>
                <c:pt idx="163">
                  <c:v>0.0762499337</c:v>
                </c:pt>
                <c:pt idx="164">
                  <c:v>0.0759390728</c:v>
                </c:pt>
                <c:pt idx="165">
                  <c:v>0.0756354886</c:v>
                </c:pt>
                <c:pt idx="166">
                  <c:v>0.0753603355</c:v>
                </c:pt>
                <c:pt idx="167">
                  <c:v>0.0751247253</c:v>
                </c:pt>
                <c:pt idx="168">
                  <c:v>0.0748543696</c:v>
                </c:pt>
                <c:pt idx="169">
                  <c:v>0.074574737</c:v>
                </c:pt>
                <c:pt idx="170">
                  <c:v>0.0743900929</c:v>
                </c:pt>
                <c:pt idx="171">
                  <c:v>0.0741142209</c:v>
                </c:pt>
                <c:pt idx="172">
                  <c:v>0.0738703341</c:v>
                </c:pt>
                <c:pt idx="173">
                  <c:v>0.0736727159</c:v>
                </c:pt>
                <c:pt idx="174">
                  <c:v>0.0734297033</c:v>
                </c:pt>
                <c:pt idx="175">
                  <c:v>0.0731741063</c:v>
                </c:pt>
                <c:pt idx="176">
                  <c:v>0.0729445947</c:v>
                </c:pt>
                <c:pt idx="177">
                  <c:v>0.0727149898</c:v>
                </c:pt>
                <c:pt idx="178">
                  <c:v>0.0724931677</c:v>
                </c:pt>
                <c:pt idx="179">
                  <c:v>0.0722923699</c:v>
                </c:pt>
                <c:pt idx="180">
                  <c:v>0.0720866489</c:v>
                </c:pt>
                <c:pt idx="181">
                  <c:v>0.0718299121</c:v>
                </c:pt>
                <c:pt idx="182">
                  <c:v>0.0716634951</c:v>
                </c:pt>
                <c:pt idx="183">
                  <c:v>0.0714306587</c:v>
                </c:pt>
                <c:pt idx="184">
                  <c:v>0.0712532843</c:v>
                </c:pt>
                <c:pt idx="185">
                  <c:v>0.0710458762</c:v>
                </c:pt>
                <c:pt idx="186">
                  <c:v>0.0708686559</c:v>
                </c:pt>
                <c:pt idx="187">
                  <c:v>0.0706908163</c:v>
                </c:pt>
                <c:pt idx="188">
                  <c:v>0.0704390081</c:v>
                </c:pt>
                <c:pt idx="189">
                  <c:v>0.0703359549</c:v>
                </c:pt>
                <c:pt idx="190">
                  <c:v>0.0700911451</c:v>
                </c:pt>
                <c:pt idx="191">
                  <c:v>0.0700168374</c:v>
                </c:pt>
                <c:pt idx="192">
                  <c:v>0.0698107099</c:v>
                </c:pt>
                <c:pt idx="193">
                  <c:v>0.0696495283</c:v>
                </c:pt>
                <c:pt idx="194">
                  <c:v>0.0695199405</c:v>
                </c:pt>
                <c:pt idx="195">
                  <c:v>0.0693246801</c:v>
                </c:pt>
                <c:pt idx="196">
                  <c:v>0.0691680126</c:v>
                </c:pt>
                <c:pt idx="197">
                  <c:v>0.0690417858</c:v>
                </c:pt>
                <c:pt idx="198">
                  <c:v>0.068884162</c:v>
                </c:pt>
                <c:pt idx="199">
                  <c:v>0.0688420399</c:v>
                </c:pt>
                <c:pt idx="200">
                  <c:v>0.0687125063</c:v>
                </c:pt>
                <c:pt idx="201">
                  <c:v>0.0685892673</c:v>
                </c:pt>
                <c:pt idx="202">
                  <c:v>0.0683982009</c:v>
                </c:pt>
                <c:pt idx="203">
                  <c:v>0.0683000634</c:v>
                </c:pt>
                <c:pt idx="204">
                  <c:v>0.0682619914</c:v>
                </c:pt>
                <c:pt idx="205">
                  <c:v>0.0680719404</c:v>
                </c:pt>
                <c:pt idx="206">
                  <c:v>0.0679717198</c:v>
                </c:pt>
                <c:pt idx="207">
                  <c:v>0.0680468928</c:v>
                </c:pt>
                <c:pt idx="208">
                  <c:v>0.0678204991</c:v>
                </c:pt>
                <c:pt idx="209">
                  <c:v>0.067756256</c:v>
                </c:pt>
                <c:pt idx="210">
                  <c:v>0.0674331874</c:v>
                </c:pt>
                <c:pt idx="211">
                  <c:v>0.0673141371</c:v>
                </c:pt>
                <c:pt idx="212">
                  <c:v>0.0669863313</c:v>
                </c:pt>
                <c:pt idx="213">
                  <c:v>0.0668027022</c:v>
                </c:pt>
                <c:pt idx="214">
                  <c:v>0.0666810284</c:v>
                </c:pt>
                <c:pt idx="215">
                  <c:v>0.0677664861</c:v>
                </c:pt>
                <c:pt idx="216">
                  <c:v>0.0646551422</c:v>
                </c:pt>
                <c:pt idx="217">
                  <c:v>0.0644485586</c:v>
                </c:pt>
                <c:pt idx="218">
                  <c:v>0.0638922797</c:v>
                </c:pt>
                <c:pt idx="219">
                  <c:v>0.0639999251</c:v>
                </c:pt>
                <c:pt idx="220">
                  <c:v>0.0641335512</c:v>
                </c:pt>
                <c:pt idx="221">
                  <c:v>0.0638223531</c:v>
                </c:pt>
                <c:pt idx="222">
                  <c:v>0.0642991329</c:v>
                </c:pt>
                <c:pt idx="223">
                  <c:v>0.0637445175</c:v>
                </c:pt>
                <c:pt idx="224">
                  <c:v>0.0636645002</c:v>
                </c:pt>
                <c:pt idx="225">
                  <c:v>0.0635556074</c:v>
                </c:pt>
                <c:pt idx="226">
                  <c:v>0.0631785686</c:v>
                </c:pt>
                <c:pt idx="227">
                  <c:v>0.0628693833</c:v>
                </c:pt>
                <c:pt idx="228">
                  <c:v>0.0627132963</c:v>
                </c:pt>
                <c:pt idx="229">
                  <c:v>0.0621844835</c:v>
                </c:pt>
                <c:pt idx="230">
                  <c:v>0.062089617</c:v>
                </c:pt>
                <c:pt idx="231">
                  <c:v>0.0618014712</c:v>
                </c:pt>
                <c:pt idx="232">
                  <c:v>0.0616098164</c:v>
                </c:pt>
                <c:pt idx="233">
                  <c:v>0.0750300868</c:v>
                </c:pt>
                <c:pt idx="234">
                  <c:v>0.068666477</c:v>
                </c:pt>
                <c:pt idx="235">
                  <c:v>0.0640233569</c:v>
                </c:pt>
                <c:pt idx="236">
                  <c:v>0.0608125446</c:v>
                </c:pt>
                <c:pt idx="237">
                  <c:v>0.0607223412</c:v>
                </c:pt>
                <c:pt idx="238">
                  <c:v>0.0574450191</c:v>
                </c:pt>
                <c:pt idx="239">
                  <c:v>0.0566247574</c:v>
                </c:pt>
                <c:pt idx="240">
                  <c:v>0.0580584379</c:v>
                </c:pt>
              </c:numCache>
            </c:numRef>
          </c:val>
          <c:smooth val="0"/>
        </c:ser>
        <c:ser>
          <c:idx val="1"/>
          <c:order val="1"/>
          <c:tx>
            <c:strRef>
              <c:f>Sheet1!$C$1</c:f>
              <c:strCache>
                <c:ptCount val="1"/>
                <c:pt idx="0">
                  <c:v>Validation (check)</c:v>
                </c:pt>
              </c:strCache>
            </c:strRef>
          </c:tx>
          <c:spPr>
            <a:solidFill>
              <a:srgbClr val="E0604F"/>
            </a:solidFill>
            <a:ln w="31750" cap="flat">
              <a:solidFill>
                <a:srgbClr val="E060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604F"/>
              </a:solidFill>
              <a:ln w="9525" cap="flat">
                <a:solidFill>
                  <a:srgbClr val="E0604F"/>
                </a:solidFill>
                <a:prstDash val="solid"/>
                <a:round/>
              </a:ln>
              <a:effectLst/>
            </c:spPr>
          </c:marker>
          <c:cat>
            <c:multiLvlStrRef>
              <c:f>Sheet1!$A$2:$A$242</c:f>
              <c:multiLvlStrCache>
                <c:ptCount val="241"/>
                <c:lvl>
                  <c:pt idx="0">
                    <c:v>0</c:v>
                  </c:pt>
                  <c:pt idx="1">
                    <c:v>50</c:v>
                  </c:pt>
                  <c:pt idx="2">
                    <c:v>100</c:v>
                  </c:pt>
                  <c:pt idx="3">
                    <c:v>150</c:v>
                  </c:pt>
                  <c:pt idx="4">
                    <c:v>200</c:v>
                  </c:pt>
                  <c:pt idx="5">
                    <c:v>250</c:v>
                  </c:pt>
                  <c:pt idx="6">
                    <c:v>300</c:v>
                  </c:pt>
                  <c:pt idx="7">
                    <c:v>350</c:v>
                  </c:pt>
                  <c:pt idx="8">
                    <c:v>400</c:v>
                  </c:pt>
                  <c:pt idx="9">
                    <c:v>450</c:v>
                  </c:pt>
                  <c:pt idx="10">
                    <c:v>500</c:v>
                  </c:pt>
                  <c:pt idx="11">
                    <c:v>550</c:v>
                  </c:pt>
                  <c:pt idx="12">
                    <c:v>600</c:v>
                  </c:pt>
                  <c:pt idx="13">
                    <c:v>650</c:v>
                  </c:pt>
                  <c:pt idx="14">
                    <c:v>700</c:v>
                  </c:pt>
                  <c:pt idx="15">
                    <c:v>750</c:v>
                  </c:pt>
                  <c:pt idx="16">
                    <c:v>800</c:v>
                  </c:pt>
                  <c:pt idx="17">
                    <c:v>850</c:v>
                  </c:pt>
                  <c:pt idx="18">
                    <c:v>900</c:v>
                  </c:pt>
                  <c:pt idx="19">
                    <c:v>950</c:v>
                  </c:pt>
                  <c:pt idx="20">
                    <c:v>1000</c:v>
                  </c:pt>
                  <c:pt idx="21">
                    <c:v>1050</c:v>
                  </c:pt>
                  <c:pt idx="22">
                    <c:v>1100</c:v>
                  </c:pt>
                  <c:pt idx="23">
                    <c:v>1150</c:v>
                  </c:pt>
                  <c:pt idx="24">
                    <c:v>1200</c:v>
                  </c:pt>
                  <c:pt idx="25">
                    <c:v>1250</c:v>
                  </c:pt>
                  <c:pt idx="26">
                    <c:v>1300</c:v>
                  </c:pt>
                  <c:pt idx="27">
                    <c:v>1350</c:v>
                  </c:pt>
                  <c:pt idx="28">
                    <c:v>1400</c:v>
                  </c:pt>
                  <c:pt idx="29">
                    <c:v>1450</c:v>
                  </c:pt>
                  <c:pt idx="30">
                    <c:v>1500</c:v>
                  </c:pt>
                  <c:pt idx="31">
                    <c:v>1550</c:v>
                  </c:pt>
                  <c:pt idx="32">
                    <c:v>1600</c:v>
                  </c:pt>
                  <c:pt idx="33">
                    <c:v>1650</c:v>
                  </c:pt>
                  <c:pt idx="34">
                    <c:v>1700</c:v>
                  </c:pt>
                  <c:pt idx="35">
                    <c:v>1750</c:v>
                  </c:pt>
                  <c:pt idx="36">
                    <c:v>1800</c:v>
                  </c:pt>
                  <c:pt idx="37">
                    <c:v>1850</c:v>
                  </c:pt>
                  <c:pt idx="38">
                    <c:v>1900</c:v>
                  </c:pt>
                  <c:pt idx="39">
                    <c:v>1950</c:v>
                  </c:pt>
                  <c:pt idx="40">
                    <c:v>2000</c:v>
                  </c:pt>
                  <c:pt idx="41">
                    <c:v>2050</c:v>
                  </c:pt>
                  <c:pt idx="42">
                    <c:v>2100</c:v>
                  </c:pt>
                  <c:pt idx="43">
                    <c:v>2150</c:v>
                  </c:pt>
                  <c:pt idx="44">
                    <c:v>2200</c:v>
                  </c:pt>
                  <c:pt idx="45">
                    <c:v>2250</c:v>
                  </c:pt>
                  <c:pt idx="46">
                    <c:v>2300</c:v>
                  </c:pt>
                  <c:pt idx="47">
                    <c:v>2350</c:v>
                  </c:pt>
                  <c:pt idx="48">
                    <c:v>2400</c:v>
                  </c:pt>
                  <c:pt idx="49">
                    <c:v>2450</c:v>
                  </c:pt>
                  <c:pt idx="50">
                    <c:v>2500</c:v>
                  </c:pt>
                  <c:pt idx="51">
                    <c:v>2550</c:v>
                  </c:pt>
                  <c:pt idx="52">
                    <c:v>2600</c:v>
                  </c:pt>
                  <c:pt idx="53">
                    <c:v>2650</c:v>
                  </c:pt>
                  <c:pt idx="54">
                    <c:v>2700</c:v>
                  </c:pt>
                  <c:pt idx="55">
                    <c:v>2750</c:v>
                  </c:pt>
                  <c:pt idx="56">
                    <c:v>2800</c:v>
                  </c:pt>
                  <c:pt idx="57">
                    <c:v>2850</c:v>
                  </c:pt>
                  <c:pt idx="58">
                    <c:v>2900</c:v>
                  </c:pt>
                  <c:pt idx="59">
                    <c:v>2950</c:v>
                  </c:pt>
                  <c:pt idx="60">
                    <c:v>3000</c:v>
                  </c:pt>
                  <c:pt idx="61">
                    <c:v>3050</c:v>
                  </c:pt>
                  <c:pt idx="62">
                    <c:v>3100</c:v>
                  </c:pt>
                  <c:pt idx="63">
                    <c:v>3150</c:v>
                  </c:pt>
                  <c:pt idx="64">
                    <c:v>3200</c:v>
                  </c:pt>
                  <c:pt idx="65">
                    <c:v>3250</c:v>
                  </c:pt>
                  <c:pt idx="66">
                    <c:v>3300</c:v>
                  </c:pt>
                  <c:pt idx="67">
                    <c:v>3350</c:v>
                  </c:pt>
                  <c:pt idx="68">
                    <c:v>3400</c:v>
                  </c:pt>
                  <c:pt idx="69">
                    <c:v>3450</c:v>
                  </c:pt>
                  <c:pt idx="70">
                    <c:v>3500</c:v>
                  </c:pt>
                  <c:pt idx="71">
                    <c:v>3550</c:v>
                  </c:pt>
                  <c:pt idx="72">
                    <c:v>3600</c:v>
                  </c:pt>
                  <c:pt idx="73">
                    <c:v>3650</c:v>
                  </c:pt>
                  <c:pt idx="74">
                    <c:v>3700</c:v>
                  </c:pt>
                  <c:pt idx="75">
                    <c:v>3750</c:v>
                  </c:pt>
                  <c:pt idx="76">
                    <c:v>3800</c:v>
                  </c:pt>
                  <c:pt idx="77">
                    <c:v>3850</c:v>
                  </c:pt>
                  <c:pt idx="78">
                    <c:v>3900</c:v>
                  </c:pt>
                  <c:pt idx="79">
                    <c:v>3950</c:v>
                  </c:pt>
                  <c:pt idx="80">
                    <c:v>4000</c:v>
                  </c:pt>
                  <c:pt idx="81">
                    <c:v>4050</c:v>
                  </c:pt>
                  <c:pt idx="82">
                    <c:v>4100</c:v>
                  </c:pt>
                  <c:pt idx="83">
                    <c:v>4150</c:v>
                  </c:pt>
                  <c:pt idx="84">
                    <c:v>4200</c:v>
                  </c:pt>
                  <c:pt idx="85">
                    <c:v>4250</c:v>
                  </c:pt>
                  <c:pt idx="86">
                    <c:v>4300</c:v>
                  </c:pt>
                  <c:pt idx="87">
                    <c:v>4350</c:v>
                  </c:pt>
                  <c:pt idx="88">
                    <c:v>4400</c:v>
                  </c:pt>
                  <c:pt idx="89">
                    <c:v>4450</c:v>
                  </c:pt>
                  <c:pt idx="90">
                    <c:v>4500</c:v>
                  </c:pt>
                  <c:pt idx="91">
                    <c:v>4550</c:v>
                  </c:pt>
                  <c:pt idx="92">
                    <c:v>4600</c:v>
                  </c:pt>
                  <c:pt idx="93">
                    <c:v>4650</c:v>
                  </c:pt>
                  <c:pt idx="94">
                    <c:v>4700</c:v>
                  </c:pt>
                  <c:pt idx="95">
                    <c:v>4750</c:v>
                  </c:pt>
                  <c:pt idx="96">
                    <c:v>4800</c:v>
                  </c:pt>
                  <c:pt idx="97">
                    <c:v>4850</c:v>
                  </c:pt>
                  <c:pt idx="98">
                    <c:v>4900</c:v>
                  </c:pt>
                  <c:pt idx="99">
                    <c:v>4950</c:v>
                  </c:pt>
                  <c:pt idx="100">
                    <c:v>5000</c:v>
                  </c:pt>
                  <c:pt idx="101">
                    <c:v>5050</c:v>
                  </c:pt>
                  <c:pt idx="102">
                    <c:v>5100</c:v>
                  </c:pt>
                  <c:pt idx="103">
                    <c:v>5150</c:v>
                  </c:pt>
                  <c:pt idx="104">
                    <c:v>5200</c:v>
                  </c:pt>
                  <c:pt idx="105">
                    <c:v>5250</c:v>
                  </c:pt>
                  <c:pt idx="106">
                    <c:v>5300</c:v>
                  </c:pt>
                  <c:pt idx="107">
                    <c:v>5350</c:v>
                  </c:pt>
                  <c:pt idx="108">
                    <c:v>5400</c:v>
                  </c:pt>
                  <c:pt idx="109">
                    <c:v>5450</c:v>
                  </c:pt>
                  <c:pt idx="110">
                    <c:v>5500</c:v>
                  </c:pt>
                  <c:pt idx="111">
                    <c:v>5550</c:v>
                  </c:pt>
                  <c:pt idx="112">
                    <c:v>5600</c:v>
                  </c:pt>
                  <c:pt idx="113">
                    <c:v>5650</c:v>
                  </c:pt>
                  <c:pt idx="114">
                    <c:v>5700</c:v>
                  </c:pt>
                  <c:pt idx="115">
                    <c:v>5750</c:v>
                  </c:pt>
                  <c:pt idx="116">
                    <c:v>5800</c:v>
                  </c:pt>
                  <c:pt idx="117">
                    <c:v>5850</c:v>
                  </c:pt>
                  <c:pt idx="118">
                    <c:v>5900</c:v>
                  </c:pt>
                  <c:pt idx="119">
                    <c:v>5950</c:v>
                  </c:pt>
                  <c:pt idx="120">
                    <c:v>6000</c:v>
                  </c:pt>
                  <c:pt idx="121">
                    <c:v>6050</c:v>
                  </c:pt>
                  <c:pt idx="122">
                    <c:v>6100</c:v>
                  </c:pt>
                  <c:pt idx="123">
                    <c:v>6150</c:v>
                  </c:pt>
                  <c:pt idx="124">
                    <c:v>6200</c:v>
                  </c:pt>
                  <c:pt idx="125">
                    <c:v>6250</c:v>
                  </c:pt>
                  <c:pt idx="126">
                    <c:v>6300</c:v>
                  </c:pt>
                  <c:pt idx="127">
                    <c:v>6350</c:v>
                  </c:pt>
                  <c:pt idx="128">
                    <c:v>6400</c:v>
                  </c:pt>
                  <c:pt idx="129">
                    <c:v>6450</c:v>
                  </c:pt>
                  <c:pt idx="130">
                    <c:v>6500</c:v>
                  </c:pt>
                  <c:pt idx="131">
                    <c:v>6550</c:v>
                  </c:pt>
                  <c:pt idx="132">
                    <c:v>6600</c:v>
                  </c:pt>
                  <c:pt idx="133">
                    <c:v>6650</c:v>
                  </c:pt>
                  <c:pt idx="134">
                    <c:v>6700</c:v>
                  </c:pt>
                  <c:pt idx="135">
                    <c:v>6750</c:v>
                  </c:pt>
                  <c:pt idx="136">
                    <c:v>6800</c:v>
                  </c:pt>
                  <c:pt idx="137">
                    <c:v>6850</c:v>
                  </c:pt>
                  <c:pt idx="138">
                    <c:v>6900</c:v>
                  </c:pt>
                  <c:pt idx="139">
                    <c:v>6950</c:v>
                  </c:pt>
                  <c:pt idx="140">
                    <c:v>7000</c:v>
                  </c:pt>
                  <c:pt idx="141">
                    <c:v>7050</c:v>
                  </c:pt>
                  <c:pt idx="142">
                    <c:v>7100</c:v>
                  </c:pt>
                  <c:pt idx="143">
                    <c:v>7150</c:v>
                  </c:pt>
                  <c:pt idx="144">
                    <c:v>7200</c:v>
                  </c:pt>
                  <c:pt idx="145">
                    <c:v>7250</c:v>
                  </c:pt>
                  <c:pt idx="146">
                    <c:v>7300</c:v>
                  </c:pt>
                  <c:pt idx="147">
                    <c:v>7350</c:v>
                  </c:pt>
                  <c:pt idx="148">
                    <c:v>7400</c:v>
                  </c:pt>
                  <c:pt idx="149">
                    <c:v>7450</c:v>
                  </c:pt>
                  <c:pt idx="150">
                    <c:v>7500</c:v>
                  </c:pt>
                  <c:pt idx="151">
                    <c:v>7550</c:v>
                  </c:pt>
                  <c:pt idx="152">
                    <c:v>7600</c:v>
                  </c:pt>
                  <c:pt idx="153">
                    <c:v>7650</c:v>
                  </c:pt>
                  <c:pt idx="154">
                    <c:v>7700</c:v>
                  </c:pt>
                  <c:pt idx="155">
                    <c:v>7750</c:v>
                  </c:pt>
                  <c:pt idx="156">
                    <c:v>7800</c:v>
                  </c:pt>
                  <c:pt idx="157">
                    <c:v>7850</c:v>
                  </c:pt>
                  <c:pt idx="158">
                    <c:v>7900</c:v>
                  </c:pt>
                  <c:pt idx="159">
                    <c:v>7950</c:v>
                  </c:pt>
                  <c:pt idx="160">
                    <c:v>8000</c:v>
                  </c:pt>
                  <c:pt idx="161">
                    <c:v>8050</c:v>
                  </c:pt>
                  <c:pt idx="162">
                    <c:v>8100</c:v>
                  </c:pt>
                  <c:pt idx="163">
                    <c:v>8150</c:v>
                  </c:pt>
                  <c:pt idx="164">
                    <c:v>8200</c:v>
                  </c:pt>
                  <c:pt idx="165">
                    <c:v>8250</c:v>
                  </c:pt>
                  <c:pt idx="166">
                    <c:v>8300</c:v>
                  </c:pt>
                  <c:pt idx="167">
                    <c:v>8350</c:v>
                  </c:pt>
                  <c:pt idx="168">
                    <c:v>8400</c:v>
                  </c:pt>
                  <c:pt idx="169">
                    <c:v>8450</c:v>
                  </c:pt>
                  <c:pt idx="170">
                    <c:v>8500</c:v>
                  </c:pt>
                  <c:pt idx="171">
                    <c:v>8550</c:v>
                  </c:pt>
                  <c:pt idx="172">
                    <c:v>8600</c:v>
                  </c:pt>
                  <c:pt idx="173">
                    <c:v>8650</c:v>
                  </c:pt>
                  <c:pt idx="174">
                    <c:v>8700</c:v>
                  </c:pt>
                  <c:pt idx="175">
                    <c:v>8750</c:v>
                  </c:pt>
                  <c:pt idx="176">
                    <c:v>8800</c:v>
                  </c:pt>
                  <c:pt idx="177">
                    <c:v>8850</c:v>
                  </c:pt>
                  <c:pt idx="178">
                    <c:v>8900</c:v>
                  </c:pt>
                  <c:pt idx="179">
                    <c:v>8950</c:v>
                  </c:pt>
                  <c:pt idx="180">
                    <c:v>9000</c:v>
                  </c:pt>
                  <c:pt idx="181">
                    <c:v>9050</c:v>
                  </c:pt>
                  <c:pt idx="182">
                    <c:v>9100</c:v>
                  </c:pt>
                  <c:pt idx="183">
                    <c:v>9150</c:v>
                  </c:pt>
                  <c:pt idx="184">
                    <c:v>9200</c:v>
                  </c:pt>
                  <c:pt idx="185">
                    <c:v>9250</c:v>
                  </c:pt>
                  <c:pt idx="186">
                    <c:v>9300</c:v>
                  </c:pt>
                  <c:pt idx="187">
                    <c:v>9350</c:v>
                  </c:pt>
                  <c:pt idx="188">
                    <c:v>9400</c:v>
                  </c:pt>
                  <c:pt idx="189">
                    <c:v>9450</c:v>
                  </c:pt>
                  <c:pt idx="190">
                    <c:v>9500</c:v>
                  </c:pt>
                  <c:pt idx="191">
                    <c:v>9550</c:v>
                  </c:pt>
                  <c:pt idx="192">
                    <c:v>9600</c:v>
                  </c:pt>
                  <c:pt idx="193">
                    <c:v>9650</c:v>
                  </c:pt>
                  <c:pt idx="194">
                    <c:v>9700</c:v>
                  </c:pt>
                  <c:pt idx="195">
                    <c:v>9750</c:v>
                  </c:pt>
                  <c:pt idx="196">
                    <c:v>9800</c:v>
                  </c:pt>
                  <c:pt idx="197">
                    <c:v>9850</c:v>
                  </c:pt>
                  <c:pt idx="198">
                    <c:v>9900</c:v>
                  </c:pt>
                  <c:pt idx="199">
                    <c:v>9950</c:v>
                  </c:pt>
                  <c:pt idx="200">
                    <c:v>10000</c:v>
                  </c:pt>
                  <c:pt idx="201">
                    <c:v>10050</c:v>
                  </c:pt>
                  <c:pt idx="202">
                    <c:v>10100</c:v>
                  </c:pt>
                  <c:pt idx="203">
                    <c:v>10150</c:v>
                  </c:pt>
                  <c:pt idx="204">
                    <c:v>10200</c:v>
                  </c:pt>
                  <c:pt idx="205">
                    <c:v>10250</c:v>
                  </c:pt>
                  <c:pt idx="206">
                    <c:v>10300</c:v>
                  </c:pt>
                  <c:pt idx="207">
                    <c:v>10350</c:v>
                  </c:pt>
                  <c:pt idx="208">
                    <c:v>10400</c:v>
                  </c:pt>
                  <c:pt idx="209">
                    <c:v>10450</c:v>
                  </c:pt>
                  <c:pt idx="210">
                    <c:v>10500</c:v>
                  </c:pt>
                  <c:pt idx="211">
                    <c:v>10550</c:v>
                  </c:pt>
                  <c:pt idx="212">
                    <c:v>10600</c:v>
                  </c:pt>
                  <c:pt idx="213">
                    <c:v>10650</c:v>
                  </c:pt>
                  <c:pt idx="214">
                    <c:v>10700</c:v>
                  </c:pt>
                  <c:pt idx="215">
                    <c:v>10750</c:v>
                  </c:pt>
                  <c:pt idx="216">
                    <c:v>10800</c:v>
                  </c:pt>
                  <c:pt idx="217">
                    <c:v>10850</c:v>
                  </c:pt>
                  <c:pt idx="218">
                    <c:v>10900</c:v>
                  </c:pt>
                  <c:pt idx="219">
                    <c:v>10950</c:v>
                  </c:pt>
                  <c:pt idx="220">
                    <c:v>11000</c:v>
                  </c:pt>
                  <c:pt idx="221">
                    <c:v>11050</c:v>
                  </c:pt>
                  <c:pt idx="222">
                    <c:v>11100</c:v>
                  </c:pt>
                  <c:pt idx="223">
                    <c:v>11150</c:v>
                  </c:pt>
                  <c:pt idx="224">
                    <c:v>11200</c:v>
                  </c:pt>
                  <c:pt idx="225">
                    <c:v>11250</c:v>
                  </c:pt>
                  <c:pt idx="226">
                    <c:v>11300</c:v>
                  </c:pt>
                  <c:pt idx="227">
                    <c:v>11350</c:v>
                  </c:pt>
                  <c:pt idx="228">
                    <c:v>11400</c:v>
                  </c:pt>
                  <c:pt idx="229">
                    <c:v>11450</c:v>
                  </c:pt>
                  <c:pt idx="230">
                    <c:v>11500</c:v>
                  </c:pt>
                  <c:pt idx="231">
                    <c:v>11550</c:v>
                  </c:pt>
                  <c:pt idx="232">
                    <c:v>11600</c:v>
                  </c:pt>
                  <c:pt idx="233">
                    <c:v>11650</c:v>
                  </c:pt>
                  <c:pt idx="234">
                    <c:v>11700</c:v>
                  </c:pt>
                  <c:pt idx="235">
                    <c:v>11750</c:v>
                  </c:pt>
                  <c:pt idx="236">
                    <c:v>11800</c:v>
                  </c:pt>
                  <c:pt idx="237">
                    <c:v>11850</c:v>
                  </c:pt>
                  <c:pt idx="238">
                    <c:v>11900</c:v>
                  </c:pt>
                  <c:pt idx="239">
                    <c:v>11950</c:v>
                  </c:pt>
                  <c:pt idx="240">
                    <c:v>12000</c:v>
                  </c:pt>
                </c:lvl>
              </c:multiLvlStrCache>
            </c:multiLvlStrRef>
          </c:cat>
          <c:val>
            <c:numRef>
              <c:f>Sheet1!$C$2:$C$242</c:f>
              <c:numCache>
                <c:formatCode>General</c:formatCode>
                <c:ptCount val="241"/>
                <c:pt idx="0">
                  <c:v>0.7003715729</c:v>
                </c:pt>
                <c:pt idx="1">
                  <c:v>0.6955249108</c:v>
                </c:pt>
                <c:pt idx="2">
                  <c:v>0.6995157776</c:v>
                </c:pt>
                <c:pt idx="3">
                  <c:v>0.7030186544</c:v>
                </c:pt>
                <c:pt idx="4">
                  <c:v>0.7059168098</c:v>
                </c:pt>
                <c:pt idx="5">
                  <c:v>0.7073193416</c:v>
                </c:pt>
                <c:pt idx="6">
                  <c:v>0.7084658324</c:v>
                </c:pt>
                <c:pt idx="7">
                  <c:v>0.7081306461</c:v>
                </c:pt>
                <c:pt idx="8">
                  <c:v>0.7078414956</c:v>
                </c:pt>
                <c:pt idx="9">
                  <c:v>0.7069119523</c:v>
                </c:pt>
                <c:pt idx="10">
                  <c:v>0.7061682266</c:v>
                </c:pt>
                <c:pt idx="11">
                  <c:v>0.7061899966</c:v>
                </c:pt>
                <c:pt idx="12">
                  <c:v>0.705490834</c:v>
                </c:pt>
                <c:pt idx="13">
                  <c:v>0.7046270483</c:v>
                </c:pt>
                <c:pt idx="14">
                  <c:v>0.7044121883</c:v>
                </c:pt>
                <c:pt idx="15">
                  <c:v>0.7042678596</c:v>
                </c:pt>
                <c:pt idx="16">
                  <c:v>0.70459249</c:v>
                </c:pt>
                <c:pt idx="17">
                  <c:v>0.7052978071</c:v>
                </c:pt>
                <c:pt idx="18">
                  <c:v>0.7061476123</c:v>
                </c:pt>
                <c:pt idx="19">
                  <c:v>0.7073220653</c:v>
                </c:pt>
                <c:pt idx="20">
                  <c:v>0.7085848662</c:v>
                </c:pt>
                <c:pt idx="21">
                  <c:v>0.7098085594</c:v>
                </c:pt>
                <c:pt idx="22">
                  <c:v>0.7114095535</c:v>
                </c:pt>
                <c:pt idx="23">
                  <c:v>0.7139156176</c:v>
                </c:pt>
                <c:pt idx="24">
                  <c:v>0.7147548661</c:v>
                </c:pt>
                <c:pt idx="25">
                  <c:v>0.7156659487</c:v>
                </c:pt>
                <c:pt idx="26">
                  <c:v>0.7159363756</c:v>
                </c:pt>
                <c:pt idx="27">
                  <c:v>0.7164351345</c:v>
                </c:pt>
                <c:pt idx="28">
                  <c:v>0.7164334604</c:v>
                </c:pt>
                <c:pt idx="29">
                  <c:v>0.7156973448</c:v>
                </c:pt>
                <c:pt idx="30">
                  <c:v>0.7137417219</c:v>
                </c:pt>
                <c:pt idx="31">
                  <c:v>0.7133340269</c:v>
                </c:pt>
                <c:pt idx="32">
                  <c:v>0.7128704546</c:v>
                </c:pt>
                <c:pt idx="33">
                  <c:v>0.7124105507</c:v>
                </c:pt>
                <c:pt idx="34">
                  <c:v>0.7109220261</c:v>
                </c:pt>
                <c:pt idx="35">
                  <c:v>0.7095155024</c:v>
                </c:pt>
                <c:pt idx="36">
                  <c:v>0.7092462326</c:v>
                </c:pt>
                <c:pt idx="37">
                  <c:v>0.7087380623</c:v>
                </c:pt>
                <c:pt idx="38">
                  <c:v>0.708310975</c:v>
                </c:pt>
                <c:pt idx="39">
                  <c:v>0.7084778284</c:v>
                </c:pt>
                <c:pt idx="40">
                  <c:v>0.7088029319</c:v>
                </c:pt>
                <c:pt idx="41">
                  <c:v>0.7088757464</c:v>
                </c:pt>
                <c:pt idx="42">
                  <c:v>0.7082840927</c:v>
                </c:pt>
                <c:pt idx="43">
                  <c:v>0.7057564484</c:v>
                </c:pt>
                <c:pt idx="44">
                  <c:v>0.7040444631</c:v>
                </c:pt>
                <c:pt idx="45">
                  <c:v>0.7026828249</c:v>
                </c:pt>
                <c:pt idx="46">
                  <c:v>0.7020066428</c:v>
                </c:pt>
                <c:pt idx="47">
                  <c:v>0.7012232411</c:v>
                </c:pt>
                <c:pt idx="48">
                  <c:v>0.6992334301</c:v>
                </c:pt>
                <c:pt idx="49">
                  <c:v>0.6989271291</c:v>
                </c:pt>
                <c:pt idx="50">
                  <c:v>0.6976591373</c:v>
                </c:pt>
                <c:pt idx="51">
                  <c:v>0.695867869</c:v>
                </c:pt>
                <c:pt idx="52">
                  <c:v>0.6941314761</c:v>
                </c:pt>
                <c:pt idx="53">
                  <c:v>0.6931831232</c:v>
                </c:pt>
                <c:pt idx="54">
                  <c:v>0.6925925067</c:v>
                </c:pt>
                <c:pt idx="55">
                  <c:v>0.6917571517</c:v>
                </c:pt>
                <c:pt idx="56">
                  <c:v>0.6911181872</c:v>
                </c:pt>
                <c:pt idx="57">
                  <c:v>0.6901803435</c:v>
                </c:pt>
                <c:pt idx="58">
                  <c:v>0.6886793381</c:v>
                </c:pt>
                <c:pt idx="59">
                  <c:v>0.6876529978</c:v>
                </c:pt>
                <c:pt idx="60">
                  <c:v>0.6848043859</c:v>
                </c:pt>
                <c:pt idx="61">
                  <c:v>0.6788956013</c:v>
                </c:pt>
                <c:pt idx="62">
                  <c:v>0.6730027881</c:v>
                </c:pt>
                <c:pt idx="63">
                  <c:v>0.6671648385</c:v>
                </c:pt>
                <c:pt idx="64">
                  <c:v>0.6611561191</c:v>
                </c:pt>
                <c:pt idx="65">
                  <c:v>0.6545647666</c:v>
                </c:pt>
                <c:pt idx="66">
                  <c:v>0.64832611</c:v>
                </c:pt>
                <c:pt idx="67">
                  <c:v>0.6469721602</c:v>
                </c:pt>
                <c:pt idx="68">
                  <c:v>0.6419854731</c:v>
                </c:pt>
                <c:pt idx="69">
                  <c:v>0.635509567</c:v>
                </c:pt>
                <c:pt idx="70">
                  <c:v>0.6312423038</c:v>
                </c:pt>
                <c:pt idx="71">
                  <c:v>0.6215806235</c:v>
                </c:pt>
                <c:pt idx="72">
                  <c:v>0.61643877</c:v>
                </c:pt>
                <c:pt idx="73">
                  <c:v>0.6051813346</c:v>
                </c:pt>
                <c:pt idx="74">
                  <c:v>0.6019711945</c:v>
                </c:pt>
                <c:pt idx="75">
                  <c:v>0.5919278736</c:v>
                </c:pt>
                <c:pt idx="76">
                  <c:v>0.5747004058</c:v>
                </c:pt>
                <c:pt idx="77">
                  <c:v>0.575243269</c:v>
                </c:pt>
                <c:pt idx="78">
                  <c:v>0.5588542023</c:v>
                </c:pt>
                <c:pt idx="79">
                  <c:v>0.5418312062</c:v>
                </c:pt>
                <c:pt idx="80">
                  <c:v>0.5312188833</c:v>
                </c:pt>
                <c:pt idx="81">
                  <c:v>0.5223052478</c:v>
                </c:pt>
                <c:pt idx="82">
                  <c:v>0.5071052413</c:v>
                </c:pt>
                <c:pt idx="83">
                  <c:v>0.506537933</c:v>
                </c:pt>
                <c:pt idx="84">
                  <c:v>0.4930930199</c:v>
                </c:pt>
                <c:pt idx="85">
                  <c:v>0.4798699031</c:v>
                </c:pt>
                <c:pt idx="86">
                  <c:v>0.467573848</c:v>
                </c:pt>
                <c:pt idx="87">
                  <c:v>0.4598451475</c:v>
                </c:pt>
                <c:pt idx="88">
                  <c:v>0.4403384139</c:v>
                </c:pt>
                <c:pt idx="89">
                  <c:v>0.4259321807</c:v>
                </c:pt>
                <c:pt idx="90">
                  <c:v>0.4016106525</c:v>
                </c:pt>
                <c:pt idx="91">
                  <c:v>0.3832748848</c:v>
                </c:pt>
                <c:pt idx="92">
                  <c:v>0.3695853465</c:v>
                </c:pt>
                <c:pt idx="93">
                  <c:v>0.3479085721</c:v>
                </c:pt>
                <c:pt idx="94">
                  <c:v>0.3316922128</c:v>
                </c:pt>
                <c:pt idx="95">
                  <c:v>0.3185259656</c:v>
                </c:pt>
                <c:pt idx="96">
                  <c:v>0.3078349144</c:v>
                </c:pt>
                <c:pt idx="97">
                  <c:v>0.2984253836</c:v>
                </c:pt>
                <c:pt idx="98">
                  <c:v>0.2883685498</c:v>
                </c:pt>
                <c:pt idx="99">
                  <c:v>0.2786035159</c:v>
                </c:pt>
                <c:pt idx="100">
                  <c:v>0.2750346273</c:v>
                </c:pt>
                <c:pt idx="101">
                  <c:v>0.2652038564</c:v>
                </c:pt>
                <c:pt idx="102">
                  <c:v>0.2600930843</c:v>
                </c:pt>
                <c:pt idx="103">
                  <c:v>0.2548599968</c:v>
                </c:pt>
                <c:pt idx="104">
                  <c:v>0.2489299028</c:v>
                </c:pt>
                <c:pt idx="105">
                  <c:v>0.2442976466</c:v>
                </c:pt>
                <c:pt idx="106">
                  <c:v>0.24111177</c:v>
                </c:pt>
                <c:pt idx="107">
                  <c:v>0.2391981162</c:v>
                </c:pt>
                <c:pt idx="108">
                  <c:v>0.2367947125</c:v>
                </c:pt>
                <c:pt idx="109">
                  <c:v>0.2335450169</c:v>
                </c:pt>
                <c:pt idx="110">
                  <c:v>0.2320705303</c:v>
                </c:pt>
                <c:pt idx="111">
                  <c:v>0.2295924028</c:v>
                </c:pt>
                <c:pt idx="112">
                  <c:v>0.2283551443</c:v>
                </c:pt>
                <c:pt idx="113">
                  <c:v>0.2261291492</c:v>
                </c:pt>
                <c:pt idx="114">
                  <c:v>0.2249588117</c:v>
                </c:pt>
                <c:pt idx="115">
                  <c:v>0.2232423029</c:v>
                </c:pt>
                <c:pt idx="116">
                  <c:v>0.2205537707</c:v>
                </c:pt>
                <c:pt idx="117">
                  <c:v>0.2174069567</c:v>
                </c:pt>
                <c:pt idx="118">
                  <c:v>0.2157003995</c:v>
                </c:pt>
                <c:pt idx="119">
                  <c:v>0.2128745055</c:v>
                </c:pt>
                <c:pt idx="120">
                  <c:v>0.2104758393</c:v>
                </c:pt>
                <c:pt idx="121">
                  <c:v>0.2063005203</c:v>
                </c:pt>
                <c:pt idx="122">
                  <c:v>0.2020818335</c:v>
                </c:pt>
                <c:pt idx="123">
                  <c:v>0.1994433308</c:v>
                </c:pt>
                <c:pt idx="124">
                  <c:v>0.1990248548</c:v>
                </c:pt>
                <c:pt idx="125">
                  <c:v>0.1975902344</c:v>
                </c:pt>
                <c:pt idx="126">
                  <c:v>0.19604976</c:v>
                </c:pt>
                <c:pt idx="127">
                  <c:v>0.1952987261</c:v>
                </c:pt>
                <c:pt idx="128">
                  <c:v>0.1938093214</c:v>
                </c:pt>
                <c:pt idx="129">
                  <c:v>0.194010558</c:v>
                </c:pt>
                <c:pt idx="130">
                  <c:v>0.1938043201</c:v>
                </c:pt>
                <c:pt idx="131">
                  <c:v>0.1930916208</c:v>
                </c:pt>
                <c:pt idx="132">
                  <c:v>0.1942476936</c:v>
                </c:pt>
                <c:pt idx="133">
                  <c:v>0.1929039612</c:v>
                </c:pt>
                <c:pt idx="134">
                  <c:v>0.1948948909</c:v>
                </c:pt>
                <c:pt idx="135">
                  <c:v>0.1942559625</c:v>
                </c:pt>
                <c:pt idx="136">
                  <c:v>0.1944113765</c:v>
                </c:pt>
                <c:pt idx="137">
                  <c:v>0.1924455164</c:v>
                </c:pt>
                <c:pt idx="138">
                  <c:v>0.1922618008</c:v>
                </c:pt>
                <c:pt idx="139">
                  <c:v>0.1936297022</c:v>
                </c:pt>
                <c:pt idx="140">
                  <c:v>0.1924229904</c:v>
                </c:pt>
                <c:pt idx="141">
                  <c:v>0.1935599677</c:v>
                </c:pt>
                <c:pt idx="142">
                  <c:v>0.1931826961</c:v>
                </c:pt>
                <c:pt idx="143">
                  <c:v>0.1915247029</c:v>
                </c:pt>
                <c:pt idx="144">
                  <c:v>0.1932828891</c:v>
                </c:pt>
                <c:pt idx="145">
                  <c:v>0.1929736597</c:v>
                </c:pt>
                <c:pt idx="146">
                  <c:v>0.1932460461</c:v>
                </c:pt>
                <c:pt idx="147">
                  <c:v>0.191628526</c:v>
                </c:pt>
                <c:pt idx="148">
                  <c:v>0.1928033005</c:v>
                </c:pt>
                <c:pt idx="149">
                  <c:v>0.1926223571</c:v>
                </c:pt>
                <c:pt idx="150">
                  <c:v>0.191994965</c:v>
                </c:pt>
                <c:pt idx="151">
                  <c:v>0.1920900446</c:v>
                </c:pt>
                <c:pt idx="152">
                  <c:v>0.1918094783</c:v>
                </c:pt>
                <c:pt idx="153">
                  <c:v>0.1924783386</c:v>
                </c:pt>
                <c:pt idx="154">
                  <c:v>0.1921300043</c:v>
                </c:pt>
                <c:pt idx="155">
                  <c:v>0.1920092625</c:v>
                </c:pt>
                <c:pt idx="156">
                  <c:v>0.1908934247</c:v>
                </c:pt>
                <c:pt idx="157">
                  <c:v>0.1886286539</c:v>
                </c:pt>
                <c:pt idx="158">
                  <c:v>0.1888110895</c:v>
                </c:pt>
                <c:pt idx="159">
                  <c:v>0.1876204127</c:v>
                </c:pt>
                <c:pt idx="160">
                  <c:v>0.1883753093</c:v>
                </c:pt>
                <c:pt idx="161">
                  <c:v>0.1891403896</c:v>
                </c:pt>
                <c:pt idx="162">
                  <c:v>0.1903440091</c:v>
                </c:pt>
                <c:pt idx="163">
                  <c:v>0.1892602516</c:v>
                </c:pt>
                <c:pt idx="164">
                  <c:v>0.1912935231</c:v>
                </c:pt>
                <c:pt idx="165">
                  <c:v>0.1907893332</c:v>
                </c:pt>
                <c:pt idx="166">
                  <c:v>0.1923024266</c:v>
                </c:pt>
                <c:pt idx="167">
                  <c:v>0.1915690507</c:v>
                </c:pt>
                <c:pt idx="168">
                  <c:v>0.192542808</c:v>
                </c:pt>
                <c:pt idx="169">
                  <c:v>0.1925281544</c:v>
                </c:pt>
                <c:pt idx="170">
                  <c:v>0.1911597619</c:v>
                </c:pt>
                <c:pt idx="171">
                  <c:v>0.1916755436</c:v>
                </c:pt>
                <c:pt idx="172">
                  <c:v>0.1916988993</c:v>
                </c:pt>
                <c:pt idx="173">
                  <c:v>0.1916818316</c:v>
                </c:pt>
                <c:pt idx="174">
                  <c:v>0.191719135</c:v>
                </c:pt>
                <c:pt idx="175">
                  <c:v>0.1919876092</c:v>
                </c:pt>
                <c:pt idx="176">
                  <c:v>0.1921041064</c:v>
                </c:pt>
                <c:pt idx="177">
                  <c:v>0.1931332654</c:v>
                </c:pt>
                <c:pt idx="178">
                  <c:v>0.1928008864</c:v>
                </c:pt>
                <c:pt idx="179">
                  <c:v>0.193114826</c:v>
                </c:pt>
                <c:pt idx="180">
                  <c:v>0.1917967178</c:v>
                </c:pt>
                <c:pt idx="181">
                  <c:v>0.1924441224</c:v>
                </c:pt>
                <c:pt idx="182">
                  <c:v>0.1918844936</c:v>
                </c:pt>
                <c:pt idx="183">
                  <c:v>0.1931596086</c:v>
                </c:pt>
                <c:pt idx="184">
                  <c:v>0.1923143777</c:v>
                </c:pt>
                <c:pt idx="185">
                  <c:v>0.1924271221</c:v>
                </c:pt>
                <c:pt idx="186">
                  <c:v>0.1929153051</c:v>
                </c:pt>
                <c:pt idx="187">
                  <c:v>0.1922010027</c:v>
                </c:pt>
                <c:pt idx="188">
                  <c:v>0.1943116236</c:v>
                </c:pt>
                <c:pt idx="189">
                  <c:v>0.1926413715</c:v>
                </c:pt>
                <c:pt idx="190">
                  <c:v>0.1939147825</c:v>
                </c:pt>
                <c:pt idx="191">
                  <c:v>0.1926594451</c:v>
                </c:pt>
                <c:pt idx="192">
                  <c:v>0.1928717097</c:v>
                </c:pt>
                <c:pt idx="193">
                  <c:v>0.1933458922</c:v>
                </c:pt>
                <c:pt idx="194">
                  <c:v>0.1934507741</c:v>
                </c:pt>
                <c:pt idx="195">
                  <c:v>0.1943596125</c:v>
                </c:pt>
                <c:pt idx="196">
                  <c:v>0.1927028136</c:v>
                </c:pt>
                <c:pt idx="197">
                  <c:v>0.1913429788</c:v>
                </c:pt>
                <c:pt idx="198">
                  <c:v>0.1911602304</c:v>
                </c:pt>
                <c:pt idx="199">
                  <c:v>0.1903384954</c:v>
                </c:pt>
                <c:pt idx="200">
                  <c:v>0.1902637967</c:v>
                </c:pt>
                <c:pt idx="201">
                  <c:v>0.1914722939</c:v>
                </c:pt>
                <c:pt idx="202">
                  <c:v>0.1916468486</c:v>
                </c:pt>
                <c:pt idx="203">
                  <c:v>0.1916238035</c:v>
                </c:pt>
                <c:pt idx="204">
                  <c:v>0.1893313625</c:v>
                </c:pt>
                <c:pt idx="205">
                  <c:v>0.1914420189</c:v>
                </c:pt>
                <c:pt idx="206">
                  <c:v>0.1902519241</c:v>
                </c:pt>
                <c:pt idx="207">
                  <c:v>0.188008273</c:v>
                </c:pt>
                <c:pt idx="208">
                  <c:v>0.1890366783</c:v>
                </c:pt>
                <c:pt idx="209">
                  <c:v>0.1890648067</c:v>
                </c:pt>
                <c:pt idx="210">
                  <c:v>0.1880662421</c:v>
                </c:pt>
                <c:pt idx="211">
                  <c:v>0.1842346125</c:v>
                </c:pt>
                <c:pt idx="212">
                  <c:v>0.1826679346</c:v>
                </c:pt>
                <c:pt idx="213">
                  <c:v>0.1819420764</c:v>
                </c:pt>
                <c:pt idx="214">
                  <c:v>0.1807099705</c:v>
                </c:pt>
                <c:pt idx="215">
                  <c:v>0.1782066275</c:v>
                </c:pt>
                <c:pt idx="216">
                  <c:v>0.1710608534</c:v>
                </c:pt>
                <c:pt idx="217">
                  <c:v>0.1725594124</c:v>
                </c:pt>
                <c:pt idx="218">
                  <c:v>0.1708384269</c:v>
                </c:pt>
                <c:pt idx="219">
                  <c:v>0.1715121176</c:v>
                </c:pt>
                <c:pt idx="220">
                  <c:v>0.1701422446</c:v>
                </c:pt>
                <c:pt idx="221">
                  <c:v>0.1698943587</c:v>
                </c:pt>
                <c:pt idx="222">
                  <c:v>0.1687766854</c:v>
                </c:pt>
                <c:pt idx="223">
                  <c:v>0.1679548406</c:v>
                </c:pt>
                <c:pt idx="224">
                  <c:v>0.1690912713</c:v>
                </c:pt>
                <c:pt idx="225">
                  <c:v>0.1683196033</c:v>
                </c:pt>
                <c:pt idx="226">
                  <c:v>0.1682372986</c:v>
                </c:pt>
                <c:pt idx="227">
                  <c:v>0.1688839223</c:v>
                </c:pt>
                <c:pt idx="228">
                  <c:v>0.1689230926</c:v>
                </c:pt>
                <c:pt idx="229">
                  <c:v>0.1685324016</c:v>
                </c:pt>
                <c:pt idx="230">
                  <c:v>0.1689207228</c:v>
                </c:pt>
                <c:pt idx="231">
                  <c:v>0.1686645446</c:v>
                </c:pt>
                <c:pt idx="232">
                  <c:v>0.1685827699</c:v>
                </c:pt>
                <c:pt idx="233">
                  <c:v>0.1849888553</c:v>
                </c:pt>
                <c:pt idx="234">
                  <c:v>0.180400536</c:v>
                </c:pt>
                <c:pt idx="235">
                  <c:v>0.1765559312</c:v>
                </c:pt>
                <c:pt idx="236">
                  <c:v>0.1719101074</c:v>
                </c:pt>
                <c:pt idx="237">
                  <c:v>0.1724369545</c:v>
                </c:pt>
                <c:pt idx="238">
                  <c:v>0.1657474887</c:v>
                </c:pt>
                <c:pt idx="239">
                  <c:v>0.1640678899</c:v>
                </c:pt>
                <c:pt idx="240">
                  <c:v>0.1695369242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A6B66"/>
                    </a:solidFill>
                    <a:latin typeface="+mn-lt"/>
                  </a:defRPr>
                </a:pPr>
                <a:r>
                  <a:rPr sz="1200" b="0" i="0" u="none" strike="noStrike">
                    <a:solidFill>
                      <a:srgbClr val="5A6B66"/>
                    </a:solidFill>
                    <a:latin typeface="+mn-lt"/>
                  </a:rPr>
                  <a:t>Rounds of practice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6B66"/>
                </a:solidFill>
                <a:latin typeface="+mn-lt"/>
              </a:defRPr>
            </a:pPr>
            <a:endParaRPr lang="en-US"/>
          </a:p>
        </c:txPr>
        <c:crossAx val="2094734552"/>
        <c:crosses val="autoZero"/>
        <c:auto val="1"/>
        <c:lblAlgn val="ctr"/>
        <c:noMultiLvlLbl val="1"/>
        <c:tickLblSkip val="40"/>
      </c:catAx>
      <c:valAx>
        <c:axId val="2094734552"/>
        <c:scaling>
          <c:orientation val="minMax"/>
          <c:max val="0.8"/>
          <c:min val="0"/>
        </c:scaling>
        <c:delete val="0"/>
        <c:axPos val="l"/>
        <c:majorGridlines>
          <c:spPr>
            <a:ln w="9525" cap="flat">
              <a:solidFill>
                <a:srgbClr val="DCE6E1"/>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66"/>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623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1F"/>
                </a:solidFill>
                <a:latin typeface="+mn-lt"/>
              </a:defRPr>
            </a:pPr>
            <a:r>
              <a:rPr sz="1400" b="0" i="0" u="none" strike="noStrike">
                <a:solidFill>
                  <a:srgbClr val="16231F"/>
                </a:solidFill>
                <a:latin typeface="+mn-lt"/>
              </a:rPr>
              <a:t>Test accuracy (%)</a:t>
            </a:r>
          </a:p>
        </c:rich>
      </c:tx>
      <c:layout/>
      <c:overlay val="0"/>
    </c:title>
    <c:autoTitleDeleted val="0"/>
    <c:plotArea>
      <c:layout/>
      <c:barChart>
        <c:barDir val="col"/>
        <c:grouping val="clustered"/>
        <c:varyColors val="0"/>
        <c:ser>
          <c:idx val="0"/>
          <c:order val="0"/>
          <c:tx>
            <c:strRef>
              <c:f>Sheet1!$B$1</c:f>
              <c:strCache>
                <c:ptCount val="1"/>
                <c:pt idx="0">
                  <c:v>Linear</c:v>
                </c:pt>
              </c:strCache>
            </c:strRef>
          </c:tx>
          <c:spPr>
            <a:solidFill>
              <a:srgbClr val="8AB5A5"/>
            </a:solidFill>
            <a:effectLst/>
          </c:spPr>
          <c:invertIfNegative val="0"/>
          <c:dLbls>
            <c:numFmt formatCode="0.0#" sourceLinked="0"/>
            <c:txPr>
              <a:bodyPr/>
              <a:lstStyle/>
              <a:p>
                <a:pPr>
                  <a:defRPr b="0" i="0" strike="noStrike" sz="1000" u="none">
                    <a:solidFill>
                      <a:srgbClr val="16231F"/>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42</c:v>
                  </c:pt>
                  <c:pt idx="1">
                    <c:v>Seed 43</c:v>
                  </c:pt>
                  <c:pt idx="2">
                    <c:v>Seed 44</c:v>
                  </c:pt>
                </c:lvl>
              </c:multiLvlStrCache>
            </c:multiLvlStrRef>
          </c:cat>
          <c:val>
            <c:numRef>
              <c:f>Sheet1!$B$2:$B$4</c:f>
              <c:numCache>
                <c:formatCode>General</c:formatCode>
                <c:ptCount val="3"/>
                <c:pt idx="0">
                  <c:v>58.75</c:v>
                </c:pt>
                <c:pt idx="1">
                  <c:v>57.5</c:v>
                </c:pt>
                <c:pt idx="2">
                  <c:v>61.25</c:v>
                </c:pt>
              </c:numCache>
            </c:numRef>
          </c:val>
        </c:ser>
        <c:ser>
          <c:idx val="1"/>
          <c:order val="1"/>
          <c:tx>
            <c:strRef>
              <c:f>Sheet1!$C$1</c:f>
              <c:strCache>
                <c:ptCount val="1"/>
                <c:pt idx="0">
                  <c:v>Shallow</c:v>
                </c:pt>
              </c:strCache>
            </c:strRef>
          </c:tx>
          <c:spPr>
            <a:solidFill>
              <a:srgbClr val="5B7FE0"/>
            </a:solidFill>
            <a:effectLst/>
          </c:spPr>
          <c:invertIfNegative val="0"/>
          <c:dLbls>
            <c:numFmt formatCode="0.0#" sourceLinked="0"/>
            <c:txPr>
              <a:bodyPr/>
              <a:lstStyle/>
              <a:p>
                <a:pPr>
                  <a:defRPr b="0" i="0" strike="noStrike" sz="1000" u="none">
                    <a:solidFill>
                      <a:srgbClr val="16231F"/>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42</c:v>
                  </c:pt>
                  <c:pt idx="1">
                    <c:v>Seed 43</c:v>
                  </c:pt>
                  <c:pt idx="2">
                    <c:v>Seed 44</c:v>
                  </c:pt>
                </c:lvl>
              </c:multiLvlStrCache>
            </c:multiLvlStrRef>
          </c:cat>
          <c:val>
            <c:numRef>
              <c:f>Sheet1!$C$2:$C$4</c:f>
              <c:numCache>
                <c:formatCode>General</c:formatCode>
                <c:ptCount val="3"/>
                <c:pt idx="0">
                  <c:v>58.75</c:v>
                </c:pt>
                <c:pt idx="1">
                  <c:v>61.25</c:v>
                </c:pt>
                <c:pt idx="2">
                  <c:v>55</c:v>
                </c:pt>
              </c:numCache>
            </c:numRef>
          </c:val>
        </c:ser>
        <c:ser>
          <c:idx val="2"/>
          <c:order val="2"/>
          <c:tx>
            <c:strRef>
              <c:f>Sheet1!$D$1</c:f>
              <c:strCache>
                <c:ptCount val="1"/>
                <c:pt idx="0">
                  <c:v>Deep</c:v>
                </c:pt>
              </c:strCache>
            </c:strRef>
          </c:tx>
          <c:spPr>
            <a:solidFill>
              <a:srgbClr val="E0604F"/>
            </a:solidFill>
            <a:effectLst/>
          </c:spPr>
          <c:invertIfNegative val="0"/>
          <c:dLbls>
            <c:numFmt formatCode="0.0#" sourceLinked="0"/>
            <c:txPr>
              <a:bodyPr/>
              <a:lstStyle/>
              <a:p>
                <a:pPr>
                  <a:defRPr b="0" i="0" strike="noStrike" sz="1000" u="none">
                    <a:solidFill>
                      <a:srgbClr val="16231F"/>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42</c:v>
                  </c:pt>
                  <c:pt idx="1">
                    <c:v>Seed 43</c:v>
                  </c:pt>
                  <c:pt idx="2">
                    <c:v>Seed 44</c:v>
                  </c:pt>
                </c:lvl>
              </c:multiLvlStrCache>
            </c:multiLvlStrRef>
          </c:cat>
          <c:val>
            <c:numRef>
              <c:f>Sheet1!$D$2:$D$4</c:f>
              <c:numCache>
                <c:formatCode>General</c:formatCode>
                <c:ptCount val="3"/>
                <c:pt idx="0">
                  <c:v>90</c:v>
                </c:pt>
                <c:pt idx="1">
                  <c:v>92.5</c:v>
                </c:pt>
                <c:pt idx="2">
                  <c:v>78.75</c:v>
                </c:pt>
              </c:numCache>
            </c:numRef>
          </c:val>
        </c:ser>
        <c:dLbls>
          <c:numFmt formatCode="0.0#" sourceLinked="0"/>
          <c:txPr>
            <a:bodyPr/>
            <a:lstStyle/>
            <a:p>
              <a:pPr>
                <a:defRPr b="0" i="0" strike="noStrike" sz="1000" u="none">
                  <a:solidFill>
                    <a:srgbClr val="16231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6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66"/>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6231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31F"/>
                </a:solidFill>
                <a:latin typeface="+mn-lt"/>
              </a:defRPr>
            </a:pPr>
            <a:r>
              <a:rPr sz="1400" b="0" i="0" u="none" strike="noStrike">
                <a:solidFill>
                  <a:srgbClr val="16231F"/>
                </a:solidFill>
                <a:latin typeface="+mn-lt"/>
              </a:rPr>
              <a:t>Accuracy (%) when keeping k of 16 parts</a:t>
            </a:r>
          </a:p>
        </c:rich>
      </c:tx>
      <c:layout/>
      <c:overlay val="0"/>
    </c:title>
    <c:autoTitleDeleted val="0"/>
    <c:plotArea>
      <c:layout/>
      <c:barChart>
        <c:barDir val="col"/>
        <c:grouping val="clustered"/>
        <c:varyColors val="0"/>
        <c:ser>
          <c:idx val="0"/>
          <c:order val="0"/>
          <c:tx>
            <c:strRef>
              <c:f>Sheet1!$B$1</c:f>
              <c:strCache>
                <c:ptCount val="1"/>
                <c:pt idx="0">
                  <c:v>Validation</c:v>
                </c:pt>
              </c:strCache>
            </c:strRef>
          </c:tx>
          <c:spPr>
            <a:solidFill>
              <a:srgbClr val="8AB5A5"/>
            </a:solidFill>
            <a:effectLst/>
          </c:spPr>
          <c:invertIfNegative val="0"/>
          <c:dLbls>
            <c:numFmt formatCode="0.0#" sourceLinked="0"/>
            <c:txPr>
              <a:bodyPr/>
              <a:lstStyle/>
              <a:p>
                <a:pPr>
                  <a:defRPr b="0" i="0" strike="noStrike" sz="1000" u="none">
                    <a:solidFill>
                      <a:srgbClr val="16231F"/>
                    </a:solidFill>
                    <a:latin typeface="+mn-lt"/>
                  </a:defRPr>
                </a:pPr>
              </a:p>
            </c:txPr>
            <c:showLegendKey val="0"/>
            <c:showVal val="1"/>
            <c:showCatName val="0"/>
            <c:showSerName val="0"/>
            <c:showPercent val="0"/>
            <c:showBubbleSize val="0"/>
            <c:showLeaderLines val="0"/>
          </c:dLbls>
          <c:cat>
            <c:multiLvlStrRef>
              <c:f>Sheet1!$A$2:$A$6</c:f>
              <c:multiLvlStrCache>
                <c:ptCount val="5"/>
                <c:lvl>
                  <c:pt idx="0">
                    <c:v>2 of 16</c:v>
                  </c:pt>
                  <c:pt idx="1">
                    <c:v>4 of 16</c:v>
                  </c:pt>
                  <c:pt idx="2">
                    <c:v>8 of 16</c:v>
                  </c:pt>
                  <c:pt idx="3">
                    <c:v>12 of 16</c:v>
                  </c:pt>
                  <c:pt idx="4">
                    <c:v>16 of 16</c:v>
                  </c:pt>
                </c:lvl>
              </c:multiLvlStrCache>
            </c:multiLvlStrRef>
          </c:cat>
          <c:val>
            <c:numRef>
              <c:f>Sheet1!$B$2:$B$6</c:f>
              <c:numCache>
                <c:formatCode>General</c:formatCode>
                <c:ptCount val="5"/>
                <c:pt idx="0">
                  <c:v>56.25</c:v>
                </c:pt>
                <c:pt idx="1">
                  <c:v>68.75</c:v>
                </c:pt>
                <c:pt idx="2">
                  <c:v>96.25</c:v>
                </c:pt>
                <c:pt idx="3">
                  <c:v>92.5</c:v>
                </c:pt>
                <c:pt idx="4">
                  <c:v>93.75</c:v>
                </c:pt>
              </c:numCache>
            </c:numRef>
          </c:val>
        </c:ser>
        <c:ser>
          <c:idx val="1"/>
          <c:order val="1"/>
          <c:tx>
            <c:strRef>
              <c:f>Sheet1!$C$1</c:f>
              <c:strCache>
                <c:ptCount val="1"/>
                <c:pt idx="0">
                  <c:v>Test</c:v>
                </c:pt>
              </c:strCache>
            </c:strRef>
          </c:tx>
          <c:spPr>
            <a:solidFill>
              <a:srgbClr val="E0604F"/>
            </a:solidFill>
            <a:effectLst/>
          </c:spPr>
          <c:invertIfNegative val="0"/>
          <c:dLbls>
            <c:numFmt formatCode="0.0#" sourceLinked="0"/>
            <c:txPr>
              <a:bodyPr/>
              <a:lstStyle/>
              <a:p>
                <a:pPr>
                  <a:defRPr b="0" i="0" strike="noStrike" sz="1000" u="none">
                    <a:solidFill>
                      <a:srgbClr val="16231F"/>
                    </a:solidFill>
                    <a:latin typeface="+mn-lt"/>
                  </a:defRPr>
                </a:pPr>
              </a:p>
            </c:txPr>
            <c:showLegendKey val="0"/>
            <c:showVal val="1"/>
            <c:showCatName val="0"/>
            <c:showSerName val="0"/>
            <c:showPercent val="0"/>
            <c:showBubbleSize val="0"/>
            <c:showLeaderLines val="0"/>
          </c:dLbls>
          <c:cat>
            <c:multiLvlStrRef>
              <c:f>Sheet1!$A$2:$A$6</c:f>
              <c:multiLvlStrCache>
                <c:ptCount val="5"/>
                <c:lvl>
                  <c:pt idx="0">
                    <c:v>2 of 16</c:v>
                  </c:pt>
                  <c:pt idx="1">
                    <c:v>4 of 16</c:v>
                  </c:pt>
                  <c:pt idx="2">
                    <c:v>8 of 16</c:v>
                  </c:pt>
                  <c:pt idx="3">
                    <c:v>12 of 16</c:v>
                  </c:pt>
                  <c:pt idx="4">
                    <c:v>16 of 16</c:v>
                  </c:pt>
                </c:lvl>
              </c:multiLvlStrCache>
            </c:multiLvlStrRef>
          </c:cat>
          <c:val>
            <c:numRef>
              <c:f>Sheet1!$C$2:$C$6</c:f>
              <c:numCache>
                <c:formatCode>General</c:formatCode>
                <c:ptCount val="5"/>
                <c:pt idx="0">
                  <c:v>65</c:v>
                </c:pt>
                <c:pt idx="1">
                  <c:v>77.5</c:v>
                </c:pt>
                <c:pt idx="2">
                  <c:v>90</c:v>
                </c:pt>
                <c:pt idx="3">
                  <c:v>90</c:v>
                </c:pt>
                <c:pt idx="4">
                  <c:v>90</c:v>
                </c:pt>
              </c:numCache>
            </c:numRef>
          </c:val>
        </c:ser>
        <c:dLbls>
          <c:numFmt formatCode="0.0#" sourceLinked="0"/>
          <c:txPr>
            <a:bodyPr/>
            <a:lstStyle/>
            <a:p>
              <a:pPr>
                <a:defRPr b="0" i="0" strike="noStrike" sz="1000" u="none">
                  <a:solidFill>
                    <a:srgbClr val="16231F"/>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B66"/>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DCE6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B66"/>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6231F"/>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research question: how do nonlinear activations extend affine classifiers, and how can matrix decompositions describe the learned maps? Everything is implemented in NumPy with explicit gradients. The project also relies on calculus, probability and optimization. The two spirals on the right are the dataset we classify.</a:t>
            </a:r>
            <a:endParaRPr/>
          </a:p>
        </p:txBody>
      </p:sp>
      <p:sp>
        <p:nvSpPr>
          <p:cNvPr id="22" name="Google Shape;2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Plain-language version: imagine two spiral arms made of red and blue dots, wound around each other. We want a computer to tell red from blue just by looking at where a dot sits. A single straight line cannot split them cleanly. So we let the computer draw a bent, winding line instead. It does this by stacking simple matrix steps with one small twist, called ReLU, and learning from its mistakes thousands of times. At the end we use PCA and SVD to look inside and see what it learned.</a:t>
            </a:r>
            <a:endParaRPr/>
          </a:p>
        </p:txBody>
      </p:sp>
      <p:sp>
        <p:nvSpPr>
          <p:cNvPr id="106" name="Google Shape;10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projects in this course use one tool at a time, like PCA for faces or SVD for image compression. We wanted to see how they work together inside a real learning system. So we built a neural network from scratch, using only NumPy. It starts with a simple question: why can't a straight line separate two intertwined spirals? Adding one small ingredient, ReLU, lets stacked matrix transformations bend the boundary, and test accuracy jumps from about 59% to 90%. Then we use PCA and SVD to look inside the network and see what it learned. If time allows, the repository includes a live demo that trains the network in the terminal.</a:t>
            </a:r>
            <a:endParaRPr/>
          </a:p>
        </p:txBody>
      </p:sp>
      <p:sp>
        <p:nvSpPr>
          <p:cNvPr id="189" name="Google Shape;18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supplied sheet lists 14 projects and none is a neural-network problem. Present this as an inspired extension of Projects 10, 11 and 14 (Zemlyanova adapted manual), and have instructor confirmation of extensions ready if asked. Course code UE25MA242A.</a:t>
            </a:r>
            <a:endParaRPr/>
          </a:p>
        </p:txBody>
      </p:sp>
      <p:sp>
        <p:nvSpPr>
          <p:cNvPr id="204" name="Google Shape;20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Data seed 42, split seed 2026. Every sample is a column of X. Test data never take part in training or checkpoint selection. Coordinates are already roughly inside the unit disk, so we do not normalize. Test points assess generalization within this synthetic generator only.</a:t>
            </a:r>
            <a:endParaRPr/>
          </a:p>
        </p:txBody>
      </p:sp>
      <p:sp>
        <p:nvSpPr>
          <p:cNvPr id="225" name="Google Shape;22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saved convex hull witness in metrics.json. An affine score preserves convex combinations, so the shared intersection point could not receive opposite signs. This proves perfect strict classification is impossible on these points. It does not cap affine accuracy at 50%: the measured linear test score is above 50%.</a:t>
            </a:r>
            <a:endParaRPr/>
          </a:p>
        </p:txBody>
      </p:sp>
      <p:sp>
        <p:nvSpPr>
          <p:cNvPr id="239" name="Google Shape;23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Three trainable affine maps, two ReLU hidden layers, softmax output. Parameters: 48 + 272 + 34 = 354, made of 320 weights and 34 biases. Hidden weights use He variance scaling and output weights use 1/fan_in scaling. Initialization is a heuristic, not a guarantee of spectral stability.</a:t>
            </a:r>
            <a:endParaRPr/>
          </a:p>
        </p:txBody>
      </p:sp>
      <p:sp>
        <p:nvSpPr>
          <p:cNvPr id="269" name="Google Shape;26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layer does the same four things: multiply by weights, add a bias, apply ReLU, and pass the result on. In formulas: Z = W A + b, A = max(0, Z), and finally P = softmax(Z3). Training uses 240 samples at once, one per column, so the whole batch is one matrix product. Without hidden nonlinearities, the three affine maps collapse into one effective W and b, which is still a straight-line classifier. ReLU breaks that collapse and gives piecewise affine logits.</a:t>
            </a:r>
            <a:endParaRPr/>
          </a:p>
        </p:txBody>
      </p:sp>
      <p:sp>
        <p:nvSpPr>
          <p:cNvPr id="292" name="Google Shape;29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backpropagation. In formulas: D3 = P - Y at the output; D_l = (W_(l+1)^T D_(l+1)) * 1[Z_l &gt; 0] for hidden layers; grad(W_l) = D_l A_(l-1)^T / m and grad(b_l) = D_l 1 / m. D is the unaveraged logit error, so divide by m exactly once. The transpose comes from the chain rule and is the Euclidean adjoint, not an inverse. Each sample contributes a rank-one outer product. ReLU's derivative at zero is chosen as zero. Source: Goodfellow et al., Deep Learning, Chapter 6.</a:t>
            </a:r>
            <a:endParaRPr/>
          </a:p>
        </p:txBody>
      </p:sp>
      <p:sp>
        <p:nvSpPr>
          <p:cNvPr id="316" name="Google Shape;31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compared our calculated gradients with centered finite differences: (L(theta + h*e_i) - L(theta - h*e_i)) / (2h). They agree away from ReLU kinks, handled explicitly; 0 kink crossings were skipped. Largest absolute error 9.89e-11. Other tests cover an identity-activation model, extreme-logit loss, stratified splitting, affine collapse with biases and spectral identities. Source: Stanford CS231n, gradient checking.</a:t>
            </a:r>
            <a:endParaRPr/>
          </a:p>
        </p:txBody>
      </p:sp>
      <p:sp>
        <p:nvSpPr>
          <p:cNvPr id="345" name="Google Shape;34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Plain-language framing: the error is cross-entropy loss; blue is the training data the network practises on, red is validation data used only to pick the best round. Metrics at epoch k describe exactly k completed updates, with 12,000 full-batch updates at learning rate 0.1 and a checkpoint every 50. The selected checkpoint minimizes validation loss, and can precede the final epoch. The full trajectory can contain loss increases at this learning rate, for example near epoch 11,650. The test set is absent from the optimization curves.</a:t>
            </a:r>
            <a:endParaRPr/>
          </a:p>
        </p:txBody>
      </p:sp>
      <p:sp>
        <p:nvSpPr>
          <p:cNvPr id="363" name="Google Shape;36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All rows use initialization seed 42, the same split and the same update budget. Train, validation and test accuracies are separate. Differences reflect architecture and parameter count together, so this is not a capacity-matched comparison. Framing: this is a linear algebra course project, not a Kaggle contest; the thesis is that ReLU breaks the affine collapse, and 90% demonstrates it. The Wilson 95% interval is approximate because the grid is structured.</a:t>
            </a:r>
            <a:endParaRPr/>
          </a:p>
        </p:txBody>
      </p:sp>
      <p:sp>
        <p:nvSpPr>
          <p:cNvPr id="380" name="Google Shape;38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Mean and sample standard deviation describe sensitivity to random initialization on one fixed split. All three runs are reported; the main run is declared as seed 42, not the best test score. Sampling uncertainty, new splits and distribution shift are outside this study.</a:t>
            </a:r>
            <a:endParaRPr/>
          </a:p>
        </p:txBody>
      </p:sp>
      <p:sp>
        <p:nvSpPr>
          <p:cNvPr id="394" name="Google Shape;39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ReLU model has piecewise affine logits, so its binary equal-logit boundary is piecewise linear. The comparison shows a learned winding boundary, not proof that every deep network succeeds or that every shallow network fails. The color surface is not evidence of probability calibration.</a:t>
            </a:r>
            <a:endParaRPr/>
          </a:p>
        </p:txBody>
      </p:sp>
      <p:sp>
        <p:nvSpPr>
          <p:cNvPr id="415" name="Google Shape;41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4" name="Google Shape;42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center the training activation matrix, take its thin SVD, and use the first two left singular vectors as the PCA basis. Test activations use the same training mean and basis. Retained-variance ratios concern activation matrices, not weight matrices. The first two components keep 75.6% (hidden layer 1) and 76.3% (hidden layer 2) of variance, and a projection can hide useful directions. The output boundary is the diagonal z0 = z1.</a:t>
            </a:r>
            <a:endParaRPr/>
          </a:p>
        </p:txBody>
      </p:sp>
      <p:sp>
        <p:nvSpPr>
          <p:cNvPr id="425" name="Google Shape;42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Singular values measure how much a weight matrix stretches its input in each direction. Stretch ratio s_max/s_min: W1 (16 x 2) 1.190, W2 (16 x 16) 197.537, W3 (2 x 16) 13.287. Ranks 2, 16 and 2; input nullity 0, 0 and 14. A full-row-rank 2 x 16 output map still has input nullity 14, so its ratio concerns the nonzero directions only. SVD factors are not unique. Full weight rank does not prove every neuron is active, and a large ratio does not by itself describe training behavior. Source: NumPy documentation for numpy.linalg.svd.</a:t>
            </a:r>
            <a:endParaRPr/>
          </a:p>
        </p:txBody>
      </p:sp>
      <p:sp>
        <p:nvSpPr>
          <p:cNvPr id="435" name="Google Shape;43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Fixed-rank truncations of the 16 x 16 matrix W2, with no retraining and no ranks chosen from test accuracy. Energy retained at ranks 2, 4, 8, 12, 16: 64.47%, 83.11%, 95.61%, 99.72%, 100%. Dense W2 has 256 entries; a rank-k factorization would store 32k entries, excluding biases, so rank 8 saves no storage and rank 4 halves it, at 77.5% test. Our measurements materialize the approximation rather than saving compressed factors. The Frobenius error equals the square root of the discarded squared singular values. Extends Project 14.</a:t>
            </a:r>
            <a:endParaRPr/>
          </a:p>
        </p:txBody>
      </p:sp>
      <p:sp>
        <p:nvSpPr>
          <p:cNvPr id="456" name="Google Shape;45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Make a precise claim: this configuration learns a nonlinear boundary, and independent numerical checks support the gradient implementation. Do not claim linear algebra alone creates AI, that depth is mandatory, or that weight spectra prove data-manifold recovery. A sufficiently wide shallow network can be expressive; its failure here depends on width, learning rate and budget. Further detail: docs/REPORT.md and docs/VIVA_GUIDE.md in the repository.</a:t>
            </a:r>
            <a:endParaRPr/>
          </a:p>
        </p:txBody>
      </p:sp>
      <p:sp>
        <p:nvSpPr>
          <p:cNvPr id="468" name="Google Shape;46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rgbClr val="1B3D33"/>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2" name="Shape 12"/>
        <p:cNvGrpSpPr/>
        <p:nvPr/>
      </p:nvGrpSpPr>
      <p:grpSpPr>
        <a:xfrm>
          <a:off x="0" y="0"/>
          <a:ext cx="0" cy="0"/>
          <a:chOff x="0" y="0"/>
          <a:chExt cx="0" cy="0"/>
        </a:xfrm>
      </p:grpSpPr>
      <p:sp>
        <p:nvSpPr>
          <p:cNvPr id="13" name="Google Shape;13;p21"/>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B66"/>
              </a:buClr>
              <a:buSzPts val="1000"/>
              <a:buFont typeface="Calibri"/>
              <a:buNone/>
            </a:pPr>
            <a:r>
              <a:rPr b="0" i="0" lang="en-US" sz="1000" u="none" cap="none" strike="noStrike">
                <a:solidFill>
                  <a:srgbClr val="5A6B66"/>
                </a:solidFill>
                <a:latin typeface="Calibri"/>
                <a:ea typeface="Calibri"/>
                <a:cs typeface="Calibri"/>
                <a:sym typeface="Calibri"/>
              </a:rPr>
              <a:t>Neural networks through matrix operations</a:t>
            </a:r>
            <a:endParaRPr b="0" i="0" sz="1000" u="none" cap="none" strike="noStrike">
              <a:solidFill>
                <a:schemeClr val="dk1"/>
              </a:solidFill>
              <a:latin typeface="Calibri"/>
              <a:ea typeface="Calibri"/>
              <a:cs typeface="Calibri"/>
              <a:sym typeface="Calibri"/>
            </a:endParaRPr>
          </a:p>
        </p:txBody>
      </p:sp>
      <p:sp>
        <p:nvSpPr>
          <p:cNvPr id="14" name="Google Shape;14;p21"/>
          <p:cNvSpPr txBox="1"/>
          <p:nvPr>
            <p:ph idx="12" type="sldNum"/>
          </p:nvPr>
        </p:nvSpPr>
        <p:spPr>
          <a:xfrm>
            <a:off x="8229600" y="4754880"/>
            <a:ext cx="457200" cy="27432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1000" u="none" cap="none" strike="noStrike">
                <a:solidFill>
                  <a:srgbClr val="5A6B66"/>
                </a:solidFill>
                <a:latin typeface="Calibri"/>
                <a:ea typeface="Calibri"/>
                <a:cs typeface="Calibri"/>
                <a:sym typeface="Calibri"/>
              </a:defRPr>
            </a:lvl1pPr>
            <a:lvl2pPr indent="0" lvl="1" marL="0" marR="0" algn="r">
              <a:spcBef>
                <a:spcPts val="0"/>
              </a:spcBef>
              <a:buNone/>
              <a:defRPr b="0" i="0" sz="1000" u="none" cap="none" strike="noStrike">
                <a:solidFill>
                  <a:srgbClr val="5A6B66"/>
                </a:solidFill>
                <a:latin typeface="Calibri"/>
                <a:ea typeface="Calibri"/>
                <a:cs typeface="Calibri"/>
                <a:sym typeface="Calibri"/>
              </a:defRPr>
            </a:lvl2pPr>
            <a:lvl3pPr indent="0" lvl="2" marL="0" marR="0" algn="r">
              <a:spcBef>
                <a:spcPts val="0"/>
              </a:spcBef>
              <a:buNone/>
              <a:defRPr b="0" i="0" sz="1000" u="none" cap="none" strike="noStrike">
                <a:solidFill>
                  <a:srgbClr val="5A6B66"/>
                </a:solidFill>
                <a:latin typeface="Calibri"/>
                <a:ea typeface="Calibri"/>
                <a:cs typeface="Calibri"/>
                <a:sym typeface="Calibri"/>
              </a:defRPr>
            </a:lvl3pPr>
            <a:lvl4pPr indent="0" lvl="3" marL="0" marR="0" algn="r">
              <a:spcBef>
                <a:spcPts val="0"/>
              </a:spcBef>
              <a:buNone/>
              <a:defRPr b="0" i="0" sz="1000" u="none" cap="none" strike="noStrike">
                <a:solidFill>
                  <a:srgbClr val="5A6B66"/>
                </a:solidFill>
                <a:latin typeface="Calibri"/>
                <a:ea typeface="Calibri"/>
                <a:cs typeface="Calibri"/>
                <a:sym typeface="Calibri"/>
              </a:defRPr>
            </a:lvl4pPr>
            <a:lvl5pPr indent="0" lvl="4" marL="0" marR="0" algn="r">
              <a:spcBef>
                <a:spcPts val="0"/>
              </a:spcBef>
              <a:buNone/>
              <a:defRPr b="0" i="0" sz="1000" u="none" cap="none" strike="noStrike">
                <a:solidFill>
                  <a:srgbClr val="5A6B66"/>
                </a:solidFill>
                <a:latin typeface="Calibri"/>
                <a:ea typeface="Calibri"/>
                <a:cs typeface="Calibri"/>
                <a:sym typeface="Calibri"/>
              </a:defRPr>
            </a:lvl5pPr>
            <a:lvl6pPr indent="0" lvl="5" marL="0" marR="0" algn="r">
              <a:spcBef>
                <a:spcPts val="0"/>
              </a:spcBef>
              <a:buNone/>
              <a:defRPr b="0" i="0" sz="1000" u="none" cap="none" strike="noStrike">
                <a:solidFill>
                  <a:srgbClr val="5A6B66"/>
                </a:solidFill>
                <a:latin typeface="Calibri"/>
                <a:ea typeface="Calibri"/>
                <a:cs typeface="Calibri"/>
                <a:sym typeface="Calibri"/>
              </a:defRPr>
            </a:lvl6pPr>
            <a:lvl7pPr indent="0" lvl="6" marL="0" marR="0" algn="r">
              <a:spcBef>
                <a:spcPts val="0"/>
              </a:spcBef>
              <a:buNone/>
              <a:defRPr b="0" i="0" sz="1000" u="none" cap="none" strike="noStrike">
                <a:solidFill>
                  <a:srgbClr val="5A6B66"/>
                </a:solidFill>
                <a:latin typeface="Calibri"/>
                <a:ea typeface="Calibri"/>
                <a:cs typeface="Calibri"/>
                <a:sym typeface="Calibri"/>
              </a:defRPr>
            </a:lvl7pPr>
            <a:lvl8pPr indent="0" lvl="7" marL="0" marR="0" algn="r">
              <a:spcBef>
                <a:spcPts val="0"/>
              </a:spcBef>
              <a:buNone/>
              <a:defRPr b="0" i="0" sz="1000" u="none" cap="none" strike="noStrike">
                <a:solidFill>
                  <a:srgbClr val="5A6B66"/>
                </a:solidFill>
                <a:latin typeface="Calibri"/>
                <a:ea typeface="Calibri"/>
                <a:cs typeface="Calibri"/>
                <a:sym typeface="Calibri"/>
              </a:defRPr>
            </a:lvl8pPr>
            <a:lvl9pPr indent="0" lvl="8" marL="0" marR="0" algn="r">
              <a:spcBef>
                <a:spcPts val="0"/>
              </a:spcBef>
              <a:buNone/>
              <a:defRPr b="0" i="0" sz="1000" u="none" cap="none" strike="noStrike">
                <a:solidFill>
                  <a:srgbClr val="5A6B6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1B3D33"/>
        </a:solidFill>
      </p:bgPr>
    </p:bg>
    <p:spTree>
      <p:nvGrpSpPr>
        <p:cNvPr id="15" name="Shape 15"/>
        <p:cNvGrpSpPr/>
        <p:nvPr/>
      </p:nvGrpSpPr>
      <p:grpSpPr>
        <a:xfrm>
          <a:off x="0" y="0"/>
          <a:ext cx="0" cy="0"/>
          <a:chOff x="0" y="0"/>
          <a:chExt cx="0" cy="0"/>
        </a:xfrm>
      </p:grpSpPr>
      <p:sp>
        <p:nvSpPr>
          <p:cNvPr id="16" name="Google Shape;16;p22"/>
          <p:cNvSpPr txBox="1"/>
          <p:nvPr/>
        </p:nvSpPr>
        <p:spPr>
          <a:xfrm>
            <a:off x="45720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B5A5"/>
              </a:buClr>
              <a:buSzPts val="1000"/>
              <a:buFont typeface="Calibri"/>
              <a:buNone/>
            </a:pPr>
            <a:r>
              <a:rPr b="0" i="0" lang="en-US" sz="1000" u="none" cap="none" strike="noStrike">
                <a:solidFill>
                  <a:srgbClr val="8AB5A5"/>
                </a:solidFill>
                <a:latin typeface="Calibri"/>
                <a:ea typeface="Calibri"/>
                <a:cs typeface="Calibri"/>
                <a:sym typeface="Calibri"/>
              </a:rPr>
              <a:t>Neural networks through matrix operations</a:t>
            </a:r>
            <a:endParaRPr b="0" i="0" sz="1000" u="none" cap="none" strike="noStrike">
              <a:solidFill>
                <a:schemeClr val="dk1"/>
              </a:solidFill>
              <a:latin typeface="Calibri"/>
              <a:ea typeface="Calibri"/>
              <a:cs typeface="Calibri"/>
              <a:sym typeface="Calibri"/>
            </a:endParaRPr>
          </a:p>
        </p:txBody>
      </p:sp>
      <p:sp>
        <p:nvSpPr>
          <p:cNvPr id="17" name="Google Shape;17;p22"/>
          <p:cNvSpPr txBox="1"/>
          <p:nvPr>
            <p:ph idx="12" type="sldNum"/>
          </p:nvPr>
        </p:nvSpPr>
        <p:spPr>
          <a:xfrm>
            <a:off x="8229600" y="4754880"/>
            <a:ext cx="457200" cy="274320"/>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1000" u="none" cap="none" strike="noStrike">
                <a:solidFill>
                  <a:srgbClr val="8AB5A5"/>
                </a:solidFill>
                <a:latin typeface="Calibri"/>
                <a:ea typeface="Calibri"/>
                <a:cs typeface="Calibri"/>
                <a:sym typeface="Calibri"/>
              </a:defRPr>
            </a:lvl1pPr>
            <a:lvl2pPr indent="0" lvl="1" marL="0" marR="0" algn="r">
              <a:spcBef>
                <a:spcPts val="0"/>
              </a:spcBef>
              <a:buNone/>
              <a:defRPr b="0" i="0" sz="1000" u="none" cap="none" strike="noStrike">
                <a:solidFill>
                  <a:srgbClr val="8AB5A5"/>
                </a:solidFill>
                <a:latin typeface="Calibri"/>
                <a:ea typeface="Calibri"/>
                <a:cs typeface="Calibri"/>
                <a:sym typeface="Calibri"/>
              </a:defRPr>
            </a:lvl2pPr>
            <a:lvl3pPr indent="0" lvl="2" marL="0" marR="0" algn="r">
              <a:spcBef>
                <a:spcPts val="0"/>
              </a:spcBef>
              <a:buNone/>
              <a:defRPr b="0" i="0" sz="1000" u="none" cap="none" strike="noStrike">
                <a:solidFill>
                  <a:srgbClr val="8AB5A5"/>
                </a:solidFill>
                <a:latin typeface="Calibri"/>
                <a:ea typeface="Calibri"/>
                <a:cs typeface="Calibri"/>
                <a:sym typeface="Calibri"/>
              </a:defRPr>
            </a:lvl3pPr>
            <a:lvl4pPr indent="0" lvl="3" marL="0" marR="0" algn="r">
              <a:spcBef>
                <a:spcPts val="0"/>
              </a:spcBef>
              <a:buNone/>
              <a:defRPr b="0" i="0" sz="1000" u="none" cap="none" strike="noStrike">
                <a:solidFill>
                  <a:srgbClr val="8AB5A5"/>
                </a:solidFill>
                <a:latin typeface="Calibri"/>
                <a:ea typeface="Calibri"/>
                <a:cs typeface="Calibri"/>
                <a:sym typeface="Calibri"/>
              </a:defRPr>
            </a:lvl4pPr>
            <a:lvl5pPr indent="0" lvl="4" marL="0" marR="0" algn="r">
              <a:spcBef>
                <a:spcPts val="0"/>
              </a:spcBef>
              <a:buNone/>
              <a:defRPr b="0" i="0" sz="1000" u="none" cap="none" strike="noStrike">
                <a:solidFill>
                  <a:srgbClr val="8AB5A5"/>
                </a:solidFill>
                <a:latin typeface="Calibri"/>
                <a:ea typeface="Calibri"/>
                <a:cs typeface="Calibri"/>
                <a:sym typeface="Calibri"/>
              </a:defRPr>
            </a:lvl5pPr>
            <a:lvl6pPr indent="0" lvl="5" marL="0" marR="0" algn="r">
              <a:spcBef>
                <a:spcPts val="0"/>
              </a:spcBef>
              <a:buNone/>
              <a:defRPr b="0" i="0" sz="1000" u="none" cap="none" strike="noStrike">
                <a:solidFill>
                  <a:srgbClr val="8AB5A5"/>
                </a:solidFill>
                <a:latin typeface="Calibri"/>
                <a:ea typeface="Calibri"/>
                <a:cs typeface="Calibri"/>
                <a:sym typeface="Calibri"/>
              </a:defRPr>
            </a:lvl6pPr>
            <a:lvl7pPr indent="0" lvl="6" marL="0" marR="0" algn="r">
              <a:spcBef>
                <a:spcPts val="0"/>
              </a:spcBef>
              <a:buNone/>
              <a:defRPr b="0" i="0" sz="1000" u="none" cap="none" strike="noStrike">
                <a:solidFill>
                  <a:srgbClr val="8AB5A5"/>
                </a:solidFill>
                <a:latin typeface="Calibri"/>
                <a:ea typeface="Calibri"/>
                <a:cs typeface="Calibri"/>
                <a:sym typeface="Calibri"/>
              </a:defRPr>
            </a:lvl7pPr>
            <a:lvl8pPr indent="0" lvl="7" marL="0" marR="0" algn="r">
              <a:spcBef>
                <a:spcPts val="0"/>
              </a:spcBef>
              <a:buNone/>
              <a:defRPr b="0" i="0" sz="1000" u="none" cap="none" strike="noStrike">
                <a:solidFill>
                  <a:srgbClr val="8AB5A5"/>
                </a:solidFill>
                <a:latin typeface="Calibri"/>
                <a:ea typeface="Calibri"/>
                <a:cs typeface="Calibri"/>
                <a:sym typeface="Calibri"/>
              </a:defRPr>
            </a:lvl8pPr>
            <a:lvl9pPr indent="0" lvl="8" marL="0" marR="0" algn="r">
              <a:spcBef>
                <a:spcPts val="0"/>
              </a:spcBef>
              <a:buNone/>
              <a:defRPr b="0" i="0" sz="1000" u="none" cap="none" strike="noStrike">
                <a:solidFill>
                  <a:srgbClr val="8AB5A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9"/>
          <p:cNvSpPr txBox="1"/>
          <p:nvPr>
            <p:ph idx="12" type="sldNum"/>
          </p:nvPr>
        </p:nvSpPr>
        <p:spPr>
          <a:xfrm>
            <a:off x="8229600" y="4754880"/>
            <a:ext cx="457200" cy="274320"/>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1000" u="none" cap="none" strike="noStrike">
                <a:solidFill>
                  <a:srgbClr val="5A6B66"/>
                </a:solidFill>
                <a:latin typeface="Calibri"/>
                <a:ea typeface="Calibri"/>
                <a:cs typeface="Calibri"/>
                <a:sym typeface="Calibri"/>
              </a:defRPr>
            </a:lvl1pPr>
            <a:lvl2pPr indent="0" lvl="1" marL="0" marR="0" rtl="0" algn="r">
              <a:spcBef>
                <a:spcPts val="0"/>
              </a:spcBef>
              <a:buNone/>
              <a:defRPr b="0" i="0" sz="1000" u="none" cap="none" strike="noStrike">
                <a:solidFill>
                  <a:srgbClr val="5A6B66"/>
                </a:solidFill>
                <a:latin typeface="Calibri"/>
                <a:ea typeface="Calibri"/>
                <a:cs typeface="Calibri"/>
                <a:sym typeface="Calibri"/>
              </a:defRPr>
            </a:lvl2pPr>
            <a:lvl3pPr indent="0" lvl="2" marL="0" marR="0" rtl="0" algn="r">
              <a:spcBef>
                <a:spcPts val="0"/>
              </a:spcBef>
              <a:buNone/>
              <a:defRPr b="0" i="0" sz="1000" u="none" cap="none" strike="noStrike">
                <a:solidFill>
                  <a:srgbClr val="5A6B66"/>
                </a:solidFill>
                <a:latin typeface="Calibri"/>
                <a:ea typeface="Calibri"/>
                <a:cs typeface="Calibri"/>
                <a:sym typeface="Calibri"/>
              </a:defRPr>
            </a:lvl3pPr>
            <a:lvl4pPr indent="0" lvl="3" marL="0" marR="0" rtl="0" algn="r">
              <a:spcBef>
                <a:spcPts val="0"/>
              </a:spcBef>
              <a:buNone/>
              <a:defRPr b="0" i="0" sz="1000" u="none" cap="none" strike="noStrike">
                <a:solidFill>
                  <a:srgbClr val="5A6B66"/>
                </a:solidFill>
                <a:latin typeface="Calibri"/>
                <a:ea typeface="Calibri"/>
                <a:cs typeface="Calibri"/>
                <a:sym typeface="Calibri"/>
              </a:defRPr>
            </a:lvl4pPr>
            <a:lvl5pPr indent="0" lvl="4" marL="0" marR="0" rtl="0" algn="r">
              <a:spcBef>
                <a:spcPts val="0"/>
              </a:spcBef>
              <a:buNone/>
              <a:defRPr b="0" i="0" sz="1000" u="none" cap="none" strike="noStrike">
                <a:solidFill>
                  <a:srgbClr val="5A6B66"/>
                </a:solidFill>
                <a:latin typeface="Calibri"/>
                <a:ea typeface="Calibri"/>
                <a:cs typeface="Calibri"/>
                <a:sym typeface="Calibri"/>
              </a:defRPr>
            </a:lvl5pPr>
            <a:lvl6pPr indent="0" lvl="5" marL="0" marR="0" rtl="0" algn="r">
              <a:spcBef>
                <a:spcPts val="0"/>
              </a:spcBef>
              <a:buNone/>
              <a:defRPr b="0" i="0" sz="1000" u="none" cap="none" strike="noStrike">
                <a:solidFill>
                  <a:srgbClr val="5A6B66"/>
                </a:solidFill>
                <a:latin typeface="Calibri"/>
                <a:ea typeface="Calibri"/>
                <a:cs typeface="Calibri"/>
                <a:sym typeface="Calibri"/>
              </a:defRPr>
            </a:lvl6pPr>
            <a:lvl7pPr indent="0" lvl="6" marL="0" marR="0" rtl="0" algn="r">
              <a:spcBef>
                <a:spcPts val="0"/>
              </a:spcBef>
              <a:buNone/>
              <a:defRPr b="0" i="0" sz="1000" u="none" cap="none" strike="noStrike">
                <a:solidFill>
                  <a:srgbClr val="5A6B66"/>
                </a:solidFill>
                <a:latin typeface="Calibri"/>
                <a:ea typeface="Calibri"/>
                <a:cs typeface="Calibri"/>
                <a:sym typeface="Calibri"/>
              </a:defRPr>
            </a:lvl7pPr>
            <a:lvl8pPr indent="0" lvl="7" marL="0" marR="0" rtl="0" algn="r">
              <a:spcBef>
                <a:spcPts val="0"/>
              </a:spcBef>
              <a:buNone/>
              <a:defRPr b="0" i="0" sz="1000" u="none" cap="none" strike="noStrike">
                <a:solidFill>
                  <a:srgbClr val="5A6B66"/>
                </a:solidFill>
                <a:latin typeface="Calibri"/>
                <a:ea typeface="Calibri"/>
                <a:cs typeface="Calibri"/>
                <a:sym typeface="Calibri"/>
              </a:defRPr>
            </a:lvl8pPr>
            <a:lvl9pPr indent="0" lvl="8" marL="0" marR="0" rtl="0" algn="r">
              <a:spcBef>
                <a:spcPts val="0"/>
              </a:spcBef>
              <a:buNone/>
              <a:defRPr b="0" i="0" sz="1000" u="none" cap="none" strike="noStrike">
                <a:solidFill>
                  <a:srgbClr val="5A6B66"/>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chart" Target="../charts/char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hart" Target="../charts/char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1"/>
          <p:cNvSpPr txBox="1"/>
          <p:nvPr/>
        </p:nvSpPr>
        <p:spPr>
          <a:xfrm>
            <a:off x="548640" y="1097280"/>
            <a:ext cx="4937760" cy="1737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3600"/>
              <a:buFont typeface="Calibri"/>
              <a:buNone/>
            </a:pPr>
            <a:r>
              <a:rPr b="1" i="0" lang="en-US" sz="3600" u="none" cap="none" strike="noStrike">
                <a:solidFill>
                  <a:schemeClr val="lt1"/>
                </a:solidFill>
                <a:latin typeface="Calibri"/>
                <a:ea typeface="Calibri"/>
                <a:cs typeface="Calibri"/>
                <a:sym typeface="Calibri"/>
              </a:rPr>
              <a:t>Neural networks through matrix operations</a:t>
            </a:r>
            <a:endParaRPr b="0" i="0" sz="3600" u="none" cap="none" strike="noStrike">
              <a:solidFill>
                <a:schemeClr val="dk1"/>
              </a:solidFill>
              <a:latin typeface="Calibri"/>
              <a:ea typeface="Calibri"/>
              <a:cs typeface="Calibri"/>
              <a:sym typeface="Calibri"/>
            </a:endParaRPr>
          </a:p>
        </p:txBody>
      </p:sp>
      <p:sp>
        <p:nvSpPr>
          <p:cNvPr id="25" name="Google Shape;25;p1"/>
          <p:cNvSpPr txBox="1"/>
          <p:nvPr/>
        </p:nvSpPr>
        <p:spPr>
          <a:xfrm>
            <a:off x="548640" y="2926080"/>
            <a:ext cx="49377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800"/>
              <a:buFont typeface="Calibri"/>
              <a:buNone/>
            </a:pPr>
            <a:r>
              <a:rPr b="0" i="0" lang="en-US" sz="1800" u="none" cap="none" strike="noStrike">
                <a:solidFill>
                  <a:schemeClr val="accent5"/>
                </a:solidFill>
                <a:latin typeface="Calibri"/>
                <a:ea typeface="Calibri"/>
                <a:cs typeface="Calibri"/>
                <a:sym typeface="Calibri"/>
              </a:rPr>
              <a:t>Affine maps, backpropagation, PCA and SVD</a:t>
            </a:r>
            <a:endParaRPr b="0" i="0" sz="1800" u="none" cap="none" strike="noStrike">
              <a:solidFill>
                <a:schemeClr val="dk1"/>
              </a:solidFill>
              <a:latin typeface="Calibri"/>
              <a:ea typeface="Calibri"/>
              <a:cs typeface="Calibri"/>
              <a:sym typeface="Calibri"/>
            </a:endParaRPr>
          </a:p>
        </p:txBody>
      </p:sp>
      <p:sp>
        <p:nvSpPr>
          <p:cNvPr id="26" name="Google Shape;26;p1"/>
          <p:cNvSpPr txBox="1"/>
          <p:nvPr/>
        </p:nvSpPr>
        <p:spPr>
          <a:xfrm>
            <a:off x="548640" y="4114800"/>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2"/>
              </a:buClr>
              <a:buSzPts val="1200"/>
              <a:buFont typeface="Calibri"/>
              <a:buNone/>
            </a:pPr>
            <a:r>
              <a:rPr b="0" i="0" lang="en-US" sz="1200" u="none" cap="none" strike="noStrike">
                <a:solidFill>
                  <a:schemeClr val="lt2"/>
                </a:solidFill>
                <a:latin typeface="Calibri"/>
                <a:ea typeface="Calibri"/>
                <a:cs typeface="Calibri"/>
                <a:sym typeface="Calibri"/>
              </a:rPr>
              <a:t>UE25MA242A  |  Mathematical Foundation for AI &amp; Data Science</a:t>
            </a:r>
            <a:endParaRPr b="0" i="0" sz="1200" u="none" cap="none" strike="noStrike">
              <a:solidFill>
                <a:schemeClr val="dk1"/>
              </a:solidFill>
              <a:latin typeface="Calibri"/>
              <a:ea typeface="Calibri"/>
              <a:cs typeface="Calibri"/>
              <a:sym typeface="Calibri"/>
            </a:endParaRPr>
          </a:p>
        </p:txBody>
      </p:sp>
      <p:sp>
        <p:nvSpPr>
          <p:cNvPr id="27" name="Google Shape;27;p1"/>
          <p:cNvSpPr/>
          <p:nvPr/>
        </p:nvSpPr>
        <p:spPr>
          <a:xfrm>
            <a:off x="7095859" y="2513019"/>
            <a:ext cx="65692" cy="6569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7123172" y="2471946"/>
            <a:ext cx="67377" cy="6737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7125115" y="2413985"/>
            <a:ext cx="69061" cy="6906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7094940" y="2352329"/>
            <a:ext cx="70746" cy="7074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7032004" y="2302281"/>
            <a:ext cx="72430" cy="7243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1"/>
          <p:cNvSpPr/>
          <p:nvPr/>
        </p:nvSpPr>
        <p:spPr>
          <a:xfrm>
            <a:off x="6942249" y="2278659"/>
            <a:ext cx="74115" cy="74115"/>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6837647" y="2293156"/>
            <a:ext cx="75799" cy="7579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6734647" y="2352077"/>
            <a:ext cx="77483" cy="7748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
          <p:cNvSpPr/>
          <p:nvPr/>
        </p:nvSpPr>
        <p:spPr>
          <a:xfrm>
            <a:off x="6651829" y="2454791"/>
            <a:ext cx="79168" cy="7916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
          <p:cNvSpPr/>
          <p:nvPr/>
        </p:nvSpPr>
        <p:spPr>
          <a:xfrm>
            <a:off x="6607077" y="2593166"/>
            <a:ext cx="80852" cy="8085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
          <p:cNvSpPr/>
          <p:nvPr/>
        </p:nvSpPr>
        <p:spPr>
          <a:xfrm>
            <a:off x="6614666" y="2752116"/>
            <a:ext cx="82537" cy="8253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
          <p:cNvSpPr/>
          <p:nvPr/>
        </p:nvSpPr>
        <p:spPr>
          <a:xfrm>
            <a:off x="6682684" y="2911235"/>
            <a:ext cx="84221" cy="8422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p:nvPr/>
        </p:nvSpPr>
        <p:spPr>
          <a:xfrm>
            <a:off x="6811179" y="3047343"/>
            <a:ext cx="85905" cy="85905"/>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p:nvPr/>
        </p:nvSpPr>
        <p:spPr>
          <a:xfrm>
            <a:off x="6991339" y="3137632"/>
            <a:ext cx="87590" cy="8759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1"/>
          <p:cNvSpPr/>
          <p:nvPr/>
        </p:nvSpPr>
        <p:spPr>
          <a:xfrm>
            <a:off x="7205886" y="3163002"/>
            <a:ext cx="89274" cy="8927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7430695" y="3111129"/>
            <a:ext cx="90959" cy="9095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
          <p:cNvSpPr/>
          <p:nvPr/>
        </p:nvSpPr>
        <p:spPr>
          <a:xfrm>
            <a:off x="7637489" y="2978826"/>
            <a:ext cx="92643" cy="9264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p:nvPr/>
        </p:nvSpPr>
        <p:spPr>
          <a:xfrm>
            <a:off x="7797323" y="2773339"/>
            <a:ext cx="94328" cy="9432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1"/>
          <p:cNvSpPr/>
          <p:nvPr/>
        </p:nvSpPr>
        <p:spPr>
          <a:xfrm>
            <a:off x="7884414" y="2512314"/>
            <a:ext cx="96012" cy="9601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
          <p:cNvSpPr/>
          <p:nvPr/>
        </p:nvSpPr>
        <p:spPr>
          <a:xfrm>
            <a:off x="7879848" y="2222380"/>
            <a:ext cx="97696" cy="9769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1"/>
          <p:cNvSpPr/>
          <p:nvPr/>
        </p:nvSpPr>
        <p:spPr>
          <a:xfrm>
            <a:off x="7774640" y="1936431"/>
            <a:ext cx="99381" cy="9938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1"/>
          <p:cNvSpPr/>
          <p:nvPr/>
        </p:nvSpPr>
        <p:spPr>
          <a:xfrm>
            <a:off x="7571732" y="1689891"/>
            <a:ext cx="101065" cy="101065"/>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
          <p:cNvSpPr/>
          <p:nvPr/>
        </p:nvSpPr>
        <p:spPr>
          <a:xfrm>
            <a:off x="7286575" y="1516388"/>
            <a:ext cx="102750" cy="10275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
          <p:cNvSpPr/>
          <p:nvPr/>
        </p:nvSpPr>
        <p:spPr>
          <a:xfrm>
            <a:off x="6946155" y="1443348"/>
            <a:ext cx="104434" cy="10443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
          <p:cNvSpPr/>
          <p:nvPr/>
        </p:nvSpPr>
        <p:spPr>
          <a:xfrm>
            <a:off x="6586485" y="1488077"/>
            <a:ext cx="106119" cy="10611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1"/>
          <p:cNvSpPr/>
          <p:nvPr/>
        </p:nvSpPr>
        <p:spPr>
          <a:xfrm>
            <a:off x="6248787" y="1654864"/>
            <a:ext cx="107803" cy="1078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
          <p:cNvSpPr/>
          <p:nvPr/>
        </p:nvSpPr>
        <p:spPr>
          <a:xfrm>
            <a:off x="5974769" y="1933509"/>
            <a:ext cx="109487" cy="10948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
          <p:cNvSpPr/>
          <p:nvPr/>
        </p:nvSpPr>
        <p:spPr>
          <a:xfrm>
            <a:off x="5801543" y="2299572"/>
            <a:ext cx="111172" cy="11117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
          <p:cNvSpPr/>
          <p:nvPr/>
        </p:nvSpPr>
        <p:spPr>
          <a:xfrm>
            <a:off x="5756791" y="2716382"/>
            <a:ext cx="112856" cy="11285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
          <p:cNvSpPr/>
          <p:nvPr/>
        </p:nvSpPr>
        <p:spPr>
          <a:xfrm>
            <a:off x="5854788" y="3138680"/>
            <a:ext cx="114541" cy="11454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
          <p:cNvSpPr/>
          <p:nvPr/>
        </p:nvSpPr>
        <p:spPr>
          <a:xfrm>
            <a:off x="6093824" y="3517523"/>
            <a:ext cx="116225" cy="116225"/>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
          <p:cNvSpPr/>
          <p:nvPr/>
        </p:nvSpPr>
        <p:spPr>
          <a:xfrm>
            <a:off x="6455414" y="3805920"/>
            <a:ext cx="117909" cy="11790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
          <p:cNvSpPr/>
          <p:nvPr/>
        </p:nvSpPr>
        <p:spPr>
          <a:xfrm>
            <a:off x="6905489" y="3964561"/>
            <a:ext cx="119594" cy="11959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
          <p:cNvSpPr/>
          <p:nvPr/>
        </p:nvSpPr>
        <p:spPr>
          <a:xfrm>
            <a:off x="7397521" y="3966939"/>
            <a:ext cx="121278" cy="12127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
          <p:cNvSpPr/>
          <p:nvPr/>
        </p:nvSpPr>
        <p:spPr>
          <a:xfrm>
            <a:off x="7877313" y="3803219"/>
            <a:ext cx="122963" cy="12296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
          <p:cNvSpPr/>
          <p:nvPr/>
        </p:nvSpPr>
        <p:spPr>
          <a:xfrm>
            <a:off x="8288958" y="3482338"/>
            <a:ext cx="124647" cy="12464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
          <p:cNvSpPr/>
          <p:nvPr/>
        </p:nvSpPr>
        <p:spPr>
          <a:xfrm>
            <a:off x="8581312" y="3031974"/>
            <a:ext cx="126332" cy="12633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
          <p:cNvSpPr/>
          <p:nvPr/>
        </p:nvSpPr>
        <p:spPr>
          <a:xfrm>
            <a:off x="8714232" y="2496312"/>
            <a:ext cx="128016" cy="12801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
          <p:cNvSpPr/>
          <p:nvPr/>
        </p:nvSpPr>
        <p:spPr>
          <a:xfrm>
            <a:off x="7011649" y="2541928"/>
            <a:ext cx="65692" cy="65692"/>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
          <p:cNvSpPr/>
          <p:nvPr/>
        </p:nvSpPr>
        <p:spPr>
          <a:xfrm>
            <a:off x="6982651" y="2581317"/>
            <a:ext cx="67377" cy="6737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
          <p:cNvSpPr/>
          <p:nvPr/>
        </p:nvSpPr>
        <p:spPr>
          <a:xfrm>
            <a:off x="6979024" y="2637593"/>
            <a:ext cx="69061" cy="69061"/>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
          <p:cNvSpPr/>
          <p:nvPr/>
        </p:nvSpPr>
        <p:spPr>
          <a:xfrm>
            <a:off x="7007514" y="2697566"/>
            <a:ext cx="70746" cy="7074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
          <p:cNvSpPr/>
          <p:nvPr/>
        </p:nvSpPr>
        <p:spPr>
          <a:xfrm>
            <a:off x="7068766" y="2745929"/>
            <a:ext cx="72430" cy="7243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
          <p:cNvSpPr/>
          <p:nvPr/>
        </p:nvSpPr>
        <p:spPr>
          <a:xfrm>
            <a:off x="7156836" y="2767867"/>
            <a:ext cx="74115" cy="7411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
          <p:cNvSpPr/>
          <p:nvPr/>
        </p:nvSpPr>
        <p:spPr>
          <a:xfrm>
            <a:off x="7259754" y="2751685"/>
            <a:ext cx="75799" cy="7579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
          <p:cNvSpPr/>
          <p:nvPr/>
        </p:nvSpPr>
        <p:spPr>
          <a:xfrm>
            <a:off x="7361069" y="2691080"/>
            <a:ext cx="77483" cy="7748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
          <p:cNvSpPr/>
          <p:nvPr/>
        </p:nvSpPr>
        <p:spPr>
          <a:xfrm>
            <a:off x="7442203" y="2586681"/>
            <a:ext cx="79168" cy="7916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
          <p:cNvSpPr/>
          <p:nvPr/>
        </p:nvSpPr>
        <p:spPr>
          <a:xfrm>
            <a:off x="7485271" y="2446622"/>
            <a:ext cx="80852" cy="80852"/>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
          <p:cNvSpPr/>
          <p:nvPr/>
        </p:nvSpPr>
        <p:spPr>
          <a:xfrm>
            <a:off x="7475997" y="2285987"/>
            <a:ext cx="82537" cy="8253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
          <p:cNvSpPr/>
          <p:nvPr/>
        </p:nvSpPr>
        <p:spPr>
          <a:xfrm>
            <a:off x="7406295" y="2125184"/>
            <a:ext cx="84221" cy="84221"/>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
          <p:cNvSpPr/>
          <p:nvPr/>
        </p:nvSpPr>
        <p:spPr>
          <a:xfrm>
            <a:off x="7276116" y="1987392"/>
            <a:ext cx="85905" cy="8590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
          <p:cNvSpPr/>
          <p:nvPr/>
        </p:nvSpPr>
        <p:spPr>
          <a:xfrm>
            <a:off x="7094271" y="1895418"/>
            <a:ext cx="87590" cy="8759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
          <p:cNvSpPr/>
          <p:nvPr/>
        </p:nvSpPr>
        <p:spPr>
          <a:xfrm>
            <a:off x="6878039" y="1868363"/>
            <a:ext cx="89274" cy="8927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
          <p:cNvSpPr/>
          <p:nvPr/>
        </p:nvSpPr>
        <p:spPr>
          <a:xfrm>
            <a:off x="6651546" y="1918553"/>
            <a:ext cx="90959" cy="9095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
          <p:cNvSpPr/>
          <p:nvPr/>
        </p:nvSpPr>
        <p:spPr>
          <a:xfrm>
            <a:off x="6443068" y="2049171"/>
            <a:ext cx="92643" cy="9264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
          <p:cNvSpPr/>
          <p:nvPr/>
        </p:nvSpPr>
        <p:spPr>
          <a:xfrm>
            <a:off x="6281550" y="2252974"/>
            <a:ext cx="94328" cy="9432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
          <p:cNvSpPr/>
          <p:nvPr/>
        </p:nvSpPr>
        <p:spPr>
          <a:xfrm>
            <a:off x="6192774" y="2512314"/>
            <a:ext cx="96012" cy="96012"/>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
          <p:cNvSpPr/>
          <p:nvPr/>
        </p:nvSpPr>
        <p:spPr>
          <a:xfrm>
            <a:off x="6195656" y="2800564"/>
            <a:ext cx="97696" cy="9769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
          <p:cNvSpPr/>
          <p:nvPr/>
        </p:nvSpPr>
        <p:spPr>
          <a:xfrm>
            <a:off x="6299179" y="3084829"/>
            <a:ext cx="99381" cy="99381"/>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
          <p:cNvSpPr/>
          <p:nvPr/>
        </p:nvSpPr>
        <p:spPr>
          <a:xfrm>
            <a:off x="6500402" y="3329684"/>
            <a:ext cx="101065" cy="10106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
          <p:cNvSpPr/>
          <p:nvPr/>
        </p:nvSpPr>
        <p:spPr>
          <a:xfrm>
            <a:off x="6783876" y="3501502"/>
            <a:ext cx="102750" cy="10275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
          <p:cNvSpPr/>
          <p:nvPr/>
        </p:nvSpPr>
        <p:spPr>
          <a:xfrm>
            <a:off x="7122611" y="3572858"/>
            <a:ext cx="104434" cy="10443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
          <p:cNvSpPr/>
          <p:nvPr/>
        </p:nvSpPr>
        <p:spPr>
          <a:xfrm>
            <a:off x="7480596" y="3526444"/>
            <a:ext cx="106119" cy="10611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
          <p:cNvSpPr/>
          <p:nvPr/>
        </p:nvSpPr>
        <p:spPr>
          <a:xfrm>
            <a:off x="7816610" y="3357973"/>
            <a:ext cx="107803" cy="10780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p:nvPr/>
        </p:nvSpPr>
        <p:spPr>
          <a:xfrm>
            <a:off x="8088944" y="3077644"/>
            <a:ext cx="109487" cy="10948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
          <p:cNvSpPr/>
          <p:nvPr/>
        </p:nvSpPr>
        <p:spPr>
          <a:xfrm>
            <a:off x="8260485" y="2709897"/>
            <a:ext cx="111172" cy="111172"/>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p:nvPr/>
        </p:nvSpPr>
        <p:spPr>
          <a:xfrm>
            <a:off x="8303553" y="2291402"/>
            <a:ext cx="112856" cy="11285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
          <p:cNvSpPr/>
          <p:nvPr/>
        </p:nvSpPr>
        <p:spPr>
          <a:xfrm>
            <a:off x="8203872" y="1867419"/>
            <a:ext cx="114541" cy="114541"/>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
          <p:cNvSpPr/>
          <p:nvPr/>
        </p:nvSpPr>
        <p:spPr>
          <a:xfrm>
            <a:off x="7963151" y="1486892"/>
            <a:ext cx="116225" cy="11622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
          <p:cNvSpPr/>
          <p:nvPr/>
        </p:nvSpPr>
        <p:spPr>
          <a:xfrm>
            <a:off x="7599876" y="1196810"/>
            <a:ext cx="117909" cy="11790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
          <p:cNvSpPr/>
          <p:nvPr/>
        </p:nvSpPr>
        <p:spPr>
          <a:xfrm>
            <a:off x="7148117" y="1036485"/>
            <a:ext cx="119594" cy="11959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
          <p:cNvSpPr/>
          <p:nvPr/>
        </p:nvSpPr>
        <p:spPr>
          <a:xfrm>
            <a:off x="6654401" y="1032423"/>
            <a:ext cx="121278" cy="12127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
          <p:cNvSpPr/>
          <p:nvPr/>
        </p:nvSpPr>
        <p:spPr>
          <a:xfrm>
            <a:off x="6172924" y="1194458"/>
            <a:ext cx="122963" cy="12296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
          <p:cNvSpPr/>
          <p:nvPr/>
        </p:nvSpPr>
        <p:spPr>
          <a:xfrm>
            <a:off x="5759595" y="1513655"/>
            <a:ext cx="124647" cy="12464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
          <p:cNvSpPr/>
          <p:nvPr/>
        </p:nvSpPr>
        <p:spPr>
          <a:xfrm>
            <a:off x="5465557" y="1962334"/>
            <a:ext cx="126332" cy="126332"/>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
          <p:cNvSpPr/>
          <p:nvPr/>
        </p:nvSpPr>
        <p:spPr>
          <a:xfrm>
            <a:off x="5330952" y="2496312"/>
            <a:ext cx="128016" cy="12801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What are we doing?</a:t>
            </a:r>
            <a:endParaRPr b="0" i="0" sz="3000" u="none" cap="none" strike="noStrike">
              <a:solidFill>
                <a:schemeClr val="dk1"/>
              </a:solidFill>
              <a:latin typeface="Calibri"/>
              <a:ea typeface="Calibri"/>
              <a:cs typeface="Calibri"/>
              <a:sym typeface="Calibri"/>
            </a:endParaRPr>
          </a:p>
        </p:txBody>
      </p:sp>
      <p:sp>
        <p:nvSpPr>
          <p:cNvPr id="109" name="Google Shape;109;p2"/>
          <p:cNvSpPr/>
          <p:nvPr/>
        </p:nvSpPr>
        <p:spPr>
          <a:xfrm>
            <a:off x="457200" y="1188720"/>
            <a:ext cx="3108960" cy="2743200"/>
          </a:xfrm>
          <a:prstGeom prst="roundRect">
            <a:avLst>
              <a:gd fmla="val 266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p:nvPr/>
        </p:nvSpPr>
        <p:spPr>
          <a:xfrm>
            <a:off x="2013811" y="2381024"/>
            <a:ext cx="56998" cy="5699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
          <p:cNvSpPr/>
          <p:nvPr/>
        </p:nvSpPr>
        <p:spPr>
          <a:xfrm>
            <a:off x="2026984" y="2343762"/>
            <a:ext cx="59131" cy="5913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2"/>
          <p:cNvSpPr/>
          <p:nvPr/>
        </p:nvSpPr>
        <p:spPr>
          <a:xfrm>
            <a:off x="2012130" y="2296867"/>
            <a:ext cx="61265" cy="61265"/>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2"/>
          <p:cNvSpPr/>
          <p:nvPr/>
        </p:nvSpPr>
        <p:spPr>
          <a:xfrm>
            <a:off x="1965962" y="2258083"/>
            <a:ext cx="63398" cy="6339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
          <p:cNvSpPr/>
          <p:nvPr/>
        </p:nvSpPr>
        <p:spPr>
          <a:xfrm>
            <a:off x="1895094" y="2245214"/>
            <a:ext cx="65532" cy="6553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2"/>
          <p:cNvSpPr/>
          <p:nvPr/>
        </p:nvSpPr>
        <p:spPr>
          <a:xfrm>
            <a:off x="1815099" y="2271084"/>
            <a:ext cx="67666" cy="6766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
          <p:cNvSpPr/>
          <p:nvPr/>
        </p:nvSpPr>
        <p:spPr>
          <a:xfrm>
            <a:off x="1747213" y="2339464"/>
            <a:ext cx="69799" cy="6979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
          <p:cNvSpPr/>
          <p:nvPr/>
        </p:nvSpPr>
        <p:spPr>
          <a:xfrm>
            <a:off x="1713351" y="2442961"/>
            <a:ext cx="71933" cy="7193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
          <p:cNvSpPr/>
          <p:nvPr/>
        </p:nvSpPr>
        <p:spPr>
          <a:xfrm>
            <a:off x="1730524" y="2563492"/>
            <a:ext cx="74066" cy="7406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
          <p:cNvSpPr/>
          <p:nvPr/>
        </p:nvSpPr>
        <p:spPr>
          <a:xfrm>
            <a:off x="1805940" y="2675421"/>
            <a:ext cx="76200" cy="762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
          <p:cNvSpPr/>
          <p:nvPr/>
        </p:nvSpPr>
        <p:spPr>
          <a:xfrm>
            <a:off x="1933962" y="2750781"/>
            <a:ext cx="78334" cy="7833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
          <p:cNvSpPr/>
          <p:nvPr/>
        </p:nvSpPr>
        <p:spPr>
          <a:xfrm>
            <a:off x="2095775" y="2765571"/>
            <a:ext cx="80467" cy="8046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
          <p:cNvSpPr/>
          <p:nvPr/>
        </p:nvSpPr>
        <p:spPr>
          <a:xfrm>
            <a:off x="2262030" y="2705770"/>
            <a:ext cx="82601" cy="8260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
          <p:cNvSpPr/>
          <p:nvPr/>
        </p:nvSpPr>
        <p:spPr>
          <a:xfrm>
            <a:off x="2398124" y="2571712"/>
            <a:ext cx="84734" cy="8473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
          <p:cNvSpPr/>
          <p:nvPr/>
        </p:nvSpPr>
        <p:spPr>
          <a:xfrm>
            <a:off x="2471166" y="2379726"/>
            <a:ext cx="86868" cy="8686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
          <p:cNvSpPr/>
          <p:nvPr/>
        </p:nvSpPr>
        <p:spPr>
          <a:xfrm>
            <a:off x="2457249" y="2160466"/>
            <a:ext cx="89002" cy="8900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
          <p:cNvSpPr/>
          <p:nvPr/>
        </p:nvSpPr>
        <p:spPr>
          <a:xfrm>
            <a:off x="2347501" y="1954018"/>
            <a:ext cx="91135" cy="91135"/>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
          <p:cNvSpPr/>
          <p:nvPr/>
        </p:nvSpPr>
        <p:spPr>
          <a:xfrm>
            <a:off x="2151539" y="1802559"/>
            <a:ext cx="93269" cy="93269"/>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
          <p:cNvSpPr/>
          <p:nvPr/>
        </p:nvSpPr>
        <p:spPr>
          <a:xfrm>
            <a:off x="1897391" y="1741917"/>
            <a:ext cx="95402" cy="9540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
          <p:cNvSpPr/>
          <p:nvPr/>
        </p:nvSpPr>
        <p:spPr>
          <a:xfrm>
            <a:off x="1627632" y="1793670"/>
            <a:ext cx="97536" cy="97536"/>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
          <p:cNvSpPr/>
          <p:nvPr/>
        </p:nvSpPr>
        <p:spPr>
          <a:xfrm>
            <a:off x="1392226" y="1959473"/>
            <a:ext cx="99670" cy="9967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
          <p:cNvSpPr/>
          <p:nvPr/>
        </p:nvSpPr>
        <p:spPr>
          <a:xfrm>
            <a:off x="1239281" y="2218899"/>
            <a:ext cx="101803" cy="101803"/>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
          <p:cNvSpPr/>
          <p:nvPr/>
        </p:nvSpPr>
        <p:spPr>
          <a:xfrm>
            <a:off x="1205419" y="2531521"/>
            <a:ext cx="103937" cy="103937"/>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
          <p:cNvSpPr/>
          <p:nvPr/>
        </p:nvSpPr>
        <p:spPr>
          <a:xfrm>
            <a:off x="1307651" y="2843099"/>
            <a:ext cx="106070" cy="10607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
          <p:cNvSpPr/>
          <p:nvPr/>
        </p:nvSpPr>
        <p:spPr>
          <a:xfrm>
            <a:off x="1538478" y="3094960"/>
            <a:ext cx="108204" cy="108204"/>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
          <p:cNvSpPr/>
          <p:nvPr/>
        </p:nvSpPr>
        <p:spPr>
          <a:xfrm>
            <a:off x="1865391" y="3234944"/>
            <a:ext cx="110338" cy="11033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
          <p:cNvSpPr/>
          <p:nvPr/>
        </p:nvSpPr>
        <p:spPr>
          <a:xfrm>
            <a:off x="2235184" y="3227874"/>
            <a:ext cx="112471" cy="112471"/>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
          <p:cNvSpPr/>
          <p:nvPr/>
        </p:nvSpPr>
        <p:spPr>
          <a:xfrm>
            <a:off x="2582547" y="3063510"/>
            <a:ext cx="114605" cy="114605"/>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
          <p:cNvSpPr/>
          <p:nvPr/>
        </p:nvSpPr>
        <p:spPr>
          <a:xfrm>
            <a:off x="2841562" y="2760266"/>
            <a:ext cx="116738" cy="116738"/>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
          <p:cNvSpPr/>
          <p:nvPr/>
        </p:nvSpPr>
        <p:spPr>
          <a:xfrm>
            <a:off x="2958084" y="2363724"/>
            <a:ext cx="118872" cy="118872"/>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
          <p:cNvSpPr/>
          <p:nvPr/>
        </p:nvSpPr>
        <p:spPr>
          <a:xfrm>
            <a:off x="1952552" y="2408298"/>
            <a:ext cx="56998" cy="5699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
          <p:cNvSpPr/>
          <p:nvPr/>
        </p:nvSpPr>
        <p:spPr>
          <a:xfrm>
            <a:off x="1937245" y="2443427"/>
            <a:ext cx="59131" cy="59131"/>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
          <p:cNvSpPr/>
          <p:nvPr/>
        </p:nvSpPr>
        <p:spPr>
          <a:xfrm>
            <a:off x="1949965" y="2488189"/>
            <a:ext cx="61265" cy="6126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
          <p:cNvSpPr/>
          <p:nvPr/>
        </p:nvSpPr>
        <p:spPr>
          <a:xfrm>
            <a:off x="1993999" y="2524838"/>
            <a:ext cx="63398" cy="6339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
          <p:cNvSpPr/>
          <p:nvPr/>
        </p:nvSpPr>
        <p:spPr>
          <a:xfrm>
            <a:off x="2062734" y="2535574"/>
            <a:ext cx="65532" cy="65532"/>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
          <p:cNvSpPr/>
          <p:nvPr/>
        </p:nvSpPr>
        <p:spPr>
          <a:xfrm>
            <a:off x="2140596" y="2507571"/>
            <a:ext cx="67666" cy="6766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
          <p:cNvSpPr/>
          <p:nvPr/>
        </p:nvSpPr>
        <p:spPr>
          <a:xfrm>
            <a:off x="2206348" y="2437056"/>
            <a:ext cx="69799" cy="6979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
          <p:cNvSpPr/>
          <p:nvPr/>
        </p:nvSpPr>
        <p:spPr>
          <a:xfrm>
            <a:off x="2238076" y="2331427"/>
            <a:ext cx="71933" cy="7193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
          <p:cNvSpPr/>
          <p:nvPr/>
        </p:nvSpPr>
        <p:spPr>
          <a:xfrm>
            <a:off x="2218769" y="2208761"/>
            <a:ext cx="74066" cy="7406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
          <p:cNvSpPr/>
          <p:nvPr/>
        </p:nvSpPr>
        <p:spPr>
          <a:xfrm>
            <a:off x="2141220" y="2094699"/>
            <a:ext cx="76200" cy="762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
          <p:cNvSpPr/>
          <p:nvPr/>
        </p:nvSpPr>
        <p:spPr>
          <a:xfrm>
            <a:off x="2011064" y="2017206"/>
            <a:ext cx="78334" cy="7833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
          <p:cNvSpPr/>
          <p:nvPr/>
        </p:nvSpPr>
        <p:spPr>
          <a:xfrm>
            <a:off x="1847118" y="2000282"/>
            <a:ext cx="80467" cy="8046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
          <p:cNvSpPr/>
          <p:nvPr/>
        </p:nvSpPr>
        <p:spPr>
          <a:xfrm>
            <a:off x="1678730" y="2057950"/>
            <a:ext cx="82601" cy="82601"/>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
          <p:cNvSpPr/>
          <p:nvPr/>
        </p:nvSpPr>
        <p:spPr>
          <a:xfrm>
            <a:off x="1540502" y="2189874"/>
            <a:ext cx="84734" cy="8473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
          <p:cNvSpPr/>
          <p:nvPr/>
        </p:nvSpPr>
        <p:spPr>
          <a:xfrm>
            <a:off x="1465326" y="2379726"/>
            <a:ext cx="86868" cy="8686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
          <p:cNvSpPr/>
          <p:nvPr/>
        </p:nvSpPr>
        <p:spPr>
          <a:xfrm>
            <a:off x="1477110" y="2596852"/>
            <a:ext cx="89002" cy="89002"/>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
          <p:cNvSpPr/>
          <p:nvPr/>
        </p:nvSpPr>
        <p:spPr>
          <a:xfrm>
            <a:off x="1584724" y="2801167"/>
            <a:ext cx="91135" cy="9113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
          <p:cNvSpPr/>
          <p:nvPr/>
        </p:nvSpPr>
        <p:spPr>
          <a:xfrm>
            <a:off x="1778553" y="2950492"/>
            <a:ext cx="93269" cy="93269"/>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
          <p:cNvSpPr/>
          <p:nvPr/>
        </p:nvSpPr>
        <p:spPr>
          <a:xfrm>
            <a:off x="2030567" y="3009001"/>
            <a:ext cx="95402" cy="95402"/>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
          <p:cNvSpPr/>
          <p:nvPr/>
        </p:nvSpPr>
        <p:spPr>
          <a:xfrm>
            <a:off x="2298192" y="2955114"/>
            <a:ext cx="97536" cy="97536"/>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
          <p:cNvSpPr/>
          <p:nvPr/>
        </p:nvSpPr>
        <p:spPr>
          <a:xfrm>
            <a:off x="2531464" y="2787178"/>
            <a:ext cx="99670" cy="9967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p:nvPr/>
        </p:nvSpPr>
        <p:spPr>
          <a:xfrm>
            <a:off x="2682276" y="2525617"/>
            <a:ext cx="101803" cy="10180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
          <p:cNvSpPr/>
          <p:nvPr/>
        </p:nvSpPr>
        <p:spPr>
          <a:xfrm>
            <a:off x="2714004" y="2210862"/>
            <a:ext cx="103937" cy="103937"/>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
          <p:cNvSpPr/>
          <p:nvPr/>
        </p:nvSpPr>
        <p:spPr>
          <a:xfrm>
            <a:off x="2609638" y="1897150"/>
            <a:ext cx="106070" cy="10607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
          <p:cNvSpPr/>
          <p:nvPr/>
        </p:nvSpPr>
        <p:spPr>
          <a:xfrm>
            <a:off x="2376678" y="1643156"/>
            <a:ext cx="108204" cy="108204"/>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
          <p:cNvSpPr/>
          <p:nvPr/>
        </p:nvSpPr>
        <p:spPr>
          <a:xfrm>
            <a:off x="2047632" y="1501039"/>
            <a:ext cx="110338" cy="11033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
          <p:cNvSpPr/>
          <p:nvPr/>
        </p:nvSpPr>
        <p:spPr>
          <a:xfrm>
            <a:off x="1675705" y="1505975"/>
            <a:ext cx="112471" cy="112471"/>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
          <p:cNvSpPr/>
          <p:nvPr/>
        </p:nvSpPr>
        <p:spPr>
          <a:xfrm>
            <a:off x="1326208" y="1668205"/>
            <a:ext cx="114605" cy="114605"/>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
          <p:cNvSpPr/>
          <p:nvPr/>
        </p:nvSpPr>
        <p:spPr>
          <a:xfrm>
            <a:off x="1065060" y="1969316"/>
            <a:ext cx="116738" cy="116738"/>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
          <p:cNvSpPr/>
          <p:nvPr/>
        </p:nvSpPr>
        <p:spPr>
          <a:xfrm>
            <a:off x="946404" y="2363724"/>
            <a:ext cx="118872" cy="118872"/>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
          <p:cNvSpPr txBox="1"/>
          <p:nvPr/>
        </p:nvSpPr>
        <p:spPr>
          <a:xfrm>
            <a:off x="457200" y="3520440"/>
            <a:ext cx="31089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6"/>
              </a:buClr>
              <a:buSzPts val="1300"/>
              <a:buFont typeface="Calibri"/>
              <a:buNone/>
            </a:pPr>
            <a:r>
              <a:rPr b="1" i="0" lang="en-US" sz="1300" u="none" cap="none" strike="noStrike">
                <a:solidFill>
                  <a:schemeClr val="accent6"/>
                </a:solidFill>
                <a:latin typeface="Calibri"/>
                <a:ea typeface="Calibri"/>
                <a:cs typeface="Calibri"/>
                <a:sym typeface="Calibri"/>
              </a:rPr>
              <a:t>Two spirals, two colors</a:t>
            </a:r>
            <a:endParaRPr b="0" i="0" sz="1300" u="none" cap="none" strike="noStrike">
              <a:solidFill>
                <a:schemeClr val="dk1"/>
              </a:solidFill>
              <a:latin typeface="Calibri"/>
              <a:ea typeface="Calibri"/>
              <a:cs typeface="Calibri"/>
              <a:sym typeface="Calibri"/>
            </a:endParaRPr>
          </a:p>
        </p:txBody>
      </p:sp>
      <p:sp>
        <p:nvSpPr>
          <p:cNvPr id="171" name="Google Shape;171;p2"/>
          <p:cNvSpPr/>
          <p:nvPr/>
        </p:nvSpPr>
        <p:spPr>
          <a:xfrm>
            <a:off x="3840480" y="137160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
          <p:cNvSpPr txBox="1"/>
          <p:nvPr/>
        </p:nvSpPr>
        <p:spPr>
          <a:xfrm>
            <a:off x="3840480" y="13716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173" name="Google Shape;173;p2"/>
          <p:cNvSpPr txBox="1"/>
          <p:nvPr/>
        </p:nvSpPr>
        <p:spPr>
          <a:xfrm>
            <a:off x="4572000" y="118872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The puzzle</a:t>
            </a:r>
            <a:endParaRPr b="0" i="0" sz="1700" u="none" cap="none" strike="noStrike">
              <a:solidFill>
                <a:schemeClr val="dk1"/>
              </a:solidFill>
              <a:latin typeface="Calibri"/>
              <a:ea typeface="Calibri"/>
              <a:cs typeface="Calibri"/>
              <a:sym typeface="Calibri"/>
            </a:endParaRPr>
          </a:p>
        </p:txBody>
      </p:sp>
      <p:sp>
        <p:nvSpPr>
          <p:cNvPr id="174" name="Google Shape;174;p2"/>
          <p:cNvSpPr txBox="1"/>
          <p:nvPr/>
        </p:nvSpPr>
        <p:spPr>
          <a:xfrm>
            <a:off x="4572000" y="1536192"/>
            <a:ext cx="41148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Sort red dots from blue dots when they wind around each other</a:t>
            </a:r>
            <a:endParaRPr b="0" i="0" sz="1400" u="none" cap="none" strike="noStrike">
              <a:solidFill>
                <a:schemeClr val="dk1"/>
              </a:solidFill>
              <a:latin typeface="Calibri"/>
              <a:ea typeface="Calibri"/>
              <a:cs typeface="Calibri"/>
              <a:sym typeface="Calibri"/>
            </a:endParaRPr>
          </a:p>
        </p:txBody>
      </p:sp>
      <p:sp>
        <p:nvSpPr>
          <p:cNvPr id="175" name="Google Shape;175;p2"/>
          <p:cNvSpPr/>
          <p:nvPr/>
        </p:nvSpPr>
        <p:spPr>
          <a:xfrm>
            <a:off x="3840480" y="233172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
          <p:cNvSpPr txBox="1"/>
          <p:nvPr/>
        </p:nvSpPr>
        <p:spPr>
          <a:xfrm>
            <a:off x="3840480" y="23317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177" name="Google Shape;177;p2"/>
          <p:cNvSpPr txBox="1"/>
          <p:nvPr/>
        </p:nvSpPr>
        <p:spPr>
          <a:xfrm>
            <a:off x="4572000" y="214884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The catch</a:t>
            </a:r>
            <a:endParaRPr b="0" i="0" sz="1700" u="none" cap="none" strike="noStrike">
              <a:solidFill>
                <a:schemeClr val="dk1"/>
              </a:solidFill>
              <a:latin typeface="Calibri"/>
              <a:ea typeface="Calibri"/>
              <a:cs typeface="Calibri"/>
              <a:sym typeface="Calibri"/>
            </a:endParaRPr>
          </a:p>
        </p:txBody>
      </p:sp>
      <p:sp>
        <p:nvSpPr>
          <p:cNvPr id="178" name="Google Shape;178;p2"/>
          <p:cNvSpPr txBox="1"/>
          <p:nvPr/>
        </p:nvSpPr>
        <p:spPr>
          <a:xfrm>
            <a:off x="4572000" y="2496312"/>
            <a:ext cx="41148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 single straight line cannot split them cleanly</a:t>
            </a:r>
            <a:endParaRPr b="0" i="0" sz="1400" u="none" cap="none" strike="noStrike">
              <a:solidFill>
                <a:schemeClr val="dk1"/>
              </a:solidFill>
              <a:latin typeface="Calibri"/>
              <a:ea typeface="Calibri"/>
              <a:cs typeface="Calibri"/>
              <a:sym typeface="Calibri"/>
            </a:endParaRPr>
          </a:p>
        </p:txBody>
      </p:sp>
      <p:sp>
        <p:nvSpPr>
          <p:cNvPr id="179" name="Google Shape;179;p2"/>
          <p:cNvSpPr/>
          <p:nvPr/>
        </p:nvSpPr>
        <p:spPr>
          <a:xfrm>
            <a:off x="3840480" y="3291840"/>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
          <p:cNvSpPr txBox="1"/>
          <p:nvPr/>
        </p:nvSpPr>
        <p:spPr>
          <a:xfrm>
            <a:off x="3840480" y="32918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181" name="Google Shape;181;p2"/>
          <p:cNvSpPr txBox="1"/>
          <p:nvPr/>
        </p:nvSpPr>
        <p:spPr>
          <a:xfrm>
            <a:off x="4572000" y="3108960"/>
            <a:ext cx="4114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The trick</a:t>
            </a:r>
            <a:endParaRPr b="0" i="0" sz="1700" u="none" cap="none" strike="noStrike">
              <a:solidFill>
                <a:schemeClr val="dk1"/>
              </a:solidFill>
              <a:latin typeface="Calibri"/>
              <a:ea typeface="Calibri"/>
              <a:cs typeface="Calibri"/>
              <a:sym typeface="Calibri"/>
            </a:endParaRPr>
          </a:p>
        </p:txBody>
      </p:sp>
      <p:sp>
        <p:nvSpPr>
          <p:cNvPr id="182" name="Google Shape;182;p2"/>
          <p:cNvSpPr txBox="1"/>
          <p:nvPr/>
        </p:nvSpPr>
        <p:spPr>
          <a:xfrm>
            <a:off x="4572000" y="3456432"/>
            <a:ext cx="41148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Stack simple steps with one twist (ReLU), so it learns a winding boundary by trial and error</a:t>
            </a:r>
            <a:endParaRPr b="0" i="0" sz="1400" u="none" cap="none" strike="noStrike">
              <a:solidFill>
                <a:schemeClr val="dk1"/>
              </a:solidFill>
              <a:latin typeface="Calibri"/>
              <a:ea typeface="Calibri"/>
              <a:cs typeface="Calibri"/>
              <a:sym typeface="Calibri"/>
            </a:endParaRPr>
          </a:p>
        </p:txBody>
      </p:sp>
      <p:sp>
        <p:nvSpPr>
          <p:cNvPr id="183" name="Google Shape;183;p2"/>
          <p:cNvSpPr/>
          <p:nvPr/>
        </p:nvSpPr>
        <p:spPr>
          <a:xfrm>
            <a:off x="457200" y="4069080"/>
            <a:ext cx="8229600" cy="457200"/>
          </a:xfrm>
          <a:prstGeom prst="roundRect">
            <a:avLst>
              <a:gd fmla="val 16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
          <p:cNvSpPr txBox="1"/>
          <p:nvPr/>
        </p:nvSpPr>
        <p:spPr>
          <a:xfrm>
            <a:off x="640080" y="406908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Finally, we use PCA and SVD to look inside and see what it learned</a:t>
            </a:r>
            <a:endParaRPr b="0" i="0" sz="1500" u="none" cap="none" strike="noStrike">
              <a:solidFill>
                <a:schemeClr val="dk1"/>
              </a:solidFill>
              <a:latin typeface="Calibri"/>
              <a:ea typeface="Calibri"/>
              <a:cs typeface="Calibri"/>
              <a:sym typeface="Calibri"/>
            </a:endParaRPr>
          </a:p>
        </p:txBody>
      </p:sp>
      <p:sp>
        <p:nvSpPr>
          <p:cNvPr id="185" name="Google Shape;185;p2"/>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Why this project?</a:t>
            </a:r>
            <a:endParaRPr b="0" i="0" sz="3000" u="none" cap="none" strike="noStrike">
              <a:solidFill>
                <a:schemeClr val="dk1"/>
              </a:solidFill>
              <a:latin typeface="Calibri"/>
              <a:ea typeface="Calibri"/>
              <a:cs typeface="Calibri"/>
              <a:sym typeface="Calibri"/>
            </a:endParaRPr>
          </a:p>
        </p:txBody>
      </p:sp>
      <p:sp>
        <p:nvSpPr>
          <p:cNvPr id="192" name="Google Shape;192;p3"/>
          <p:cNvSpPr/>
          <p:nvPr/>
        </p:nvSpPr>
        <p:spPr>
          <a:xfrm>
            <a:off x="457200" y="1188720"/>
            <a:ext cx="3931920" cy="2468880"/>
          </a:xfrm>
          <a:prstGeom prst="roundRect">
            <a:avLst>
              <a:gd fmla="val 2963"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3"/>
          <p:cNvSpPr txBox="1"/>
          <p:nvPr/>
        </p:nvSpPr>
        <p:spPr>
          <a:xfrm>
            <a:off x="640080" y="1325880"/>
            <a:ext cx="3566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800"/>
              <a:buFont typeface="Calibri"/>
              <a:buNone/>
            </a:pPr>
            <a:r>
              <a:rPr b="1" i="0" lang="en-US" sz="1800" u="none" cap="none" strike="noStrike">
                <a:solidFill>
                  <a:schemeClr val="accent6"/>
                </a:solidFill>
                <a:latin typeface="Calibri"/>
                <a:ea typeface="Calibri"/>
                <a:cs typeface="Calibri"/>
                <a:sym typeface="Calibri"/>
              </a:rPr>
              <a:t>A typical project</a:t>
            </a:r>
            <a:endParaRPr b="0" i="0" sz="1800" u="none" cap="none" strike="noStrike">
              <a:solidFill>
                <a:schemeClr val="dk1"/>
              </a:solidFill>
              <a:latin typeface="Calibri"/>
              <a:ea typeface="Calibri"/>
              <a:cs typeface="Calibri"/>
              <a:sym typeface="Calibri"/>
            </a:endParaRPr>
          </a:p>
        </p:txBody>
      </p:sp>
      <p:sp>
        <p:nvSpPr>
          <p:cNvPr id="194" name="Google Shape;194;p3"/>
          <p:cNvSpPr txBox="1"/>
          <p:nvPr/>
        </p:nvSpPr>
        <p:spPr>
          <a:xfrm>
            <a:off x="640080" y="1828800"/>
            <a:ext cx="3566160" cy="1691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One tool at a time</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For example, PCA on faces or SVD image compression</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500"/>
              <a:buFont typeface="Calibri"/>
              <a:buChar char="•"/>
            </a:pPr>
            <a:r>
              <a:rPr b="0" i="0" lang="en-US" sz="1500" u="none" cap="none" strike="noStrike">
                <a:solidFill>
                  <a:schemeClr val="dk1"/>
                </a:solidFill>
                <a:latin typeface="Calibri"/>
                <a:ea typeface="Calibri"/>
                <a:cs typeface="Calibri"/>
                <a:sym typeface="Calibri"/>
              </a:rPr>
              <a:t>Run once and read the answer</a:t>
            </a:r>
            <a:endParaRPr b="0" i="0" sz="1500" u="none" cap="none" strike="noStrike">
              <a:solidFill>
                <a:schemeClr val="dk1"/>
              </a:solidFill>
              <a:latin typeface="Calibri"/>
              <a:ea typeface="Calibri"/>
              <a:cs typeface="Calibri"/>
              <a:sym typeface="Calibri"/>
            </a:endParaRPr>
          </a:p>
        </p:txBody>
      </p:sp>
      <p:sp>
        <p:nvSpPr>
          <p:cNvPr id="195" name="Google Shape;195;p3"/>
          <p:cNvSpPr/>
          <p:nvPr/>
        </p:nvSpPr>
        <p:spPr>
          <a:xfrm>
            <a:off x="4754880" y="1188720"/>
            <a:ext cx="3931920" cy="2468880"/>
          </a:xfrm>
          <a:prstGeom prst="roundRect">
            <a:avLst>
              <a:gd fmla="val 296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txBox="1"/>
          <p:nvPr/>
        </p:nvSpPr>
        <p:spPr>
          <a:xfrm>
            <a:off x="4937760" y="1325880"/>
            <a:ext cx="3566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This project</a:t>
            </a:r>
            <a:endParaRPr b="0" i="0" sz="1800" u="none" cap="none" strike="noStrike">
              <a:solidFill>
                <a:schemeClr val="dk1"/>
              </a:solidFill>
              <a:latin typeface="Calibri"/>
              <a:ea typeface="Calibri"/>
              <a:cs typeface="Calibri"/>
              <a:sym typeface="Calibri"/>
            </a:endParaRPr>
          </a:p>
        </p:txBody>
      </p:sp>
      <p:sp>
        <p:nvSpPr>
          <p:cNvPr id="197" name="Google Shape;197;p3"/>
          <p:cNvSpPr txBox="1"/>
          <p:nvPr/>
        </p:nvSpPr>
        <p:spPr>
          <a:xfrm>
            <a:off x="4937760" y="1828800"/>
            <a:ext cx="3566160" cy="16916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lt1"/>
              </a:buClr>
              <a:buSzPts val="1500"/>
              <a:buFont typeface="Calibri"/>
              <a:buChar char="•"/>
            </a:pPr>
            <a:r>
              <a:rPr b="0" i="0" lang="en-US" sz="1500" u="none" cap="none" strike="noStrike">
                <a:solidFill>
                  <a:schemeClr val="lt1"/>
                </a:solidFill>
                <a:latin typeface="Calibri"/>
                <a:ea typeface="Calibri"/>
                <a:cs typeface="Calibri"/>
                <a:sym typeface="Calibri"/>
              </a:rPr>
              <a:t>Three course topics working together</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chemeClr val="lt1"/>
              </a:buClr>
              <a:buSzPts val="1500"/>
              <a:buFont typeface="Calibri"/>
              <a:buChar char="•"/>
            </a:pPr>
            <a:r>
              <a:rPr b="0" i="0" lang="en-US" sz="1500" u="none" cap="none" strike="noStrike">
                <a:solidFill>
                  <a:schemeClr val="lt1"/>
                </a:solidFill>
                <a:latin typeface="Calibri"/>
                <a:ea typeface="Calibri"/>
                <a:cs typeface="Calibri"/>
                <a:sym typeface="Calibri"/>
              </a:rPr>
              <a:t>A neural network built from scratch in pure NumPy, no PyTorch or TensorFlow</a:t>
            </a:r>
            <a:endParaRPr b="0" i="0" sz="15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chemeClr val="lt1"/>
              </a:buClr>
              <a:buSzPts val="1500"/>
              <a:buFont typeface="Calibri"/>
              <a:buChar char="•"/>
            </a:pPr>
            <a:r>
              <a:rPr b="0" i="0" lang="en-US" sz="1500" u="none" cap="none" strike="noStrike">
                <a:solidFill>
                  <a:schemeClr val="lt1"/>
                </a:solidFill>
                <a:latin typeface="Calibri"/>
                <a:ea typeface="Calibri"/>
                <a:cs typeface="Calibri"/>
                <a:sym typeface="Calibri"/>
              </a:rPr>
              <a:t>Watch it learn, then look inside with PCA and SVD</a:t>
            </a:r>
            <a:endParaRPr b="0" i="0" sz="1500" u="none" cap="none" strike="noStrike">
              <a:solidFill>
                <a:schemeClr val="dk1"/>
              </a:solidFill>
              <a:latin typeface="Calibri"/>
              <a:ea typeface="Calibri"/>
              <a:cs typeface="Calibri"/>
              <a:sym typeface="Calibri"/>
            </a:endParaRPr>
          </a:p>
        </p:txBody>
      </p:sp>
      <p:sp>
        <p:nvSpPr>
          <p:cNvPr id="198" name="Google Shape;198;p3"/>
          <p:cNvSpPr/>
          <p:nvPr/>
        </p:nvSpPr>
        <p:spPr>
          <a:xfrm>
            <a:off x="457200" y="3840480"/>
            <a:ext cx="8229600" cy="731520"/>
          </a:xfrm>
          <a:prstGeom prst="roundRect">
            <a:avLst>
              <a:gd fmla="val 1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3"/>
          <p:cNvSpPr txBox="1"/>
          <p:nvPr/>
        </p:nvSpPr>
        <p:spPr>
          <a:xfrm>
            <a:off x="640080" y="3840480"/>
            <a:ext cx="786384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The question: why can't a straight line separate two spirals? Adding ReLU, a simple switch that bends the line, lifts test accuracy from about 59% to 90%.</a:t>
            </a:r>
            <a:endParaRPr b="0" i="0" sz="1500" u="none" cap="none" strike="noStrike">
              <a:solidFill>
                <a:schemeClr val="dk1"/>
              </a:solidFill>
              <a:latin typeface="Calibri"/>
              <a:ea typeface="Calibri"/>
              <a:cs typeface="Calibri"/>
              <a:sym typeface="Calibri"/>
            </a:endParaRPr>
          </a:p>
        </p:txBody>
      </p:sp>
      <p:sp>
        <p:nvSpPr>
          <p:cNvPr id="200" name="Google Shape;200;p3"/>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4"/>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Built on three course projects</a:t>
            </a:r>
            <a:endParaRPr b="0" i="0" sz="3000" u="none" cap="none" strike="noStrike">
              <a:solidFill>
                <a:schemeClr val="dk1"/>
              </a:solidFill>
              <a:latin typeface="Calibri"/>
              <a:ea typeface="Calibri"/>
              <a:cs typeface="Calibri"/>
              <a:sym typeface="Calibri"/>
            </a:endParaRPr>
          </a:p>
        </p:txBody>
      </p:sp>
      <p:sp>
        <p:nvSpPr>
          <p:cNvPr id="207" name="Google Shape;207;p4"/>
          <p:cNvSpPr/>
          <p:nvPr/>
        </p:nvSpPr>
        <p:spPr>
          <a:xfrm>
            <a:off x="457200" y="1188720"/>
            <a:ext cx="2560320" cy="2651760"/>
          </a:xfrm>
          <a:prstGeom prst="roundRect">
            <a:avLst>
              <a:gd fmla="val 28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
          <p:cNvSpPr txBox="1"/>
          <p:nvPr/>
        </p:nvSpPr>
        <p:spPr>
          <a:xfrm>
            <a:off x="640075" y="1531615"/>
            <a:ext cx="2148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Matrix transformations</a:t>
            </a:r>
            <a:endParaRPr b="0" i="0" sz="1600" u="none" cap="none" strike="noStrike">
              <a:solidFill>
                <a:schemeClr val="dk1"/>
              </a:solidFill>
              <a:latin typeface="Calibri"/>
              <a:ea typeface="Calibri"/>
              <a:cs typeface="Calibri"/>
              <a:sym typeface="Calibri"/>
            </a:endParaRPr>
          </a:p>
        </p:txBody>
      </p:sp>
      <p:sp>
        <p:nvSpPr>
          <p:cNvPr id="209" name="Google Shape;209;p4"/>
          <p:cNvSpPr txBox="1"/>
          <p:nvPr/>
        </p:nvSpPr>
        <p:spPr>
          <a:xfrm>
            <a:off x="640075" y="1943095"/>
            <a:ext cx="21489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Each layer is an affine map: multiply, then shift</a:t>
            </a:r>
            <a:endParaRPr b="0" i="0" sz="1400" u="none" cap="none" strike="noStrike">
              <a:solidFill>
                <a:schemeClr val="dk1"/>
              </a:solidFill>
              <a:latin typeface="Calibri"/>
              <a:ea typeface="Calibri"/>
              <a:cs typeface="Calibri"/>
              <a:sym typeface="Calibri"/>
            </a:endParaRPr>
          </a:p>
        </p:txBody>
      </p:sp>
      <p:sp>
        <p:nvSpPr>
          <p:cNvPr id="210" name="Google Shape;210;p4"/>
          <p:cNvSpPr txBox="1"/>
          <p:nvPr/>
        </p:nvSpPr>
        <p:spPr>
          <a:xfrm>
            <a:off x="640075" y="2537455"/>
            <a:ext cx="2148900" cy="59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In our work: Each layer is a weight matrix</a:t>
            </a:r>
            <a:endParaRPr b="0" i="0" sz="1400" u="none" cap="none" strike="noStrike">
              <a:solidFill>
                <a:schemeClr val="dk1"/>
              </a:solidFill>
              <a:latin typeface="Calibri"/>
              <a:ea typeface="Calibri"/>
              <a:cs typeface="Calibri"/>
              <a:sym typeface="Calibri"/>
            </a:endParaRPr>
          </a:p>
        </p:txBody>
      </p:sp>
      <p:sp>
        <p:nvSpPr>
          <p:cNvPr id="211" name="Google Shape;211;p4"/>
          <p:cNvSpPr/>
          <p:nvPr/>
        </p:nvSpPr>
        <p:spPr>
          <a:xfrm>
            <a:off x="3291840" y="1188720"/>
            <a:ext cx="2560320" cy="2651760"/>
          </a:xfrm>
          <a:prstGeom prst="roundRect">
            <a:avLst>
              <a:gd fmla="val 28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
          <p:cNvSpPr txBox="1"/>
          <p:nvPr/>
        </p:nvSpPr>
        <p:spPr>
          <a:xfrm>
            <a:off x="3497578" y="1531653"/>
            <a:ext cx="2148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PCA</a:t>
            </a:r>
            <a:endParaRPr b="0" i="0" sz="1600" u="none" cap="none" strike="noStrike">
              <a:solidFill>
                <a:schemeClr val="dk1"/>
              </a:solidFill>
              <a:latin typeface="Calibri"/>
              <a:ea typeface="Calibri"/>
              <a:cs typeface="Calibri"/>
              <a:sym typeface="Calibri"/>
            </a:endParaRPr>
          </a:p>
        </p:txBody>
      </p:sp>
      <p:sp>
        <p:nvSpPr>
          <p:cNvPr id="213" name="Google Shape;213;p4"/>
          <p:cNvSpPr txBox="1"/>
          <p:nvPr/>
        </p:nvSpPr>
        <p:spPr>
          <a:xfrm>
            <a:off x="3497578" y="1943133"/>
            <a:ext cx="21489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Principal directions of centered data</a:t>
            </a:r>
            <a:endParaRPr b="0" i="0" sz="1400" u="none" cap="none" strike="noStrike">
              <a:solidFill>
                <a:schemeClr val="dk1"/>
              </a:solidFill>
              <a:latin typeface="Calibri"/>
              <a:ea typeface="Calibri"/>
              <a:cs typeface="Calibri"/>
              <a:sym typeface="Calibri"/>
            </a:endParaRPr>
          </a:p>
        </p:txBody>
      </p:sp>
      <p:sp>
        <p:nvSpPr>
          <p:cNvPr id="214" name="Google Shape;214;p4"/>
          <p:cNvSpPr txBox="1"/>
          <p:nvPr/>
        </p:nvSpPr>
        <p:spPr>
          <a:xfrm>
            <a:off x="3497578" y="2537493"/>
            <a:ext cx="2148900" cy="59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In our work: PCA of hidden activations</a:t>
            </a:r>
            <a:endParaRPr b="0" i="0" sz="1400" u="none" cap="none" strike="noStrike">
              <a:solidFill>
                <a:schemeClr val="dk1"/>
              </a:solidFill>
              <a:latin typeface="Calibri"/>
              <a:ea typeface="Calibri"/>
              <a:cs typeface="Calibri"/>
              <a:sym typeface="Calibri"/>
            </a:endParaRPr>
          </a:p>
        </p:txBody>
      </p:sp>
      <p:sp>
        <p:nvSpPr>
          <p:cNvPr id="215" name="Google Shape;215;p4"/>
          <p:cNvSpPr/>
          <p:nvPr/>
        </p:nvSpPr>
        <p:spPr>
          <a:xfrm>
            <a:off x="6126480" y="1188720"/>
            <a:ext cx="2560320" cy="2651760"/>
          </a:xfrm>
          <a:prstGeom prst="roundRect">
            <a:avLst>
              <a:gd fmla="val 285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
          <p:cNvSpPr txBox="1"/>
          <p:nvPr/>
        </p:nvSpPr>
        <p:spPr>
          <a:xfrm>
            <a:off x="6355030" y="1531640"/>
            <a:ext cx="21489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SVD compression</a:t>
            </a:r>
            <a:endParaRPr b="0" i="0" sz="1600" u="none" cap="none" strike="noStrike">
              <a:solidFill>
                <a:schemeClr val="dk1"/>
              </a:solidFill>
              <a:latin typeface="Calibri"/>
              <a:ea typeface="Calibri"/>
              <a:cs typeface="Calibri"/>
              <a:sym typeface="Calibri"/>
            </a:endParaRPr>
          </a:p>
        </p:txBody>
      </p:sp>
      <p:sp>
        <p:nvSpPr>
          <p:cNvPr id="217" name="Google Shape;217;p4"/>
          <p:cNvSpPr txBox="1"/>
          <p:nvPr/>
        </p:nvSpPr>
        <p:spPr>
          <a:xfrm>
            <a:off x="6355030" y="1943120"/>
            <a:ext cx="21489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Rank-k approximation of a matrix</a:t>
            </a:r>
            <a:endParaRPr b="0" i="0" sz="1400" u="none" cap="none" strike="noStrike">
              <a:solidFill>
                <a:schemeClr val="dk1"/>
              </a:solidFill>
              <a:latin typeface="Calibri"/>
              <a:ea typeface="Calibri"/>
              <a:cs typeface="Calibri"/>
              <a:sym typeface="Calibri"/>
            </a:endParaRPr>
          </a:p>
        </p:txBody>
      </p:sp>
      <p:sp>
        <p:nvSpPr>
          <p:cNvPr id="218" name="Google Shape;218;p4"/>
          <p:cNvSpPr txBox="1"/>
          <p:nvPr/>
        </p:nvSpPr>
        <p:spPr>
          <a:xfrm>
            <a:off x="6355030" y="2537480"/>
            <a:ext cx="2148900" cy="59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400"/>
              <a:buFont typeface="Calibri"/>
              <a:buNone/>
            </a:pPr>
            <a:r>
              <a:rPr b="1" i="0" lang="en-US" sz="1400" u="none" cap="none" strike="noStrike">
                <a:solidFill>
                  <a:schemeClr val="accent1"/>
                </a:solidFill>
                <a:latin typeface="Calibri"/>
                <a:ea typeface="Calibri"/>
                <a:cs typeface="Calibri"/>
                <a:sym typeface="Calibri"/>
              </a:rPr>
              <a:t>In our work: Rank truncation of W2 (16 x 16)</a:t>
            </a:r>
            <a:endParaRPr b="0" i="0" sz="1400" u="none" cap="none" strike="noStrike">
              <a:solidFill>
                <a:schemeClr val="dk1"/>
              </a:solidFill>
              <a:latin typeface="Calibri"/>
              <a:ea typeface="Calibri"/>
              <a:cs typeface="Calibri"/>
              <a:sym typeface="Calibri"/>
            </a:endParaRPr>
          </a:p>
        </p:txBody>
      </p:sp>
      <p:sp>
        <p:nvSpPr>
          <p:cNvPr id="219" name="Google Shape;219;p4"/>
          <p:cNvSpPr/>
          <p:nvPr/>
        </p:nvSpPr>
        <p:spPr>
          <a:xfrm>
            <a:off x="457200" y="3977640"/>
            <a:ext cx="8229600" cy="548640"/>
          </a:xfrm>
          <a:prstGeom prst="roundRect">
            <a:avLst>
              <a:gd fmla="val 1333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
          <p:cNvSpPr txBox="1"/>
          <p:nvPr/>
        </p:nvSpPr>
        <p:spPr>
          <a:xfrm>
            <a:off x="640080" y="3977640"/>
            <a:ext cx="78638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An inspired extension of the supplied problem sheet, not a literal listed problem</a:t>
            </a:r>
            <a:endParaRPr b="0" i="0" sz="1400" u="none" cap="none" strike="noStrike">
              <a:solidFill>
                <a:schemeClr val="dk1"/>
              </a:solidFill>
              <a:latin typeface="Calibri"/>
              <a:ea typeface="Calibri"/>
              <a:cs typeface="Calibri"/>
              <a:sym typeface="Calibri"/>
            </a:endParaRPr>
          </a:p>
        </p:txBody>
      </p:sp>
      <p:sp>
        <p:nvSpPr>
          <p:cNvPr id="221" name="Google Shape;221;p4"/>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5"/>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Two spirals, three disjoint splits</a:t>
            </a:r>
            <a:endParaRPr b="0" i="0" sz="3000" u="none" cap="none" strike="noStrike">
              <a:solidFill>
                <a:schemeClr val="dk1"/>
              </a:solidFill>
              <a:latin typeface="Calibri"/>
              <a:ea typeface="Calibri"/>
              <a:cs typeface="Calibri"/>
              <a:sym typeface="Calibri"/>
            </a:endParaRPr>
          </a:p>
        </p:txBody>
      </p:sp>
      <p:pic>
        <p:nvPicPr>
          <p:cNvPr descr="Training, validation and test samples of the two-spiral dataset" id="228" name="Google Shape;228;p5"/>
          <p:cNvPicPr preferRelativeResize="0"/>
          <p:nvPr/>
        </p:nvPicPr>
        <p:blipFill rotWithShape="1">
          <a:blip r:embed="rId3">
            <a:alphaModFix/>
          </a:blip>
          <a:srcRect b="0" l="0" r="0" t="0"/>
          <a:stretch/>
        </p:blipFill>
        <p:spPr>
          <a:xfrm>
            <a:off x="457200" y="1097280"/>
            <a:ext cx="8229600" cy="2867136"/>
          </a:xfrm>
          <a:prstGeom prst="rect">
            <a:avLst/>
          </a:prstGeom>
          <a:noFill/>
          <a:ln>
            <a:noFill/>
          </a:ln>
        </p:spPr>
      </p:pic>
      <p:sp>
        <p:nvSpPr>
          <p:cNvPr id="229" name="Google Shape;229;p5"/>
          <p:cNvSpPr/>
          <p:nvPr/>
        </p:nvSpPr>
        <p:spPr>
          <a:xfrm>
            <a:off x="457200" y="4069080"/>
            <a:ext cx="2606040" cy="457200"/>
          </a:xfrm>
          <a:prstGeom prst="roundRect">
            <a:avLst>
              <a:gd fmla="val 16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5"/>
          <p:cNvSpPr txBox="1"/>
          <p:nvPr/>
        </p:nvSpPr>
        <p:spPr>
          <a:xfrm>
            <a:off x="457200" y="406908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400 points, two turns per arm</a:t>
            </a:r>
            <a:endParaRPr b="0" i="0" sz="1400" u="none" cap="none" strike="noStrike">
              <a:solidFill>
                <a:schemeClr val="dk1"/>
              </a:solidFill>
              <a:latin typeface="Calibri"/>
              <a:ea typeface="Calibri"/>
              <a:cs typeface="Calibri"/>
              <a:sym typeface="Calibri"/>
            </a:endParaRPr>
          </a:p>
        </p:txBody>
      </p:sp>
      <p:sp>
        <p:nvSpPr>
          <p:cNvPr id="231" name="Google Shape;231;p5"/>
          <p:cNvSpPr/>
          <p:nvPr/>
        </p:nvSpPr>
        <p:spPr>
          <a:xfrm>
            <a:off x="3268980" y="4069080"/>
            <a:ext cx="2606040" cy="457200"/>
          </a:xfrm>
          <a:prstGeom prst="roundRect">
            <a:avLst>
              <a:gd fmla="val 16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
          <p:cNvSpPr txBox="1"/>
          <p:nvPr/>
        </p:nvSpPr>
        <p:spPr>
          <a:xfrm>
            <a:off x="3268980" y="406908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Noise standard deviation 0.0125</a:t>
            </a:r>
            <a:endParaRPr b="0" i="0" sz="1400" u="none" cap="none" strike="noStrike">
              <a:solidFill>
                <a:schemeClr val="dk1"/>
              </a:solidFill>
              <a:latin typeface="Calibri"/>
              <a:ea typeface="Calibri"/>
              <a:cs typeface="Calibri"/>
              <a:sym typeface="Calibri"/>
            </a:endParaRPr>
          </a:p>
        </p:txBody>
      </p:sp>
      <p:sp>
        <p:nvSpPr>
          <p:cNvPr id="233" name="Google Shape;233;p5"/>
          <p:cNvSpPr/>
          <p:nvPr/>
        </p:nvSpPr>
        <p:spPr>
          <a:xfrm>
            <a:off x="6080760" y="4069080"/>
            <a:ext cx="2606040" cy="457200"/>
          </a:xfrm>
          <a:prstGeom prst="roundRect">
            <a:avLst>
              <a:gd fmla="val 16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5"/>
          <p:cNvSpPr txBox="1"/>
          <p:nvPr/>
        </p:nvSpPr>
        <p:spPr>
          <a:xfrm>
            <a:off x="6080760" y="4069080"/>
            <a:ext cx="26060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400"/>
              <a:buFont typeface="Calibri"/>
              <a:buNone/>
            </a:pPr>
            <a:r>
              <a:rPr b="1" i="0" lang="en-US" sz="1400" u="none" cap="none" strike="noStrike">
                <a:solidFill>
                  <a:schemeClr val="dk2"/>
                </a:solidFill>
                <a:latin typeface="Calibri"/>
                <a:ea typeface="Calibri"/>
                <a:cs typeface="Calibri"/>
                <a:sym typeface="Calibri"/>
              </a:rPr>
              <a:t>240 / 80 / 80 train / val / test</a:t>
            </a:r>
            <a:endParaRPr b="0" i="0" sz="1400" u="none" cap="none" strike="noStrike">
              <a:solidFill>
                <a:schemeClr val="dk1"/>
              </a:solidFill>
              <a:latin typeface="Calibri"/>
              <a:ea typeface="Calibri"/>
              <a:cs typeface="Calibri"/>
              <a:sym typeface="Calibri"/>
            </a:endParaRPr>
          </a:p>
        </p:txBody>
      </p:sp>
      <p:sp>
        <p:nvSpPr>
          <p:cNvPr id="235" name="Google Shape;235;p5"/>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6"/>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A line cannot separate every point</a:t>
            </a:r>
            <a:endParaRPr b="0" i="0" sz="3000" u="none" cap="none" strike="noStrike">
              <a:solidFill>
                <a:schemeClr val="dk1"/>
              </a:solidFill>
              <a:latin typeface="Calibri"/>
              <a:ea typeface="Calibri"/>
              <a:cs typeface="Calibri"/>
              <a:sym typeface="Calibri"/>
            </a:endParaRPr>
          </a:p>
        </p:txBody>
      </p:sp>
      <p:sp>
        <p:nvSpPr>
          <p:cNvPr id="242" name="Google Shape;242;p6"/>
          <p:cNvSpPr/>
          <p:nvPr/>
        </p:nvSpPr>
        <p:spPr>
          <a:xfrm>
            <a:off x="457200" y="1252728"/>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
          <p:cNvSpPr txBox="1"/>
          <p:nvPr/>
        </p:nvSpPr>
        <p:spPr>
          <a:xfrm>
            <a:off x="457200" y="12527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244" name="Google Shape;244;p6"/>
          <p:cNvSpPr txBox="1"/>
          <p:nvPr/>
        </p:nvSpPr>
        <p:spPr>
          <a:xfrm>
            <a:off x="1097280" y="1188720"/>
            <a:ext cx="42976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A straight-line rule (an affine map) draws a straight boundary</a:t>
            </a:r>
            <a:endParaRPr b="0" i="0" sz="1500" u="none" cap="none" strike="noStrike">
              <a:solidFill>
                <a:schemeClr val="dk1"/>
              </a:solidFill>
              <a:latin typeface="Calibri"/>
              <a:ea typeface="Calibri"/>
              <a:cs typeface="Calibri"/>
              <a:sym typeface="Calibri"/>
            </a:endParaRPr>
          </a:p>
        </p:txBody>
      </p:sp>
      <p:sp>
        <p:nvSpPr>
          <p:cNvPr id="245" name="Google Shape;245;p6"/>
          <p:cNvSpPr/>
          <p:nvPr/>
        </p:nvSpPr>
        <p:spPr>
          <a:xfrm>
            <a:off x="457200" y="1938528"/>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6"/>
          <p:cNvSpPr txBox="1"/>
          <p:nvPr/>
        </p:nvSpPr>
        <p:spPr>
          <a:xfrm>
            <a:off x="457200" y="19385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247" name="Google Shape;247;p6"/>
          <p:cNvSpPr txBox="1"/>
          <p:nvPr/>
        </p:nvSpPr>
        <p:spPr>
          <a:xfrm>
            <a:off x="1097280" y="1874520"/>
            <a:ext cx="42976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Two same-class segments cross each other across classes</a:t>
            </a:r>
            <a:endParaRPr b="0" i="0" sz="1500" u="none" cap="none" strike="noStrike">
              <a:solidFill>
                <a:schemeClr val="dk1"/>
              </a:solidFill>
              <a:latin typeface="Calibri"/>
              <a:ea typeface="Calibri"/>
              <a:cs typeface="Calibri"/>
              <a:sym typeface="Calibri"/>
            </a:endParaRPr>
          </a:p>
        </p:txBody>
      </p:sp>
      <p:sp>
        <p:nvSpPr>
          <p:cNvPr id="248" name="Google Shape;248;p6"/>
          <p:cNvSpPr/>
          <p:nvPr/>
        </p:nvSpPr>
        <p:spPr>
          <a:xfrm>
            <a:off x="457200" y="2624328"/>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6"/>
          <p:cNvSpPr txBox="1"/>
          <p:nvPr/>
        </p:nvSpPr>
        <p:spPr>
          <a:xfrm>
            <a:off x="457200" y="26243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250" name="Google Shape;250;p6"/>
          <p:cNvSpPr txBox="1"/>
          <p:nvPr/>
        </p:nvSpPr>
        <p:spPr>
          <a:xfrm>
            <a:off x="1097280" y="2560320"/>
            <a:ext cx="42976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Our code computes this crossing point exactly, and it lies in both convex hulls</a:t>
            </a:r>
            <a:endParaRPr b="0" i="0" sz="1500" u="none" cap="none" strike="noStrike">
              <a:solidFill>
                <a:schemeClr val="dk1"/>
              </a:solidFill>
              <a:latin typeface="Calibri"/>
              <a:ea typeface="Calibri"/>
              <a:cs typeface="Calibri"/>
              <a:sym typeface="Calibri"/>
            </a:endParaRPr>
          </a:p>
        </p:txBody>
      </p:sp>
      <p:sp>
        <p:nvSpPr>
          <p:cNvPr id="251" name="Google Shape;251;p6"/>
          <p:cNvSpPr/>
          <p:nvPr/>
        </p:nvSpPr>
        <p:spPr>
          <a:xfrm>
            <a:off x="457200" y="3310128"/>
            <a:ext cx="457200" cy="4572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
          <p:cNvSpPr txBox="1"/>
          <p:nvPr/>
        </p:nvSpPr>
        <p:spPr>
          <a:xfrm>
            <a:off x="457200" y="33101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4</a:t>
            </a:r>
            <a:endParaRPr b="0" i="0" sz="1600" u="none" cap="none" strike="noStrike">
              <a:solidFill>
                <a:schemeClr val="dk1"/>
              </a:solidFill>
              <a:latin typeface="Calibri"/>
              <a:ea typeface="Calibri"/>
              <a:cs typeface="Calibri"/>
              <a:sym typeface="Calibri"/>
            </a:endParaRPr>
          </a:p>
        </p:txBody>
      </p:sp>
      <p:sp>
        <p:nvSpPr>
          <p:cNvPr id="253" name="Google Shape;253;p6"/>
          <p:cNvSpPr txBox="1"/>
          <p:nvPr/>
        </p:nvSpPr>
        <p:spPr>
          <a:xfrm>
            <a:off x="1097280" y="3246120"/>
            <a:ext cx="42976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One point cannot take opposite signs, so perfect separation is mathematically impossible</a:t>
            </a:r>
            <a:endParaRPr b="0" i="0" sz="1500" u="none" cap="none" strike="noStrike">
              <a:solidFill>
                <a:schemeClr val="dk1"/>
              </a:solidFill>
              <a:latin typeface="Calibri"/>
              <a:ea typeface="Calibri"/>
              <a:cs typeface="Calibri"/>
              <a:sym typeface="Calibri"/>
            </a:endParaRPr>
          </a:p>
        </p:txBody>
      </p:sp>
      <p:sp>
        <p:nvSpPr>
          <p:cNvPr id="254" name="Google Shape;254;p6"/>
          <p:cNvSpPr/>
          <p:nvPr/>
        </p:nvSpPr>
        <p:spPr>
          <a:xfrm>
            <a:off x="5760720" y="1188720"/>
            <a:ext cx="2926080" cy="2651760"/>
          </a:xfrm>
          <a:prstGeom prst="roundRect">
            <a:avLst>
              <a:gd fmla="val 275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5" name="Google Shape;255;p6"/>
          <p:cNvCxnSpPr/>
          <p:nvPr/>
        </p:nvCxnSpPr>
        <p:spPr>
          <a:xfrm>
            <a:off x="6126480" y="1554480"/>
            <a:ext cx="2194560" cy="1920240"/>
          </a:xfrm>
          <a:prstGeom prst="straightConnector1">
            <a:avLst/>
          </a:prstGeom>
          <a:noFill/>
          <a:ln cap="flat" cmpd="sng" w="38100">
            <a:solidFill>
              <a:srgbClr val="E0604F"/>
            </a:solidFill>
            <a:prstDash val="solid"/>
            <a:round/>
            <a:headEnd len="sm" w="sm" type="none"/>
            <a:tailEnd len="sm" w="sm" type="none"/>
          </a:ln>
        </p:spPr>
      </p:cxnSp>
      <p:cxnSp>
        <p:nvCxnSpPr>
          <p:cNvPr id="256" name="Google Shape;256;p6"/>
          <p:cNvCxnSpPr/>
          <p:nvPr/>
        </p:nvCxnSpPr>
        <p:spPr>
          <a:xfrm flipH="1" rot="10800000">
            <a:off x="6126480" y="1554480"/>
            <a:ext cx="2194560" cy="1920240"/>
          </a:xfrm>
          <a:prstGeom prst="straightConnector1">
            <a:avLst/>
          </a:prstGeom>
          <a:noFill/>
          <a:ln cap="flat" cmpd="sng" w="38100">
            <a:solidFill>
              <a:srgbClr val="5B7FE0"/>
            </a:solidFill>
            <a:prstDash val="solid"/>
            <a:round/>
            <a:headEnd len="sm" w="sm" type="none"/>
            <a:tailEnd len="sm" w="sm" type="none"/>
          </a:ln>
        </p:spPr>
      </p:cxnSp>
      <p:sp>
        <p:nvSpPr>
          <p:cNvPr id="257" name="Google Shape;257;p6"/>
          <p:cNvSpPr/>
          <p:nvPr/>
        </p:nvSpPr>
        <p:spPr>
          <a:xfrm>
            <a:off x="6025896" y="1453896"/>
            <a:ext cx="201168" cy="20116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6"/>
          <p:cNvSpPr/>
          <p:nvPr/>
        </p:nvSpPr>
        <p:spPr>
          <a:xfrm>
            <a:off x="8220456" y="3374136"/>
            <a:ext cx="201168" cy="201168"/>
          </a:xfrm>
          <a:prstGeom prst="ellipse">
            <a:avLst/>
          </a:prstGeom>
          <a:solidFill>
            <a:schemeClr val="accent2"/>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a:off x="6025896" y="3374136"/>
            <a:ext cx="201168" cy="201168"/>
          </a:xfrm>
          <a:prstGeom prst="ellipse">
            <a:avLst/>
          </a:prstGeom>
          <a:solidFill>
            <a:schemeClr val="accent3"/>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6"/>
          <p:cNvSpPr/>
          <p:nvPr/>
        </p:nvSpPr>
        <p:spPr>
          <a:xfrm>
            <a:off x="8220456" y="1453896"/>
            <a:ext cx="201168" cy="201168"/>
          </a:xfrm>
          <a:prstGeom prst="ellipse">
            <a:avLst/>
          </a:prstGeom>
          <a:solidFill>
            <a:schemeClr val="accent3"/>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6"/>
          <p:cNvSpPr/>
          <p:nvPr/>
        </p:nvSpPr>
        <p:spPr>
          <a:xfrm>
            <a:off x="7077456" y="2368296"/>
            <a:ext cx="292608" cy="292608"/>
          </a:xfrm>
          <a:prstGeom prst="ellipse">
            <a:avLst/>
          </a:prstGeom>
          <a:noFill/>
          <a:ln cap="flat" cmpd="sng" w="254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6"/>
          <p:cNvSpPr txBox="1"/>
          <p:nvPr/>
        </p:nvSpPr>
        <p:spPr>
          <a:xfrm>
            <a:off x="7452360" y="2331720"/>
            <a:ext cx="1188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200"/>
              <a:buFont typeface="Calibri"/>
              <a:buNone/>
            </a:pPr>
            <a:r>
              <a:rPr b="1" i="0" lang="en-US" sz="1200" u="none" cap="none" strike="noStrike">
                <a:solidFill>
                  <a:schemeClr val="dk1"/>
                </a:solidFill>
                <a:latin typeface="Calibri"/>
                <a:ea typeface="Calibri"/>
                <a:cs typeface="Calibri"/>
                <a:sym typeface="Calibri"/>
              </a:rPr>
              <a:t>Shared point</a:t>
            </a:r>
            <a:endParaRPr b="0" i="0" sz="1200" u="none" cap="none" strike="noStrike">
              <a:solidFill>
                <a:schemeClr val="dk1"/>
              </a:solidFill>
              <a:latin typeface="Calibri"/>
              <a:ea typeface="Calibri"/>
              <a:cs typeface="Calibri"/>
              <a:sym typeface="Calibri"/>
            </a:endParaRPr>
          </a:p>
        </p:txBody>
      </p:sp>
      <p:sp>
        <p:nvSpPr>
          <p:cNvPr id="263" name="Google Shape;263;p6"/>
          <p:cNvSpPr/>
          <p:nvPr/>
        </p:nvSpPr>
        <p:spPr>
          <a:xfrm>
            <a:off x="457200" y="4023360"/>
            <a:ext cx="8229600" cy="502920"/>
          </a:xfrm>
          <a:prstGeom prst="roundRect">
            <a:avLst>
              <a:gd fmla="val 14545"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6"/>
          <p:cNvSpPr txBox="1"/>
          <p:nvPr/>
        </p:nvSpPr>
        <p:spPr>
          <a:xfrm>
            <a:off x="640080" y="4023360"/>
            <a:ext cx="7863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Impossible perfect separation does not mean a 50% accuracy ceiling</a:t>
            </a:r>
            <a:endParaRPr b="0" i="0" sz="1400" u="none" cap="none" strike="noStrike">
              <a:solidFill>
                <a:schemeClr val="dk1"/>
              </a:solidFill>
              <a:latin typeface="Calibri"/>
              <a:ea typeface="Calibri"/>
              <a:cs typeface="Calibri"/>
              <a:sym typeface="Calibri"/>
            </a:endParaRPr>
          </a:p>
        </p:txBody>
      </p:sp>
      <p:sp>
        <p:nvSpPr>
          <p:cNvPr id="265" name="Google Shape;265;p6"/>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7"/>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A 2-16-16-2 network with 354 parameters</a:t>
            </a:r>
            <a:endParaRPr b="0" i="0" sz="3000" u="none" cap="none" strike="noStrike">
              <a:solidFill>
                <a:schemeClr val="dk1"/>
              </a:solidFill>
              <a:latin typeface="Calibri"/>
              <a:ea typeface="Calibri"/>
              <a:cs typeface="Calibri"/>
              <a:sym typeface="Calibri"/>
            </a:endParaRPr>
          </a:p>
        </p:txBody>
      </p:sp>
      <p:sp>
        <p:nvSpPr>
          <p:cNvPr id="272" name="Google Shape;272;p7"/>
          <p:cNvSpPr/>
          <p:nvPr/>
        </p:nvSpPr>
        <p:spPr>
          <a:xfrm>
            <a:off x="457200" y="1234440"/>
            <a:ext cx="1371600" cy="914400"/>
          </a:xfrm>
          <a:prstGeom prst="roundRect">
            <a:avLst>
              <a:gd fmla="val 8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txBox="1"/>
          <p:nvPr/>
        </p:nvSpPr>
        <p:spPr>
          <a:xfrm>
            <a:off x="457200" y="1234440"/>
            <a:ext cx="1371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Input</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274" name="Google Shape;274;p7"/>
          <p:cNvSpPr/>
          <p:nvPr/>
        </p:nvSpPr>
        <p:spPr>
          <a:xfrm>
            <a:off x="1920240" y="1572768"/>
            <a:ext cx="731520" cy="237744"/>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txBox="1"/>
          <p:nvPr/>
        </p:nvSpPr>
        <p:spPr>
          <a:xfrm>
            <a:off x="1828800" y="1234440"/>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W1: 16 x 2</a:t>
            </a:r>
            <a:endParaRPr b="0" i="0" sz="1200" u="none" cap="none" strike="noStrike">
              <a:solidFill>
                <a:schemeClr val="dk1"/>
              </a:solidFill>
              <a:latin typeface="Calibri"/>
              <a:ea typeface="Calibri"/>
              <a:cs typeface="Calibri"/>
              <a:sym typeface="Calibri"/>
            </a:endParaRPr>
          </a:p>
        </p:txBody>
      </p:sp>
      <p:sp>
        <p:nvSpPr>
          <p:cNvPr id="276" name="Google Shape;276;p7"/>
          <p:cNvSpPr/>
          <p:nvPr/>
        </p:nvSpPr>
        <p:spPr>
          <a:xfrm>
            <a:off x="2743200" y="1234440"/>
            <a:ext cx="1371600" cy="914400"/>
          </a:xfrm>
          <a:prstGeom prst="roundRect">
            <a:avLst>
              <a:gd fmla="val 8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txBox="1"/>
          <p:nvPr/>
        </p:nvSpPr>
        <p:spPr>
          <a:xfrm>
            <a:off x="2743200" y="1234440"/>
            <a:ext cx="1371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Hidden 1</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16, ReLU</a:t>
            </a:r>
            <a:endParaRPr b="0" i="0" sz="1400" u="none" cap="none" strike="noStrike">
              <a:solidFill>
                <a:schemeClr val="dk1"/>
              </a:solidFill>
              <a:latin typeface="Calibri"/>
              <a:ea typeface="Calibri"/>
              <a:cs typeface="Calibri"/>
              <a:sym typeface="Calibri"/>
            </a:endParaRPr>
          </a:p>
        </p:txBody>
      </p:sp>
      <p:sp>
        <p:nvSpPr>
          <p:cNvPr id="278" name="Google Shape;278;p7"/>
          <p:cNvSpPr/>
          <p:nvPr/>
        </p:nvSpPr>
        <p:spPr>
          <a:xfrm>
            <a:off x="4206240" y="1572768"/>
            <a:ext cx="731520" cy="237744"/>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7"/>
          <p:cNvSpPr txBox="1"/>
          <p:nvPr/>
        </p:nvSpPr>
        <p:spPr>
          <a:xfrm>
            <a:off x="4114800" y="1234440"/>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W2: 16 x 16</a:t>
            </a:r>
            <a:endParaRPr b="0" i="0" sz="1200" u="none" cap="none" strike="noStrike">
              <a:solidFill>
                <a:schemeClr val="dk1"/>
              </a:solidFill>
              <a:latin typeface="Calibri"/>
              <a:ea typeface="Calibri"/>
              <a:cs typeface="Calibri"/>
              <a:sym typeface="Calibri"/>
            </a:endParaRPr>
          </a:p>
        </p:txBody>
      </p:sp>
      <p:sp>
        <p:nvSpPr>
          <p:cNvPr id="280" name="Google Shape;280;p7"/>
          <p:cNvSpPr/>
          <p:nvPr/>
        </p:nvSpPr>
        <p:spPr>
          <a:xfrm>
            <a:off x="5029200" y="1234440"/>
            <a:ext cx="1371600" cy="914400"/>
          </a:xfrm>
          <a:prstGeom prst="roundRect">
            <a:avLst>
              <a:gd fmla="val 8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7"/>
          <p:cNvSpPr txBox="1"/>
          <p:nvPr/>
        </p:nvSpPr>
        <p:spPr>
          <a:xfrm>
            <a:off x="5029200" y="1234440"/>
            <a:ext cx="1371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Hidden 2</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16, ReLU</a:t>
            </a:r>
            <a:endParaRPr b="0" i="0" sz="1400" u="none" cap="none" strike="noStrike">
              <a:solidFill>
                <a:schemeClr val="dk1"/>
              </a:solidFill>
              <a:latin typeface="Calibri"/>
              <a:ea typeface="Calibri"/>
              <a:cs typeface="Calibri"/>
              <a:sym typeface="Calibri"/>
            </a:endParaRPr>
          </a:p>
        </p:txBody>
      </p:sp>
      <p:sp>
        <p:nvSpPr>
          <p:cNvPr id="282" name="Google Shape;282;p7"/>
          <p:cNvSpPr/>
          <p:nvPr/>
        </p:nvSpPr>
        <p:spPr>
          <a:xfrm>
            <a:off x="6492240" y="1572768"/>
            <a:ext cx="731520" cy="237744"/>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txBox="1"/>
          <p:nvPr/>
        </p:nvSpPr>
        <p:spPr>
          <a:xfrm>
            <a:off x="6400800" y="1234440"/>
            <a:ext cx="914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1200"/>
              <a:buFont typeface="Calibri"/>
              <a:buNone/>
            </a:pPr>
            <a:r>
              <a:rPr b="1" i="0" lang="en-US" sz="1200" u="none" cap="none" strike="noStrike">
                <a:solidFill>
                  <a:schemeClr val="accent1"/>
                </a:solidFill>
                <a:latin typeface="Calibri"/>
                <a:ea typeface="Calibri"/>
                <a:cs typeface="Calibri"/>
                <a:sym typeface="Calibri"/>
              </a:rPr>
              <a:t>W3: 2 x 16</a:t>
            </a:r>
            <a:endParaRPr b="0" i="0" sz="1200" u="none" cap="none" strike="noStrike">
              <a:solidFill>
                <a:schemeClr val="dk1"/>
              </a:solidFill>
              <a:latin typeface="Calibri"/>
              <a:ea typeface="Calibri"/>
              <a:cs typeface="Calibri"/>
              <a:sym typeface="Calibri"/>
            </a:endParaRPr>
          </a:p>
        </p:txBody>
      </p:sp>
      <p:sp>
        <p:nvSpPr>
          <p:cNvPr id="284" name="Google Shape;284;p7"/>
          <p:cNvSpPr/>
          <p:nvPr/>
        </p:nvSpPr>
        <p:spPr>
          <a:xfrm>
            <a:off x="7315200" y="1234440"/>
            <a:ext cx="1371600" cy="914400"/>
          </a:xfrm>
          <a:prstGeom prst="roundRect">
            <a:avLst>
              <a:gd fmla="val 8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7"/>
          <p:cNvSpPr txBox="1"/>
          <p:nvPr/>
        </p:nvSpPr>
        <p:spPr>
          <a:xfrm>
            <a:off x="7315200" y="1234440"/>
            <a:ext cx="13716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Output</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chemeClr val="lt1"/>
              </a:buClr>
              <a:buSzPts val="1300"/>
              <a:buFont typeface="Calibri"/>
              <a:buNone/>
            </a:pPr>
            <a:r>
              <a:rPr b="0" i="0" lang="en-US" sz="1300" u="none" cap="none" strike="noStrike">
                <a:solidFill>
                  <a:schemeClr val="lt1"/>
                </a:solidFill>
                <a:latin typeface="Calibri"/>
                <a:ea typeface="Calibri"/>
                <a:cs typeface="Calibri"/>
                <a:sym typeface="Calibri"/>
              </a:rPr>
              <a:t>2, softmax</a:t>
            </a:r>
            <a:endParaRPr b="0" i="0" sz="1400" u="none" cap="none" strike="noStrike">
              <a:solidFill>
                <a:schemeClr val="dk1"/>
              </a:solidFill>
              <a:latin typeface="Calibri"/>
              <a:ea typeface="Calibri"/>
              <a:cs typeface="Calibri"/>
              <a:sym typeface="Calibri"/>
            </a:endParaRPr>
          </a:p>
        </p:txBody>
      </p:sp>
      <p:sp>
        <p:nvSpPr>
          <p:cNvPr id="286" name="Google Shape;286;p7"/>
          <p:cNvSpPr txBox="1"/>
          <p:nvPr/>
        </p:nvSpPr>
        <p:spPr>
          <a:xfrm>
            <a:off x="457200" y="219456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1300"/>
              <a:buFont typeface="Calibri"/>
              <a:buNone/>
            </a:pPr>
            <a:r>
              <a:rPr b="1" i="0" lang="en-US" sz="1300" u="none" cap="none" strike="noStrike">
                <a:solidFill>
                  <a:schemeClr val="accent1"/>
                </a:solidFill>
                <a:latin typeface="Calibri"/>
                <a:ea typeface="Calibri"/>
                <a:cs typeface="Calibri"/>
                <a:sym typeface="Calibri"/>
              </a:rPr>
              <a:t>Weights are adjustable dials, biases are shifts, and ReLU is a switch that bends the line.</a:t>
            </a:r>
            <a:endParaRPr b="0" i="0" sz="1300" u="none" cap="none" strike="noStrike">
              <a:solidFill>
                <a:schemeClr val="dk1"/>
              </a:solidFill>
              <a:latin typeface="Calibri"/>
              <a:ea typeface="Calibri"/>
              <a:cs typeface="Calibri"/>
              <a:sym typeface="Calibri"/>
            </a:endParaRPr>
          </a:p>
        </p:txBody>
      </p:sp>
      <p:graphicFrame>
        <p:nvGraphicFramePr>
          <p:cNvPr id="287" name="Google Shape;287;p7"/>
          <p:cNvGraphicFramePr/>
          <p:nvPr/>
        </p:nvGraphicFramePr>
        <p:xfrm>
          <a:off x="457200" y="2651760"/>
          <a:ext cx="3000000" cy="3000000"/>
        </p:xfrm>
        <a:graphic>
          <a:graphicData uri="http://schemas.openxmlformats.org/drawingml/2006/table">
            <a:tbl>
              <a:tblPr>
                <a:noFill/>
                <a:tableStyleId>{66403661-BDB2-423B-B92A-0399C7348F8E}</a:tableStyleId>
              </a:tblPr>
              <a:tblGrid>
                <a:gridCol w="3017525"/>
                <a:gridCol w="1828800"/>
                <a:gridCol w="1828800"/>
                <a:gridCol w="1554475"/>
              </a:tblGrid>
              <a:tr h="36575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Map</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Weights</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Biases</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Parameters</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r>
              <a:tr h="365750">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Input to hidden 1</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16 x 2</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16 x 1</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48</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Hidden 1 to hidden 2</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16 x 16</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16 x 1</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272</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Hidden 2 to output</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2 x 16</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2 x 1</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6231F"/>
                        </a:buClr>
                        <a:buSzPts val="1300"/>
                        <a:buFont typeface="Calibri"/>
                        <a:buNone/>
                      </a:pPr>
                      <a:r>
                        <a:rPr lang="en-US" sz="1300" u="none" cap="none" strike="noStrike">
                          <a:solidFill>
                            <a:srgbClr val="16231F"/>
                          </a:solidFill>
                        </a:rPr>
                        <a:t>34</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6231F"/>
                        </a:buClr>
                        <a:buSzPts val="1300"/>
                        <a:buFont typeface="Calibri"/>
                        <a:buNone/>
                      </a:pPr>
                      <a:r>
                        <a:rPr b="1" lang="en-US" sz="1300" u="none" cap="none" strike="noStrike">
                          <a:solidFill>
                            <a:srgbClr val="16231F"/>
                          </a:solidFill>
                        </a:rPr>
                        <a:t>Total</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c>
                  <a:txBody>
                    <a:bodyPr/>
                    <a:lstStyle/>
                    <a:p>
                      <a:pPr indent="0" lvl="0" marL="0" marR="0" rtl="0" algn="l">
                        <a:spcBef>
                          <a:spcPts val="0"/>
                        </a:spcBef>
                        <a:spcAft>
                          <a:spcPts val="0"/>
                        </a:spcAft>
                        <a:buClr>
                          <a:srgbClr val="16231F"/>
                        </a:buClr>
                        <a:buSzPts val="1300"/>
                        <a:buFont typeface="Calibri"/>
                        <a:buNone/>
                      </a:pPr>
                      <a:r>
                        <a:rPr b="1" lang="en-US" sz="1300" u="none" cap="none" strike="noStrike">
                          <a:solidFill>
                            <a:srgbClr val="16231F"/>
                          </a:solidFill>
                        </a:rPr>
                        <a:t>320 entries</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c>
                  <a:txBody>
                    <a:bodyPr/>
                    <a:lstStyle/>
                    <a:p>
                      <a:pPr indent="0" lvl="0" marL="0" marR="0" rtl="0" algn="l">
                        <a:spcBef>
                          <a:spcPts val="0"/>
                        </a:spcBef>
                        <a:spcAft>
                          <a:spcPts val="0"/>
                        </a:spcAft>
                        <a:buClr>
                          <a:srgbClr val="16231F"/>
                        </a:buClr>
                        <a:buSzPts val="1300"/>
                        <a:buFont typeface="Calibri"/>
                        <a:buNone/>
                      </a:pPr>
                      <a:r>
                        <a:rPr b="1" lang="en-US" sz="1300" u="none" cap="none" strike="noStrike">
                          <a:solidFill>
                            <a:srgbClr val="16231F"/>
                          </a:solidFill>
                        </a:rPr>
                        <a:t>34 entries</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c>
                  <a:txBody>
                    <a:bodyPr/>
                    <a:lstStyle/>
                    <a:p>
                      <a:pPr indent="0" lvl="0" marL="0" marR="0" rtl="0" algn="l">
                        <a:spcBef>
                          <a:spcPts val="0"/>
                        </a:spcBef>
                        <a:spcAft>
                          <a:spcPts val="0"/>
                        </a:spcAft>
                        <a:buClr>
                          <a:srgbClr val="16231F"/>
                        </a:buClr>
                        <a:buSzPts val="1300"/>
                        <a:buFont typeface="Calibri"/>
                        <a:buNone/>
                      </a:pPr>
                      <a:r>
                        <a:rPr b="1" lang="en-US" sz="1300" u="none" cap="none" strike="noStrike">
                          <a:solidFill>
                            <a:srgbClr val="16231F"/>
                          </a:solidFill>
                        </a:rPr>
                        <a:t>354</a:t>
                      </a:r>
                      <a:endParaRPr sz="1300" u="none" cap="none" strike="noStrike"/>
                    </a:p>
                  </a:txBody>
                  <a:tcPr marT="0" marB="0" marR="91450" marL="914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r>
            </a:tbl>
          </a:graphicData>
        </a:graphic>
      </p:graphicFrame>
      <p:sp>
        <p:nvSpPr>
          <p:cNvPr id="288" name="Google Shape;288;p7"/>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8"/>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How data flows through the network</a:t>
            </a:r>
            <a:endParaRPr b="0" i="0" sz="3000" u="none" cap="none" strike="noStrike">
              <a:solidFill>
                <a:schemeClr val="dk1"/>
              </a:solidFill>
              <a:latin typeface="Calibri"/>
              <a:ea typeface="Calibri"/>
              <a:cs typeface="Calibri"/>
              <a:sym typeface="Calibri"/>
            </a:endParaRPr>
          </a:p>
        </p:txBody>
      </p:sp>
      <p:sp>
        <p:nvSpPr>
          <p:cNvPr id="295" name="Google Shape;295;p8"/>
          <p:cNvSpPr/>
          <p:nvPr/>
        </p:nvSpPr>
        <p:spPr>
          <a:xfrm>
            <a:off x="457200" y="1188720"/>
            <a:ext cx="1828800" cy="1783080"/>
          </a:xfrm>
          <a:prstGeom prst="roundRect">
            <a:avLst>
              <a:gd fmla="val 410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txBox="1"/>
          <p:nvPr/>
        </p:nvSpPr>
        <p:spPr>
          <a:xfrm>
            <a:off x="594360" y="128016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700"/>
              <a:buFont typeface="Calibri"/>
              <a:buNone/>
            </a:pPr>
            <a:r>
              <a:rPr b="1" i="0" lang="en-US" sz="1700" u="none" cap="none" strike="noStrike">
                <a:solidFill>
                  <a:schemeClr val="lt1"/>
                </a:solidFill>
                <a:latin typeface="Calibri"/>
                <a:ea typeface="Calibri"/>
                <a:cs typeface="Calibri"/>
                <a:sym typeface="Calibri"/>
              </a:rPr>
              <a:t>Multiply</a:t>
            </a:r>
            <a:endParaRPr b="0" i="0" sz="1700" u="none" cap="none" strike="noStrike">
              <a:solidFill>
                <a:schemeClr val="dk1"/>
              </a:solidFill>
              <a:latin typeface="Calibri"/>
              <a:ea typeface="Calibri"/>
              <a:cs typeface="Calibri"/>
              <a:sym typeface="Calibri"/>
            </a:endParaRPr>
          </a:p>
        </p:txBody>
      </p:sp>
      <p:sp>
        <p:nvSpPr>
          <p:cNvPr id="297" name="Google Shape;297;p8"/>
          <p:cNvSpPr txBox="1"/>
          <p:nvPr/>
        </p:nvSpPr>
        <p:spPr>
          <a:xfrm>
            <a:off x="594360" y="1783080"/>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Weights are dials: how much each input counts</a:t>
            </a:r>
            <a:endParaRPr b="0" i="0" sz="1400" u="none" cap="none" strike="noStrike">
              <a:solidFill>
                <a:schemeClr val="dk1"/>
              </a:solidFill>
              <a:latin typeface="Calibri"/>
              <a:ea typeface="Calibri"/>
              <a:cs typeface="Calibri"/>
              <a:sym typeface="Calibri"/>
            </a:endParaRPr>
          </a:p>
        </p:txBody>
      </p:sp>
      <p:sp>
        <p:nvSpPr>
          <p:cNvPr id="298" name="Google Shape;298;p8"/>
          <p:cNvSpPr/>
          <p:nvPr/>
        </p:nvSpPr>
        <p:spPr>
          <a:xfrm>
            <a:off x="2322576" y="1920240"/>
            <a:ext cx="228600" cy="27432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p:nvPr/>
        </p:nvSpPr>
        <p:spPr>
          <a:xfrm>
            <a:off x="2590495" y="1188720"/>
            <a:ext cx="1828800" cy="1783080"/>
          </a:xfrm>
          <a:prstGeom prst="roundRect">
            <a:avLst>
              <a:gd fmla="val 410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8"/>
          <p:cNvSpPr txBox="1"/>
          <p:nvPr/>
        </p:nvSpPr>
        <p:spPr>
          <a:xfrm>
            <a:off x="2727655" y="128016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700"/>
              <a:buFont typeface="Calibri"/>
              <a:buNone/>
            </a:pPr>
            <a:r>
              <a:rPr b="1" i="0" lang="en-US" sz="1700" u="none" cap="none" strike="noStrike">
                <a:solidFill>
                  <a:schemeClr val="lt1"/>
                </a:solidFill>
                <a:latin typeface="Calibri"/>
                <a:ea typeface="Calibri"/>
                <a:cs typeface="Calibri"/>
                <a:sym typeface="Calibri"/>
              </a:rPr>
              <a:t>Add</a:t>
            </a:r>
            <a:endParaRPr b="0" i="0" sz="1700" u="none" cap="none" strike="noStrike">
              <a:solidFill>
                <a:schemeClr val="dk1"/>
              </a:solidFill>
              <a:latin typeface="Calibri"/>
              <a:ea typeface="Calibri"/>
              <a:cs typeface="Calibri"/>
              <a:sym typeface="Calibri"/>
            </a:endParaRPr>
          </a:p>
        </p:txBody>
      </p:sp>
      <p:sp>
        <p:nvSpPr>
          <p:cNvPr id="301" name="Google Shape;301;p8"/>
          <p:cNvSpPr txBox="1"/>
          <p:nvPr/>
        </p:nvSpPr>
        <p:spPr>
          <a:xfrm>
            <a:off x="2727655" y="1783080"/>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A bias is a shift added to the result</a:t>
            </a:r>
            <a:endParaRPr b="0" i="0" sz="1400" u="none" cap="none" strike="noStrike">
              <a:solidFill>
                <a:schemeClr val="dk1"/>
              </a:solidFill>
              <a:latin typeface="Calibri"/>
              <a:ea typeface="Calibri"/>
              <a:cs typeface="Calibri"/>
              <a:sym typeface="Calibri"/>
            </a:endParaRPr>
          </a:p>
        </p:txBody>
      </p:sp>
      <p:sp>
        <p:nvSpPr>
          <p:cNvPr id="302" name="Google Shape;302;p8"/>
          <p:cNvSpPr/>
          <p:nvPr/>
        </p:nvSpPr>
        <p:spPr>
          <a:xfrm>
            <a:off x="4455871" y="1920240"/>
            <a:ext cx="228600" cy="27432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8"/>
          <p:cNvSpPr/>
          <p:nvPr/>
        </p:nvSpPr>
        <p:spPr>
          <a:xfrm>
            <a:off x="4723790" y="1188720"/>
            <a:ext cx="1828800" cy="1783080"/>
          </a:xfrm>
          <a:prstGeom prst="roundRect">
            <a:avLst>
              <a:gd fmla="val 4103"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8"/>
          <p:cNvSpPr txBox="1"/>
          <p:nvPr/>
        </p:nvSpPr>
        <p:spPr>
          <a:xfrm>
            <a:off x="4860950" y="128016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700"/>
              <a:buFont typeface="Calibri"/>
              <a:buNone/>
            </a:pPr>
            <a:r>
              <a:rPr b="1" i="0" lang="en-US" sz="1700" u="none" cap="none" strike="noStrike">
                <a:solidFill>
                  <a:schemeClr val="lt1"/>
                </a:solidFill>
                <a:latin typeface="Calibri"/>
                <a:ea typeface="Calibri"/>
                <a:cs typeface="Calibri"/>
                <a:sym typeface="Calibri"/>
              </a:rPr>
              <a:t>Bend (ReLU)</a:t>
            </a:r>
            <a:endParaRPr b="0" i="0" sz="1700" u="none" cap="none" strike="noStrike">
              <a:solidFill>
                <a:schemeClr val="dk1"/>
              </a:solidFill>
              <a:latin typeface="Calibri"/>
              <a:ea typeface="Calibri"/>
              <a:cs typeface="Calibri"/>
              <a:sym typeface="Calibri"/>
            </a:endParaRPr>
          </a:p>
        </p:txBody>
      </p:sp>
      <p:sp>
        <p:nvSpPr>
          <p:cNvPr id="305" name="Google Shape;305;p8"/>
          <p:cNvSpPr txBox="1"/>
          <p:nvPr/>
        </p:nvSpPr>
        <p:spPr>
          <a:xfrm>
            <a:off x="4860950" y="1783080"/>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A switch: keeps positives, zeroes negatives</a:t>
            </a:r>
            <a:endParaRPr b="0" i="0" sz="1400" u="none" cap="none" strike="noStrike">
              <a:solidFill>
                <a:schemeClr val="dk1"/>
              </a:solidFill>
              <a:latin typeface="Calibri"/>
              <a:ea typeface="Calibri"/>
              <a:cs typeface="Calibri"/>
              <a:sym typeface="Calibri"/>
            </a:endParaRPr>
          </a:p>
        </p:txBody>
      </p:sp>
      <p:sp>
        <p:nvSpPr>
          <p:cNvPr id="306" name="Google Shape;306;p8"/>
          <p:cNvSpPr/>
          <p:nvPr/>
        </p:nvSpPr>
        <p:spPr>
          <a:xfrm>
            <a:off x="6589166" y="1920240"/>
            <a:ext cx="228600" cy="274320"/>
          </a:xfrm>
          <a:prstGeom prst="rightArrow">
            <a:avLst>
              <a:gd fmla="val 50000" name="adj1"/>
              <a:gd fmla="val 50000" name="adj2"/>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
          <p:cNvSpPr/>
          <p:nvPr/>
        </p:nvSpPr>
        <p:spPr>
          <a:xfrm>
            <a:off x="6857086" y="1188720"/>
            <a:ext cx="1828800" cy="1783080"/>
          </a:xfrm>
          <a:prstGeom prst="roundRect">
            <a:avLst>
              <a:gd fmla="val 410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txBox="1"/>
          <p:nvPr/>
        </p:nvSpPr>
        <p:spPr>
          <a:xfrm>
            <a:off x="6994246" y="1280160"/>
            <a:ext cx="1554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700"/>
              <a:buFont typeface="Calibri"/>
              <a:buNone/>
            </a:pPr>
            <a:r>
              <a:rPr b="1" i="0" lang="en-US" sz="1700" u="none" cap="none" strike="noStrike">
                <a:solidFill>
                  <a:schemeClr val="lt1"/>
                </a:solidFill>
                <a:latin typeface="Calibri"/>
                <a:ea typeface="Calibri"/>
                <a:cs typeface="Calibri"/>
                <a:sym typeface="Calibri"/>
              </a:rPr>
              <a:t>Decide</a:t>
            </a:r>
            <a:endParaRPr b="0" i="0" sz="1700" u="none" cap="none" strike="noStrike">
              <a:solidFill>
                <a:schemeClr val="dk1"/>
              </a:solidFill>
              <a:latin typeface="Calibri"/>
              <a:ea typeface="Calibri"/>
              <a:cs typeface="Calibri"/>
              <a:sym typeface="Calibri"/>
            </a:endParaRPr>
          </a:p>
        </p:txBody>
      </p:sp>
      <p:sp>
        <p:nvSpPr>
          <p:cNvPr id="309" name="Google Shape;309;p8"/>
          <p:cNvSpPr txBox="1"/>
          <p:nvPr/>
        </p:nvSpPr>
        <p:spPr>
          <a:xfrm>
            <a:off x="6994246" y="1783080"/>
            <a:ext cx="155448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Softmax turns scores into percentages</a:t>
            </a:r>
            <a:endParaRPr b="0" i="0" sz="1400" u="none" cap="none" strike="noStrike">
              <a:solidFill>
                <a:schemeClr val="dk1"/>
              </a:solidFill>
              <a:latin typeface="Calibri"/>
              <a:ea typeface="Calibri"/>
              <a:cs typeface="Calibri"/>
              <a:sym typeface="Calibri"/>
            </a:endParaRPr>
          </a:p>
        </p:txBody>
      </p:sp>
      <p:sp>
        <p:nvSpPr>
          <p:cNvPr id="310" name="Google Shape;310;p8"/>
          <p:cNvSpPr/>
          <p:nvPr/>
        </p:nvSpPr>
        <p:spPr>
          <a:xfrm>
            <a:off x="457200" y="3200400"/>
            <a:ext cx="8229600" cy="1280160"/>
          </a:xfrm>
          <a:prstGeom prst="roundRect">
            <a:avLst>
              <a:gd fmla="val 571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txBox="1"/>
          <p:nvPr/>
        </p:nvSpPr>
        <p:spPr>
          <a:xfrm>
            <a:off x="640080" y="3200400"/>
            <a:ext cx="786384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700"/>
              <a:buFont typeface="Calibri"/>
              <a:buNone/>
            </a:pPr>
            <a:r>
              <a:rPr b="1" i="0" lang="en-US" sz="1700" u="none" cap="none" strike="noStrike">
                <a:solidFill>
                  <a:schemeClr val="accent2"/>
                </a:solidFill>
                <a:latin typeface="Calibri"/>
                <a:ea typeface="Calibri"/>
                <a:cs typeface="Calibri"/>
                <a:sym typeface="Calibri"/>
              </a:rPr>
              <a:t>Why ReLU matters</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Without it, all the layers collapse into one straight line. With it, the line can bend and wind.</a:t>
            </a:r>
            <a:endParaRPr b="0" i="0" sz="1500" u="none" cap="none" strike="noStrike">
              <a:solidFill>
                <a:schemeClr val="dk1"/>
              </a:solidFill>
              <a:latin typeface="Calibri"/>
              <a:ea typeface="Calibri"/>
              <a:cs typeface="Calibri"/>
              <a:sym typeface="Calibri"/>
            </a:endParaRPr>
          </a:p>
        </p:txBody>
      </p:sp>
      <p:sp>
        <p:nvSpPr>
          <p:cNvPr id="312" name="Google Shape;312;p8"/>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9"/>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How the network learns</a:t>
            </a:r>
            <a:endParaRPr b="0" i="0" sz="3000" u="none" cap="none" strike="noStrike">
              <a:solidFill>
                <a:schemeClr val="dk1"/>
              </a:solidFill>
              <a:latin typeface="Calibri"/>
              <a:ea typeface="Calibri"/>
              <a:cs typeface="Calibri"/>
              <a:sym typeface="Calibri"/>
            </a:endParaRPr>
          </a:p>
        </p:txBody>
      </p:sp>
      <p:sp>
        <p:nvSpPr>
          <p:cNvPr id="319" name="Google Shape;319;p9"/>
          <p:cNvSpPr/>
          <p:nvPr/>
        </p:nvSpPr>
        <p:spPr>
          <a:xfrm>
            <a:off x="457200" y="1188720"/>
            <a:ext cx="4023360" cy="1280160"/>
          </a:xfrm>
          <a:prstGeom prst="roundRect">
            <a:avLst>
              <a:gd fmla="val 571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685800" y="1572768"/>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txBox="1"/>
          <p:nvPr/>
        </p:nvSpPr>
        <p:spPr>
          <a:xfrm>
            <a:off x="685800" y="157276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322" name="Google Shape;322;p9"/>
          <p:cNvSpPr txBox="1"/>
          <p:nvPr/>
        </p:nvSpPr>
        <p:spPr>
          <a:xfrm>
            <a:off x="1371600" y="1371600"/>
            <a:ext cx="2971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Measure the error</a:t>
            </a:r>
            <a:endParaRPr b="0" i="0" sz="1700" u="none" cap="none" strike="noStrike">
              <a:solidFill>
                <a:schemeClr val="dk1"/>
              </a:solidFill>
              <a:latin typeface="Calibri"/>
              <a:ea typeface="Calibri"/>
              <a:cs typeface="Calibri"/>
              <a:sym typeface="Calibri"/>
            </a:endParaRPr>
          </a:p>
        </p:txBody>
      </p:sp>
      <p:sp>
        <p:nvSpPr>
          <p:cNvPr id="323" name="Google Shape;323;p9"/>
          <p:cNvSpPr txBox="1"/>
          <p:nvPr/>
        </p:nvSpPr>
        <p:spPr>
          <a:xfrm>
            <a:off x="1371600" y="1783080"/>
            <a:ext cx="29718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Compare the prediction with the true class</a:t>
            </a:r>
            <a:endParaRPr b="0" i="0" sz="1400" u="none" cap="none" strike="noStrike">
              <a:solidFill>
                <a:schemeClr val="dk1"/>
              </a:solidFill>
              <a:latin typeface="Calibri"/>
              <a:ea typeface="Calibri"/>
              <a:cs typeface="Calibri"/>
              <a:sym typeface="Calibri"/>
            </a:endParaRPr>
          </a:p>
        </p:txBody>
      </p:sp>
      <p:sp>
        <p:nvSpPr>
          <p:cNvPr id="324" name="Google Shape;324;p9"/>
          <p:cNvSpPr/>
          <p:nvPr/>
        </p:nvSpPr>
        <p:spPr>
          <a:xfrm>
            <a:off x="4663440" y="1188720"/>
            <a:ext cx="4023360" cy="1280160"/>
          </a:xfrm>
          <a:prstGeom prst="roundRect">
            <a:avLst>
              <a:gd fmla="val 571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4892040" y="1572768"/>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txBox="1"/>
          <p:nvPr/>
        </p:nvSpPr>
        <p:spPr>
          <a:xfrm>
            <a:off x="4892040" y="157276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327" name="Google Shape;327;p9"/>
          <p:cNvSpPr txBox="1"/>
          <p:nvPr/>
        </p:nvSpPr>
        <p:spPr>
          <a:xfrm>
            <a:off x="5577840" y="1371600"/>
            <a:ext cx="2971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Send it backwards</a:t>
            </a:r>
            <a:endParaRPr b="0" i="0" sz="1700" u="none" cap="none" strike="noStrike">
              <a:solidFill>
                <a:schemeClr val="dk1"/>
              </a:solidFill>
              <a:latin typeface="Calibri"/>
              <a:ea typeface="Calibri"/>
              <a:cs typeface="Calibri"/>
              <a:sym typeface="Calibri"/>
            </a:endParaRPr>
          </a:p>
        </p:txBody>
      </p:sp>
      <p:sp>
        <p:nvSpPr>
          <p:cNvPr id="328" name="Google Shape;328;p9"/>
          <p:cNvSpPr txBox="1"/>
          <p:nvPr/>
        </p:nvSpPr>
        <p:spPr>
          <a:xfrm>
            <a:off x="5577840" y="1783080"/>
            <a:ext cx="29718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Each layer learns how much it contributed</a:t>
            </a:r>
            <a:endParaRPr b="0" i="0" sz="1400" u="none" cap="none" strike="noStrike">
              <a:solidFill>
                <a:schemeClr val="dk1"/>
              </a:solidFill>
              <a:latin typeface="Calibri"/>
              <a:ea typeface="Calibri"/>
              <a:cs typeface="Calibri"/>
              <a:sym typeface="Calibri"/>
            </a:endParaRPr>
          </a:p>
        </p:txBody>
      </p:sp>
      <p:sp>
        <p:nvSpPr>
          <p:cNvPr id="329" name="Google Shape;329;p9"/>
          <p:cNvSpPr/>
          <p:nvPr/>
        </p:nvSpPr>
        <p:spPr>
          <a:xfrm>
            <a:off x="457200" y="2651760"/>
            <a:ext cx="4023360" cy="1280160"/>
          </a:xfrm>
          <a:prstGeom prst="roundRect">
            <a:avLst>
              <a:gd fmla="val 571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9"/>
          <p:cNvSpPr/>
          <p:nvPr/>
        </p:nvSpPr>
        <p:spPr>
          <a:xfrm>
            <a:off x="685800" y="3035808"/>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9"/>
          <p:cNvSpPr txBox="1"/>
          <p:nvPr/>
        </p:nvSpPr>
        <p:spPr>
          <a:xfrm>
            <a:off x="685800" y="30358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332" name="Google Shape;332;p9"/>
          <p:cNvSpPr txBox="1"/>
          <p:nvPr/>
        </p:nvSpPr>
        <p:spPr>
          <a:xfrm>
            <a:off x="1371600" y="2834640"/>
            <a:ext cx="2971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Work out the nudge</a:t>
            </a:r>
            <a:endParaRPr b="0" i="0" sz="1700" u="none" cap="none" strike="noStrike">
              <a:solidFill>
                <a:schemeClr val="dk1"/>
              </a:solidFill>
              <a:latin typeface="Calibri"/>
              <a:ea typeface="Calibri"/>
              <a:cs typeface="Calibri"/>
              <a:sym typeface="Calibri"/>
            </a:endParaRPr>
          </a:p>
        </p:txBody>
      </p:sp>
      <p:sp>
        <p:nvSpPr>
          <p:cNvPr id="333" name="Google Shape;333;p9"/>
          <p:cNvSpPr txBox="1"/>
          <p:nvPr/>
        </p:nvSpPr>
        <p:spPr>
          <a:xfrm>
            <a:off x="1371600" y="3246120"/>
            <a:ext cx="29718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Every weight gets a small correction</a:t>
            </a:r>
            <a:endParaRPr b="0" i="0" sz="1400" u="none" cap="none" strike="noStrike">
              <a:solidFill>
                <a:schemeClr val="dk1"/>
              </a:solidFill>
              <a:latin typeface="Calibri"/>
              <a:ea typeface="Calibri"/>
              <a:cs typeface="Calibri"/>
              <a:sym typeface="Calibri"/>
            </a:endParaRPr>
          </a:p>
        </p:txBody>
      </p:sp>
      <p:sp>
        <p:nvSpPr>
          <p:cNvPr id="334" name="Google Shape;334;p9"/>
          <p:cNvSpPr/>
          <p:nvPr/>
        </p:nvSpPr>
        <p:spPr>
          <a:xfrm>
            <a:off x="4663440" y="2651760"/>
            <a:ext cx="4023360" cy="1280160"/>
          </a:xfrm>
          <a:prstGeom prst="roundRect">
            <a:avLst>
              <a:gd fmla="val 571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9"/>
          <p:cNvSpPr/>
          <p:nvPr/>
        </p:nvSpPr>
        <p:spPr>
          <a:xfrm>
            <a:off x="4892040" y="3035808"/>
            <a:ext cx="502920" cy="50292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9"/>
          <p:cNvSpPr txBox="1"/>
          <p:nvPr/>
        </p:nvSpPr>
        <p:spPr>
          <a:xfrm>
            <a:off x="4892040" y="3035808"/>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337" name="Google Shape;337;p9"/>
          <p:cNvSpPr txBox="1"/>
          <p:nvPr/>
        </p:nvSpPr>
        <p:spPr>
          <a:xfrm>
            <a:off x="5577840" y="2834640"/>
            <a:ext cx="2971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700"/>
              <a:buFont typeface="Calibri"/>
              <a:buNone/>
            </a:pPr>
            <a:r>
              <a:rPr b="1" i="0" lang="en-US" sz="1700" u="none" cap="none" strike="noStrike">
                <a:solidFill>
                  <a:schemeClr val="dk2"/>
                </a:solidFill>
                <a:latin typeface="Calibri"/>
                <a:ea typeface="Calibri"/>
                <a:cs typeface="Calibri"/>
                <a:sym typeface="Calibri"/>
              </a:rPr>
              <a:t>Update and repeat</a:t>
            </a:r>
            <a:endParaRPr b="0" i="0" sz="1700" u="none" cap="none" strike="noStrike">
              <a:solidFill>
                <a:schemeClr val="dk1"/>
              </a:solidFill>
              <a:latin typeface="Calibri"/>
              <a:ea typeface="Calibri"/>
              <a:cs typeface="Calibri"/>
              <a:sym typeface="Calibri"/>
            </a:endParaRPr>
          </a:p>
        </p:txBody>
      </p:sp>
      <p:sp>
        <p:nvSpPr>
          <p:cNvPr id="338" name="Google Shape;338;p9"/>
          <p:cNvSpPr txBox="1"/>
          <p:nvPr/>
        </p:nvSpPr>
        <p:spPr>
          <a:xfrm>
            <a:off x="5577840" y="3246120"/>
            <a:ext cx="29718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12,000 rounds of small steps</a:t>
            </a:r>
            <a:endParaRPr b="0" i="0" sz="1400" u="none" cap="none" strike="noStrike">
              <a:solidFill>
                <a:schemeClr val="dk1"/>
              </a:solidFill>
              <a:latin typeface="Calibri"/>
              <a:ea typeface="Calibri"/>
              <a:cs typeface="Calibri"/>
              <a:sym typeface="Calibri"/>
            </a:endParaRPr>
          </a:p>
        </p:txBody>
      </p:sp>
      <p:sp>
        <p:nvSpPr>
          <p:cNvPr id="339" name="Google Shape;339;p9"/>
          <p:cNvSpPr/>
          <p:nvPr/>
        </p:nvSpPr>
        <p:spPr>
          <a:xfrm>
            <a:off x="457200" y="4069080"/>
            <a:ext cx="8229600" cy="457200"/>
          </a:xfrm>
          <a:prstGeom prst="roundRect">
            <a:avLst>
              <a:gd fmla="val 160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9"/>
          <p:cNvSpPr txBox="1"/>
          <p:nvPr/>
        </p:nvSpPr>
        <p:spPr>
          <a:xfrm>
            <a:off x="640080" y="4069080"/>
            <a:ext cx="78638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Every step is plain matrix multiplication; transposes carry the error backwards</a:t>
            </a:r>
            <a:endParaRPr b="0" i="0" sz="1500" u="none" cap="none" strike="noStrike">
              <a:solidFill>
                <a:schemeClr val="dk1"/>
              </a:solidFill>
              <a:latin typeface="Calibri"/>
              <a:ea typeface="Calibri"/>
              <a:cs typeface="Calibri"/>
              <a:sym typeface="Calibri"/>
            </a:endParaRPr>
          </a:p>
        </p:txBody>
      </p:sp>
      <p:sp>
        <p:nvSpPr>
          <p:cNvPr id="341" name="Google Shape;341;p9"/>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10"/>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Double-checking our math</a:t>
            </a:r>
            <a:endParaRPr b="0" i="0" sz="3000" u="none" cap="none" strike="noStrike">
              <a:solidFill>
                <a:schemeClr val="dk1"/>
              </a:solidFill>
              <a:latin typeface="Calibri"/>
              <a:ea typeface="Calibri"/>
              <a:cs typeface="Calibri"/>
              <a:sym typeface="Calibri"/>
            </a:endParaRPr>
          </a:p>
        </p:txBody>
      </p:sp>
      <p:sp>
        <p:nvSpPr>
          <p:cNvPr id="348" name="Google Shape;348;p10"/>
          <p:cNvSpPr/>
          <p:nvPr/>
        </p:nvSpPr>
        <p:spPr>
          <a:xfrm>
            <a:off x="457200" y="1188720"/>
            <a:ext cx="2560320" cy="2103120"/>
          </a:xfrm>
          <a:prstGeom prst="roundRect">
            <a:avLst>
              <a:gd fmla="val 347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0"/>
          <p:cNvSpPr txBox="1"/>
          <p:nvPr/>
        </p:nvSpPr>
        <p:spPr>
          <a:xfrm>
            <a:off x="457200" y="1371600"/>
            <a:ext cx="2560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5400"/>
              <a:buFont typeface="Calibri"/>
              <a:buNone/>
            </a:pPr>
            <a:r>
              <a:rPr b="1" i="0" lang="en-US" sz="5400" u="none" cap="none" strike="noStrike">
                <a:solidFill>
                  <a:schemeClr val="accent1"/>
                </a:solidFill>
                <a:latin typeface="Calibri"/>
                <a:ea typeface="Calibri"/>
                <a:cs typeface="Calibri"/>
                <a:sym typeface="Calibri"/>
              </a:rPr>
              <a:t>35</a:t>
            </a:r>
            <a:endParaRPr b="0" i="0" sz="5400" u="none" cap="none" strike="noStrike">
              <a:solidFill>
                <a:schemeClr val="dk1"/>
              </a:solidFill>
              <a:latin typeface="Calibri"/>
              <a:ea typeface="Calibri"/>
              <a:cs typeface="Calibri"/>
              <a:sym typeface="Calibri"/>
            </a:endParaRPr>
          </a:p>
        </p:txBody>
      </p:sp>
      <p:sp>
        <p:nvSpPr>
          <p:cNvPr id="350" name="Google Shape;350;p10"/>
          <p:cNvSpPr txBox="1"/>
          <p:nvPr/>
        </p:nvSpPr>
        <p:spPr>
          <a:xfrm>
            <a:off x="640080" y="2331720"/>
            <a:ext cx="2194560"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weights tested one by one</a:t>
            </a:r>
            <a:endParaRPr b="0" i="0" sz="1400" u="none" cap="none" strike="noStrike">
              <a:solidFill>
                <a:schemeClr val="dk1"/>
              </a:solidFill>
              <a:latin typeface="Calibri"/>
              <a:ea typeface="Calibri"/>
              <a:cs typeface="Calibri"/>
              <a:sym typeface="Calibri"/>
            </a:endParaRPr>
          </a:p>
        </p:txBody>
      </p:sp>
      <p:sp>
        <p:nvSpPr>
          <p:cNvPr id="351" name="Google Shape;351;p10"/>
          <p:cNvSpPr/>
          <p:nvPr/>
        </p:nvSpPr>
        <p:spPr>
          <a:xfrm>
            <a:off x="3291840" y="1188720"/>
            <a:ext cx="2560320" cy="2103120"/>
          </a:xfrm>
          <a:prstGeom prst="roundRect">
            <a:avLst>
              <a:gd fmla="val 347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0"/>
          <p:cNvSpPr txBox="1"/>
          <p:nvPr/>
        </p:nvSpPr>
        <p:spPr>
          <a:xfrm>
            <a:off x="3291840" y="1371600"/>
            <a:ext cx="2560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5400"/>
              <a:buFont typeface="Calibri"/>
              <a:buNone/>
            </a:pPr>
            <a:r>
              <a:rPr b="1" i="0" lang="en-US" sz="5400" u="none" cap="none" strike="noStrike">
                <a:solidFill>
                  <a:schemeClr val="accent2"/>
                </a:solidFill>
                <a:latin typeface="Calibri"/>
                <a:ea typeface="Calibri"/>
                <a:cs typeface="Calibri"/>
                <a:sym typeface="Calibri"/>
              </a:rPr>
              <a:t>~0</a:t>
            </a:r>
            <a:endParaRPr b="0" i="0" sz="5400" u="none" cap="none" strike="noStrike">
              <a:solidFill>
                <a:schemeClr val="dk1"/>
              </a:solidFill>
              <a:latin typeface="Calibri"/>
              <a:ea typeface="Calibri"/>
              <a:cs typeface="Calibri"/>
              <a:sym typeface="Calibri"/>
            </a:endParaRPr>
          </a:p>
        </p:txBody>
      </p:sp>
      <p:sp>
        <p:nvSpPr>
          <p:cNvPr id="353" name="Google Shape;353;p10"/>
          <p:cNvSpPr txBox="1"/>
          <p:nvPr/>
        </p:nvSpPr>
        <p:spPr>
          <a:xfrm>
            <a:off x="3474720" y="2331720"/>
            <a:ext cx="2194560"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largest difference found (9.89e-11)</a:t>
            </a:r>
            <a:endParaRPr b="0" i="0" sz="1400" u="none" cap="none" strike="noStrike">
              <a:solidFill>
                <a:schemeClr val="dk1"/>
              </a:solidFill>
              <a:latin typeface="Calibri"/>
              <a:ea typeface="Calibri"/>
              <a:cs typeface="Calibri"/>
              <a:sym typeface="Calibri"/>
            </a:endParaRPr>
          </a:p>
        </p:txBody>
      </p:sp>
      <p:sp>
        <p:nvSpPr>
          <p:cNvPr id="354" name="Google Shape;354;p10"/>
          <p:cNvSpPr/>
          <p:nvPr/>
        </p:nvSpPr>
        <p:spPr>
          <a:xfrm>
            <a:off x="6126480" y="1188720"/>
            <a:ext cx="2560320" cy="2103120"/>
          </a:xfrm>
          <a:prstGeom prst="roundRect">
            <a:avLst>
              <a:gd fmla="val 347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0"/>
          <p:cNvSpPr txBox="1"/>
          <p:nvPr/>
        </p:nvSpPr>
        <p:spPr>
          <a:xfrm>
            <a:off x="6126480" y="1371600"/>
            <a:ext cx="2560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5400"/>
              <a:buFont typeface="Calibri"/>
              <a:buNone/>
            </a:pPr>
            <a:r>
              <a:rPr b="1" i="0" lang="en-US" sz="5400" u="none" cap="none" strike="noStrike">
                <a:solidFill>
                  <a:schemeClr val="accent1"/>
                </a:solidFill>
                <a:latin typeface="Calibri"/>
                <a:ea typeface="Calibri"/>
                <a:cs typeface="Calibri"/>
                <a:sym typeface="Calibri"/>
              </a:rPr>
              <a:t>7</a:t>
            </a:r>
            <a:endParaRPr b="0" i="0" sz="5400" u="none" cap="none" strike="noStrike">
              <a:solidFill>
                <a:schemeClr val="dk1"/>
              </a:solidFill>
              <a:latin typeface="Calibri"/>
              <a:ea typeface="Calibri"/>
              <a:cs typeface="Calibri"/>
              <a:sym typeface="Calibri"/>
            </a:endParaRPr>
          </a:p>
        </p:txBody>
      </p:sp>
      <p:sp>
        <p:nvSpPr>
          <p:cNvPr id="356" name="Google Shape;356;p10"/>
          <p:cNvSpPr txBox="1"/>
          <p:nvPr/>
        </p:nvSpPr>
        <p:spPr>
          <a:xfrm>
            <a:off x="6309360" y="2331720"/>
            <a:ext cx="2194560" cy="7315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separate math checks passed</a:t>
            </a:r>
            <a:endParaRPr b="0" i="0" sz="1400" u="none" cap="none" strike="noStrike">
              <a:solidFill>
                <a:schemeClr val="dk1"/>
              </a:solidFill>
              <a:latin typeface="Calibri"/>
              <a:ea typeface="Calibri"/>
              <a:cs typeface="Calibri"/>
              <a:sym typeface="Calibri"/>
            </a:endParaRPr>
          </a:p>
        </p:txBody>
      </p:sp>
      <p:sp>
        <p:nvSpPr>
          <p:cNvPr id="357" name="Google Shape;357;p10"/>
          <p:cNvSpPr/>
          <p:nvPr/>
        </p:nvSpPr>
        <p:spPr>
          <a:xfrm>
            <a:off x="457200" y="3566160"/>
            <a:ext cx="8229600" cy="822960"/>
          </a:xfrm>
          <a:prstGeom prst="roundRect">
            <a:avLst>
              <a:gd fmla="val 888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0"/>
          <p:cNvSpPr txBox="1"/>
          <p:nvPr/>
        </p:nvSpPr>
        <p:spPr>
          <a:xfrm>
            <a:off x="640080" y="3566160"/>
            <a:ext cx="78638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We tested our math a second, independent way, and the answers match.</a:t>
            </a:r>
            <a:endParaRPr b="0" i="0" sz="1600" u="none" cap="none" strike="noStrike">
              <a:solidFill>
                <a:schemeClr val="dk1"/>
              </a:solidFill>
              <a:latin typeface="Calibri"/>
              <a:ea typeface="Calibri"/>
              <a:cs typeface="Calibri"/>
              <a:sym typeface="Calibri"/>
            </a:endParaRPr>
          </a:p>
        </p:txBody>
      </p:sp>
      <p:sp>
        <p:nvSpPr>
          <p:cNvPr id="359" name="Google Shape;359;p10"/>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1"/>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The error falls as the network practices</a:t>
            </a:r>
            <a:endParaRPr b="0" i="0" sz="3000" u="none" cap="none" strike="noStrike">
              <a:solidFill>
                <a:schemeClr val="dk1"/>
              </a:solidFill>
              <a:latin typeface="Calibri"/>
              <a:ea typeface="Calibri"/>
              <a:cs typeface="Calibri"/>
              <a:sym typeface="Calibri"/>
            </a:endParaRPr>
          </a:p>
        </p:txBody>
      </p:sp>
      <p:graphicFrame>
        <p:nvGraphicFramePr>
          <p:cNvPr id="366" name="Google Shape;366;p11"/>
          <p:cNvGraphicFramePr/>
          <p:nvPr/>
        </p:nvGraphicFramePr>
        <p:xfrm>
          <a:off x="457200" y="1097280"/>
          <a:ext cx="5669280" cy="3474720"/>
        </p:xfrm>
        <a:graphic>
          <a:graphicData uri="http://schemas.openxmlformats.org/drawingml/2006/chart">
            <c:chart r:id="rId3"/>
          </a:graphicData>
        </a:graphic>
      </p:graphicFrame>
      <p:sp>
        <p:nvSpPr>
          <p:cNvPr id="367" name="Google Shape;367;p11"/>
          <p:cNvSpPr/>
          <p:nvPr/>
        </p:nvSpPr>
        <p:spPr>
          <a:xfrm>
            <a:off x="6400800" y="1188720"/>
            <a:ext cx="2286000" cy="960120"/>
          </a:xfrm>
          <a:prstGeom prst="roundRect">
            <a:avLst>
              <a:gd fmla="val 76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txBox="1"/>
          <p:nvPr/>
        </p:nvSpPr>
        <p:spPr>
          <a:xfrm>
            <a:off x="6537960" y="123444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Calibri"/>
              <a:buNone/>
            </a:pPr>
            <a:r>
              <a:rPr b="1" i="0" lang="en-US" sz="2200" u="none" cap="none" strike="noStrike">
                <a:solidFill>
                  <a:schemeClr val="accent1"/>
                </a:solidFill>
                <a:latin typeface="Calibri"/>
                <a:ea typeface="Calibri"/>
                <a:cs typeface="Calibri"/>
                <a:sym typeface="Calibri"/>
              </a:rPr>
              <a:t>12,000</a:t>
            </a:r>
            <a:endParaRPr b="0" i="0" sz="2200" u="none" cap="none" strike="noStrike">
              <a:solidFill>
                <a:schemeClr val="dk1"/>
              </a:solidFill>
              <a:latin typeface="Calibri"/>
              <a:ea typeface="Calibri"/>
              <a:cs typeface="Calibri"/>
              <a:sym typeface="Calibri"/>
            </a:endParaRPr>
          </a:p>
        </p:txBody>
      </p:sp>
      <p:sp>
        <p:nvSpPr>
          <p:cNvPr id="369" name="Google Shape;369;p11"/>
          <p:cNvSpPr txBox="1"/>
          <p:nvPr/>
        </p:nvSpPr>
        <p:spPr>
          <a:xfrm>
            <a:off x="6537960" y="1645920"/>
            <a:ext cx="2057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rounds of practice</a:t>
            </a:r>
            <a:endParaRPr b="0" i="0" sz="1200" u="none" cap="none" strike="noStrike">
              <a:solidFill>
                <a:schemeClr val="dk1"/>
              </a:solidFill>
              <a:latin typeface="Calibri"/>
              <a:ea typeface="Calibri"/>
              <a:cs typeface="Calibri"/>
              <a:sym typeface="Calibri"/>
            </a:endParaRPr>
          </a:p>
        </p:txBody>
      </p:sp>
      <p:sp>
        <p:nvSpPr>
          <p:cNvPr id="370" name="Google Shape;370;p11"/>
          <p:cNvSpPr/>
          <p:nvPr/>
        </p:nvSpPr>
        <p:spPr>
          <a:xfrm>
            <a:off x="6400800" y="2286000"/>
            <a:ext cx="2286000" cy="960120"/>
          </a:xfrm>
          <a:prstGeom prst="roundRect">
            <a:avLst>
              <a:gd fmla="val 76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1"/>
          <p:cNvSpPr txBox="1"/>
          <p:nvPr/>
        </p:nvSpPr>
        <p:spPr>
          <a:xfrm>
            <a:off x="6537960" y="233172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200"/>
              <a:buFont typeface="Calibri"/>
              <a:buNone/>
            </a:pPr>
            <a:r>
              <a:rPr b="1" i="0" lang="en-US" sz="2200" u="none" cap="none" strike="noStrike">
                <a:solidFill>
                  <a:schemeClr val="accent1"/>
                </a:solidFill>
                <a:latin typeface="Calibri"/>
                <a:ea typeface="Calibri"/>
                <a:cs typeface="Calibri"/>
                <a:sym typeface="Calibri"/>
              </a:rPr>
              <a:t>Blue vs red</a:t>
            </a:r>
            <a:endParaRPr b="0" i="0" sz="2200" u="none" cap="none" strike="noStrike">
              <a:solidFill>
                <a:schemeClr val="dk1"/>
              </a:solidFill>
              <a:latin typeface="Calibri"/>
              <a:ea typeface="Calibri"/>
              <a:cs typeface="Calibri"/>
              <a:sym typeface="Calibri"/>
            </a:endParaRPr>
          </a:p>
        </p:txBody>
      </p:sp>
      <p:sp>
        <p:nvSpPr>
          <p:cNvPr id="372" name="Google Shape;372;p11"/>
          <p:cNvSpPr txBox="1"/>
          <p:nvPr/>
        </p:nvSpPr>
        <p:spPr>
          <a:xfrm>
            <a:off x="6537960" y="2743200"/>
            <a:ext cx="2057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practice data vs separate check data</a:t>
            </a:r>
            <a:endParaRPr b="0" i="0" sz="1200" u="none" cap="none" strike="noStrike">
              <a:solidFill>
                <a:schemeClr val="dk1"/>
              </a:solidFill>
              <a:latin typeface="Calibri"/>
              <a:ea typeface="Calibri"/>
              <a:cs typeface="Calibri"/>
              <a:sym typeface="Calibri"/>
            </a:endParaRPr>
          </a:p>
        </p:txBody>
      </p:sp>
      <p:sp>
        <p:nvSpPr>
          <p:cNvPr id="373" name="Google Shape;373;p11"/>
          <p:cNvSpPr/>
          <p:nvPr/>
        </p:nvSpPr>
        <p:spPr>
          <a:xfrm>
            <a:off x="6400800" y="3383280"/>
            <a:ext cx="2286000" cy="960120"/>
          </a:xfrm>
          <a:prstGeom prst="roundRect">
            <a:avLst>
              <a:gd fmla="val 761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txBox="1"/>
          <p:nvPr/>
        </p:nvSpPr>
        <p:spPr>
          <a:xfrm>
            <a:off x="6537960" y="342900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2200"/>
              <a:buFont typeface="Calibri"/>
              <a:buNone/>
            </a:pPr>
            <a:r>
              <a:rPr b="1" i="0" lang="en-US" sz="2200" u="none" cap="none" strike="noStrike">
                <a:solidFill>
                  <a:schemeClr val="accent2"/>
                </a:solidFill>
                <a:latin typeface="Calibri"/>
                <a:ea typeface="Calibri"/>
                <a:cs typeface="Calibri"/>
                <a:sym typeface="Calibri"/>
              </a:rPr>
              <a:t>11,950</a:t>
            </a:r>
            <a:endParaRPr b="0" i="0" sz="2200" u="none" cap="none" strike="noStrike">
              <a:solidFill>
                <a:schemeClr val="dk1"/>
              </a:solidFill>
              <a:latin typeface="Calibri"/>
              <a:ea typeface="Calibri"/>
              <a:cs typeface="Calibri"/>
              <a:sym typeface="Calibri"/>
            </a:endParaRPr>
          </a:p>
        </p:txBody>
      </p:sp>
      <p:sp>
        <p:nvSpPr>
          <p:cNvPr id="375" name="Google Shape;375;p11"/>
          <p:cNvSpPr txBox="1"/>
          <p:nvPr/>
        </p:nvSpPr>
        <p:spPr>
          <a:xfrm>
            <a:off x="6537960" y="3840480"/>
            <a:ext cx="2057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round we kept: lowest error on check data</a:t>
            </a:r>
            <a:endParaRPr b="0" i="0" sz="1200" u="none" cap="none" strike="noStrike">
              <a:solidFill>
                <a:schemeClr val="dk1"/>
              </a:solidFill>
              <a:latin typeface="Calibri"/>
              <a:ea typeface="Calibri"/>
              <a:cs typeface="Calibri"/>
              <a:sym typeface="Calibri"/>
            </a:endParaRPr>
          </a:p>
        </p:txBody>
      </p:sp>
      <p:sp>
        <p:nvSpPr>
          <p:cNvPr id="376" name="Google Shape;376;p11"/>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2"/>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Deep network: 90% test accuracy</a:t>
            </a:r>
            <a:endParaRPr b="0" i="0" sz="3000" u="none" cap="none" strike="noStrike">
              <a:solidFill>
                <a:schemeClr val="dk1"/>
              </a:solidFill>
              <a:latin typeface="Calibri"/>
              <a:ea typeface="Calibri"/>
              <a:cs typeface="Calibri"/>
              <a:sym typeface="Calibri"/>
            </a:endParaRPr>
          </a:p>
        </p:txBody>
      </p:sp>
      <p:graphicFrame>
        <p:nvGraphicFramePr>
          <p:cNvPr id="383" name="Google Shape;383;p12"/>
          <p:cNvGraphicFramePr/>
          <p:nvPr/>
        </p:nvGraphicFramePr>
        <p:xfrm>
          <a:off x="457200" y="1188720"/>
          <a:ext cx="3000000" cy="3000000"/>
        </p:xfrm>
        <a:graphic>
          <a:graphicData uri="http://schemas.openxmlformats.org/drawingml/2006/table">
            <a:tbl>
              <a:tblPr>
                <a:noFill/>
                <a:tableStyleId>{66403661-BDB2-423B-B92A-0399C7348F8E}</a:tableStyleId>
              </a:tblPr>
              <a:tblGrid>
                <a:gridCol w="1097275"/>
                <a:gridCol w="868675"/>
                <a:gridCol w="960125"/>
                <a:gridCol w="960125"/>
                <a:gridCol w="960125"/>
                <a:gridCol w="914400"/>
              </a:tblGrid>
              <a:tr h="502925">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rPr>
                        <a:t>Model</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rPr>
                        <a:t>Params</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rPr>
                        <a:t>Train</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rPr>
                        <a:t>Val</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rPr>
                        <a:t>Test</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c>
                  <a:txBody>
                    <a:bodyPr/>
                    <a:lstStyle/>
                    <a:p>
                      <a:pPr indent="0" lvl="0" marL="0" marR="0" rtl="0" algn="ctr">
                        <a:spcBef>
                          <a:spcPts val="0"/>
                        </a:spcBef>
                        <a:spcAft>
                          <a:spcPts val="0"/>
                        </a:spcAft>
                        <a:buClr>
                          <a:srgbClr val="FFFFFF"/>
                        </a:buClr>
                        <a:buSzPts val="1400"/>
                        <a:buFont typeface="Calibri"/>
                        <a:buNone/>
                      </a:pPr>
                      <a:r>
                        <a:rPr b="1" lang="en-US" sz="1400" u="none" cap="none" strike="noStrike">
                          <a:solidFill>
                            <a:srgbClr val="FFFFFF"/>
                          </a:solidFill>
                        </a:rPr>
                        <a:t>Epoch</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1B3D33"/>
                    </a:solidFill>
                  </a:tcPr>
                </a:tc>
              </a:tr>
              <a:tr h="502925">
                <a:tc>
                  <a:txBody>
                    <a:bodyPr/>
                    <a:lstStyle/>
                    <a:p>
                      <a:pPr indent="0" lvl="0" marL="0" marR="0" rtl="0" algn="l">
                        <a:spcBef>
                          <a:spcPts val="0"/>
                        </a:spcBef>
                        <a:spcAft>
                          <a:spcPts val="0"/>
                        </a:spcAft>
                        <a:buClr>
                          <a:srgbClr val="16231F"/>
                        </a:buClr>
                        <a:buSzPts val="1400"/>
                        <a:buFont typeface="Calibri"/>
                        <a:buNone/>
                      </a:pPr>
                      <a:r>
                        <a:rPr lang="en-US" sz="1400" u="none" cap="none" strike="noStrike">
                          <a:solidFill>
                            <a:srgbClr val="16231F"/>
                          </a:solidFill>
                        </a:rPr>
                        <a:t>Linear</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6</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50.00%</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45.00%</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58.75%</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4500</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6231F"/>
                        </a:buClr>
                        <a:buSzPts val="1400"/>
                        <a:buFont typeface="Calibri"/>
                        <a:buNone/>
                      </a:pPr>
                      <a:r>
                        <a:rPr lang="en-US" sz="1400" u="none" cap="none" strike="noStrike">
                          <a:solidFill>
                            <a:srgbClr val="16231F"/>
                          </a:solidFill>
                        </a:rPr>
                        <a:t>Shallow</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82</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57.50%</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51.25%</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58.75%</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rgbClr val="16231F"/>
                        </a:buClr>
                        <a:buSzPts val="1400"/>
                        <a:buFont typeface="Calibri"/>
                        <a:buNone/>
                      </a:pPr>
                      <a:r>
                        <a:rPr lang="en-US" sz="1400" u="none" cap="none" strike="noStrike">
                          <a:solidFill>
                            <a:srgbClr val="16231F"/>
                          </a:solidFill>
                        </a:rPr>
                        <a:t>50</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FFFFFF"/>
                    </a:solidFill>
                  </a:tcPr>
                </a:tc>
              </a:tr>
              <a:tr h="502925">
                <a:tc>
                  <a:txBody>
                    <a:bodyPr/>
                    <a:lstStyle/>
                    <a:p>
                      <a:pPr indent="0" lvl="0" marL="0" marR="0" rtl="0" algn="l">
                        <a:spcBef>
                          <a:spcPts val="0"/>
                        </a:spcBef>
                        <a:spcAft>
                          <a:spcPts val="0"/>
                        </a:spcAft>
                        <a:buClr>
                          <a:srgbClr val="16231F"/>
                        </a:buClr>
                        <a:buSzPts val="1400"/>
                        <a:buFont typeface="Calibri"/>
                        <a:buNone/>
                      </a:pPr>
                      <a:r>
                        <a:rPr b="1" lang="en-US" sz="1400" u="none" cap="none" strike="noStrike">
                          <a:solidFill>
                            <a:srgbClr val="16231F"/>
                          </a:solidFill>
                        </a:rPr>
                        <a:t>Deep</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c>
                  <a:txBody>
                    <a:bodyPr/>
                    <a:lstStyle/>
                    <a:p>
                      <a:pPr indent="0" lvl="0" marL="0" marR="0" rtl="0" algn="ctr">
                        <a:spcBef>
                          <a:spcPts val="0"/>
                        </a:spcBef>
                        <a:spcAft>
                          <a:spcPts val="0"/>
                        </a:spcAft>
                        <a:buClr>
                          <a:srgbClr val="16231F"/>
                        </a:buClr>
                        <a:buSzPts val="1400"/>
                        <a:buFont typeface="Calibri"/>
                        <a:buNone/>
                      </a:pPr>
                      <a:r>
                        <a:rPr b="1" lang="en-US" sz="1400" u="none" cap="none" strike="noStrike">
                          <a:solidFill>
                            <a:srgbClr val="16231F"/>
                          </a:solidFill>
                        </a:rPr>
                        <a:t>354</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c>
                  <a:txBody>
                    <a:bodyPr/>
                    <a:lstStyle/>
                    <a:p>
                      <a:pPr indent="0" lvl="0" marL="0" marR="0" rtl="0" algn="ctr">
                        <a:spcBef>
                          <a:spcPts val="0"/>
                        </a:spcBef>
                        <a:spcAft>
                          <a:spcPts val="0"/>
                        </a:spcAft>
                        <a:buClr>
                          <a:srgbClr val="16231F"/>
                        </a:buClr>
                        <a:buSzPts val="1400"/>
                        <a:buFont typeface="Calibri"/>
                        <a:buNone/>
                      </a:pPr>
                      <a:r>
                        <a:rPr b="1" lang="en-US" sz="1400" u="none" cap="none" strike="noStrike">
                          <a:solidFill>
                            <a:srgbClr val="16231F"/>
                          </a:solidFill>
                        </a:rPr>
                        <a:t>97.08%</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c>
                  <a:txBody>
                    <a:bodyPr/>
                    <a:lstStyle/>
                    <a:p>
                      <a:pPr indent="0" lvl="0" marL="0" marR="0" rtl="0" algn="ctr">
                        <a:spcBef>
                          <a:spcPts val="0"/>
                        </a:spcBef>
                        <a:spcAft>
                          <a:spcPts val="0"/>
                        </a:spcAft>
                        <a:buClr>
                          <a:srgbClr val="16231F"/>
                        </a:buClr>
                        <a:buSzPts val="1400"/>
                        <a:buFont typeface="Calibri"/>
                        <a:buNone/>
                      </a:pPr>
                      <a:r>
                        <a:rPr b="1" lang="en-US" sz="1400" u="none" cap="none" strike="noStrike">
                          <a:solidFill>
                            <a:srgbClr val="16231F"/>
                          </a:solidFill>
                        </a:rPr>
                        <a:t>93.75%</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c>
                  <a:txBody>
                    <a:bodyPr/>
                    <a:lstStyle/>
                    <a:p>
                      <a:pPr indent="0" lvl="0" marL="0" marR="0" rtl="0" algn="ctr">
                        <a:spcBef>
                          <a:spcPts val="0"/>
                        </a:spcBef>
                        <a:spcAft>
                          <a:spcPts val="0"/>
                        </a:spcAft>
                        <a:buClr>
                          <a:srgbClr val="16231F"/>
                        </a:buClr>
                        <a:buSzPts val="1400"/>
                        <a:buFont typeface="Calibri"/>
                        <a:buNone/>
                      </a:pPr>
                      <a:r>
                        <a:rPr b="1" lang="en-US" sz="1400" u="none" cap="none" strike="noStrike">
                          <a:solidFill>
                            <a:srgbClr val="16231F"/>
                          </a:solidFill>
                        </a:rPr>
                        <a:t>90.00%</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c>
                  <a:txBody>
                    <a:bodyPr/>
                    <a:lstStyle/>
                    <a:p>
                      <a:pPr indent="0" lvl="0" marL="0" marR="0" rtl="0" algn="ctr">
                        <a:spcBef>
                          <a:spcPts val="0"/>
                        </a:spcBef>
                        <a:spcAft>
                          <a:spcPts val="0"/>
                        </a:spcAft>
                        <a:buClr>
                          <a:srgbClr val="16231F"/>
                        </a:buClr>
                        <a:buSzPts val="1400"/>
                        <a:buFont typeface="Calibri"/>
                        <a:buNone/>
                      </a:pPr>
                      <a:r>
                        <a:rPr b="1" lang="en-US" sz="1400" u="none" cap="none" strike="noStrike">
                          <a:solidFill>
                            <a:srgbClr val="16231F"/>
                          </a:solidFill>
                        </a:rPr>
                        <a:t>11950</a:t>
                      </a:r>
                      <a:endParaRPr sz="1400" u="none" cap="none" strike="noStrike"/>
                    </a:p>
                  </a:txBody>
                  <a:tcPr marT="0" marB="0" marR="73150" marL="73150" anchor="ctr">
                    <a:lnL cap="flat" cmpd="sng" w="9525">
                      <a:solidFill>
                        <a:srgbClr val="C9D8D1"/>
                      </a:solidFill>
                      <a:prstDash val="solid"/>
                      <a:round/>
                      <a:headEnd len="sm" w="sm" type="none"/>
                      <a:tailEnd len="sm" w="sm" type="none"/>
                    </a:lnL>
                    <a:lnR cap="flat" cmpd="sng" w="9525">
                      <a:solidFill>
                        <a:srgbClr val="C9D8D1"/>
                      </a:solidFill>
                      <a:prstDash val="solid"/>
                      <a:round/>
                      <a:headEnd len="sm" w="sm" type="none"/>
                      <a:tailEnd len="sm" w="sm" type="none"/>
                    </a:lnR>
                    <a:lnT cap="flat" cmpd="sng" w="9525">
                      <a:solidFill>
                        <a:srgbClr val="C9D8D1"/>
                      </a:solidFill>
                      <a:prstDash val="solid"/>
                      <a:round/>
                      <a:headEnd len="sm" w="sm" type="none"/>
                      <a:tailEnd len="sm" w="sm" type="none"/>
                    </a:lnT>
                    <a:lnB cap="flat" cmpd="sng" w="9525">
                      <a:solidFill>
                        <a:srgbClr val="C9D8D1"/>
                      </a:solidFill>
                      <a:prstDash val="solid"/>
                      <a:round/>
                      <a:headEnd len="sm" w="sm" type="none"/>
                      <a:tailEnd len="sm" w="sm" type="none"/>
                    </a:lnB>
                    <a:solidFill>
                      <a:srgbClr val="D7E8E0"/>
                    </a:solidFill>
                  </a:tcPr>
                </a:tc>
              </a:tr>
            </a:tbl>
          </a:graphicData>
        </a:graphic>
      </p:graphicFrame>
      <p:sp>
        <p:nvSpPr>
          <p:cNvPr id="384" name="Google Shape;384;p12"/>
          <p:cNvSpPr/>
          <p:nvPr/>
        </p:nvSpPr>
        <p:spPr>
          <a:xfrm>
            <a:off x="6492240" y="1188720"/>
            <a:ext cx="2194560" cy="2011680"/>
          </a:xfrm>
          <a:prstGeom prst="roundRect">
            <a:avLst>
              <a:gd fmla="val 3636"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2"/>
          <p:cNvSpPr txBox="1"/>
          <p:nvPr/>
        </p:nvSpPr>
        <p:spPr>
          <a:xfrm>
            <a:off x="6492240" y="1325880"/>
            <a:ext cx="219456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4000"/>
              <a:buFont typeface="Calibri"/>
              <a:buNone/>
            </a:pPr>
            <a:r>
              <a:rPr b="1" i="0" lang="en-US" sz="4000" u="none" cap="none" strike="noStrike">
                <a:solidFill>
                  <a:schemeClr val="lt1"/>
                </a:solidFill>
                <a:latin typeface="Calibri"/>
                <a:ea typeface="Calibri"/>
                <a:cs typeface="Calibri"/>
                <a:sym typeface="Calibri"/>
              </a:rPr>
              <a:t>72/80</a:t>
            </a:r>
            <a:endParaRPr b="0" i="0" sz="4000" u="none" cap="none" strike="noStrike">
              <a:solidFill>
                <a:schemeClr val="dk1"/>
              </a:solidFill>
              <a:latin typeface="Calibri"/>
              <a:ea typeface="Calibri"/>
              <a:cs typeface="Calibri"/>
              <a:sym typeface="Calibri"/>
            </a:endParaRPr>
          </a:p>
        </p:txBody>
      </p:sp>
      <p:sp>
        <p:nvSpPr>
          <p:cNvPr id="386" name="Google Shape;386;p12"/>
          <p:cNvSpPr txBox="1"/>
          <p:nvPr/>
        </p:nvSpPr>
        <p:spPr>
          <a:xfrm>
            <a:off x="6583680" y="2148840"/>
            <a:ext cx="20116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test predictions correct</a:t>
            </a:r>
            <a:endParaRPr b="0" i="0" sz="1400" u="none" cap="none" strike="noStrike">
              <a:solidFill>
                <a:schemeClr val="dk1"/>
              </a:solidFill>
              <a:latin typeface="Calibri"/>
              <a:ea typeface="Calibri"/>
              <a:cs typeface="Calibri"/>
              <a:sym typeface="Calibri"/>
            </a:endParaRPr>
          </a:p>
        </p:txBody>
      </p:sp>
      <p:sp>
        <p:nvSpPr>
          <p:cNvPr id="387" name="Google Shape;387;p12"/>
          <p:cNvSpPr txBox="1"/>
          <p:nvPr/>
        </p:nvSpPr>
        <p:spPr>
          <a:xfrm>
            <a:off x="6629400" y="2514600"/>
            <a:ext cx="1920240" cy="5486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5"/>
              </a:buClr>
              <a:buSzPts val="1200"/>
              <a:buFont typeface="Calibri"/>
              <a:buNone/>
            </a:pPr>
            <a:r>
              <a:rPr b="0" i="0" lang="en-US" sz="1200" u="none" cap="none" strike="noStrike">
                <a:solidFill>
                  <a:schemeClr val="accent5"/>
                </a:solidFill>
                <a:latin typeface="Calibri"/>
                <a:ea typeface="Calibri"/>
                <a:cs typeface="Calibri"/>
                <a:sym typeface="Calibri"/>
              </a:rPr>
              <a:t>Plausible range: about 81% to 95%</a:t>
            </a:r>
            <a:endParaRPr b="0" i="0" sz="1200" u="none" cap="none" strike="noStrike">
              <a:solidFill>
                <a:schemeClr val="dk1"/>
              </a:solidFill>
              <a:latin typeface="Calibri"/>
              <a:ea typeface="Calibri"/>
              <a:cs typeface="Calibri"/>
              <a:sym typeface="Calibri"/>
            </a:endParaRPr>
          </a:p>
        </p:txBody>
      </p:sp>
      <p:sp>
        <p:nvSpPr>
          <p:cNvPr id="388" name="Google Shape;388;p12"/>
          <p:cNvSpPr/>
          <p:nvPr/>
        </p:nvSpPr>
        <p:spPr>
          <a:xfrm>
            <a:off x="457200" y="3429000"/>
            <a:ext cx="8229600" cy="914400"/>
          </a:xfrm>
          <a:prstGeom prst="roundRect">
            <a:avLst>
              <a:gd fmla="val 8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2"/>
          <p:cNvSpPr txBox="1"/>
          <p:nvPr/>
        </p:nvSpPr>
        <p:spPr>
          <a:xfrm>
            <a:off x="640080" y="3429000"/>
            <a:ext cx="786384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The goal is to show that ReLU breaks the straight-line limit, not to chase a leaderboard score. Same split and budget for every model; not a capacity-matched comparison.</a:t>
            </a:r>
            <a:endParaRPr b="0" i="0" sz="1400" u="none" cap="none" strike="noStrike">
              <a:solidFill>
                <a:schemeClr val="dk1"/>
              </a:solidFill>
              <a:latin typeface="Calibri"/>
              <a:ea typeface="Calibri"/>
              <a:cs typeface="Calibri"/>
              <a:sym typeface="Calibri"/>
            </a:endParaRPr>
          </a:p>
        </p:txBody>
      </p:sp>
      <p:sp>
        <p:nvSpPr>
          <p:cNvPr id="390" name="Google Shape;390;p12"/>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3"/>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Deep results depend on the seed</a:t>
            </a:r>
            <a:endParaRPr b="0" i="0" sz="3000" u="none" cap="none" strike="noStrike">
              <a:solidFill>
                <a:schemeClr val="dk1"/>
              </a:solidFill>
              <a:latin typeface="Calibri"/>
              <a:ea typeface="Calibri"/>
              <a:cs typeface="Calibri"/>
              <a:sym typeface="Calibri"/>
            </a:endParaRPr>
          </a:p>
        </p:txBody>
      </p:sp>
      <p:graphicFrame>
        <p:nvGraphicFramePr>
          <p:cNvPr id="397" name="Google Shape;397;p13"/>
          <p:cNvGraphicFramePr/>
          <p:nvPr/>
        </p:nvGraphicFramePr>
        <p:xfrm>
          <a:off x="457200" y="1097280"/>
          <a:ext cx="5486400" cy="3200400"/>
        </p:xfrm>
        <a:graphic>
          <a:graphicData uri="http://schemas.openxmlformats.org/drawingml/2006/chart">
            <c:chart r:id="rId3"/>
          </a:graphicData>
        </a:graphic>
      </p:graphicFrame>
      <p:sp>
        <p:nvSpPr>
          <p:cNvPr id="398" name="Google Shape;398;p13"/>
          <p:cNvSpPr/>
          <p:nvPr/>
        </p:nvSpPr>
        <p:spPr>
          <a:xfrm>
            <a:off x="6217920" y="1188720"/>
            <a:ext cx="2468880" cy="868680"/>
          </a:xfrm>
          <a:prstGeom prst="roundRect">
            <a:avLst>
              <a:gd fmla="val 842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3"/>
          <p:cNvSpPr txBox="1"/>
          <p:nvPr/>
        </p:nvSpPr>
        <p:spPr>
          <a:xfrm>
            <a:off x="6400800" y="1234440"/>
            <a:ext cx="1280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1" i="0" lang="en-US" sz="1300" u="none" cap="none" strike="noStrike">
                <a:solidFill>
                  <a:schemeClr val="accent6"/>
                </a:solidFill>
                <a:latin typeface="Calibri"/>
                <a:ea typeface="Calibri"/>
                <a:cs typeface="Calibri"/>
                <a:sym typeface="Calibri"/>
              </a:rPr>
              <a:t>Linear mean</a:t>
            </a:r>
            <a:endParaRPr b="0" i="0" sz="1300" u="none" cap="none" strike="noStrike">
              <a:solidFill>
                <a:schemeClr val="dk1"/>
              </a:solidFill>
              <a:latin typeface="Calibri"/>
              <a:ea typeface="Calibri"/>
              <a:cs typeface="Calibri"/>
              <a:sym typeface="Calibri"/>
            </a:endParaRPr>
          </a:p>
        </p:txBody>
      </p:sp>
      <p:sp>
        <p:nvSpPr>
          <p:cNvPr id="400" name="Google Shape;400;p13"/>
          <p:cNvSpPr txBox="1"/>
          <p:nvPr/>
        </p:nvSpPr>
        <p:spPr>
          <a:xfrm>
            <a:off x="7498080" y="1234440"/>
            <a:ext cx="10972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SD 1.91 pp</a:t>
            </a:r>
            <a:endParaRPr b="0" i="0" sz="1300" u="none" cap="none" strike="noStrike">
              <a:solidFill>
                <a:schemeClr val="dk1"/>
              </a:solidFill>
              <a:latin typeface="Calibri"/>
              <a:ea typeface="Calibri"/>
              <a:cs typeface="Calibri"/>
              <a:sym typeface="Calibri"/>
            </a:endParaRPr>
          </a:p>
        </p:txBody>
      </p:sp>
      <p:sp>
        <p:nvSpPr>
          <p:cNvPr id="401" name="Google Shape;401;p13"/>
          <p:cNvSpPr txBox="1"/>
          <p:nvPr/>
        </p:nvSpPr>
        <p:spPr>
          <a:xfrm>
            <a:off x="6400800" y="1572768"/>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libri"/>
              <a:buNone/>
            </a:pPr>
            <a:r>
              <a:rPr b="1" i="0" lang="en-US" sz="2400" u="none" cap="none" strike="noStrike">
                <a:solidFill>
                  <a:schemeClr val="accent1"/>
                </a:solidFill>
                <a:latin typeface="Calibri"/>
                <a:ea typeface="Calibri"/>
                <a:cs typeface="Calibri"/>
                <a:sym typeface="Calibri"/>
              </a:rPr>
              <a:t>59.17%</a:t>
            </a:r>
            <a:endParaRPr b="0" i="0" sz="2400" u="none" cap="none" strike="noStrike">
              <a:solidFill>
                <a:schemeClr val="dk1"/>
              </a:solidFill>
              <a:latin typeface="Calibri"/>
              <a:ea typeface="Calibri"/>
              <a:cs typeface="Calibri"/>
              <a:sym typeface="Calibri"/>
            </a:endParaRPr>
          </a:p>
        </p:txBody>
      </p:sp>
      <p:sp>
        <p:nvSpPr>
          <p:cNvPr id="402" name="Google Shape;402;p13"/>
          <p:cNvSpPr/>
          <p:nvPr/>
        </p:nvSpPr>
        <p:spPr>
          <a:xfrm>
            <a:off x="6217920" y="2194560"/>
            <a:ext cx="2468880" cy="868680"/>
          </a:xfrm>
          <a:prstGeom prst="roundRect">
            <a:avLst>
              <a:gd fmla="val 842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3"/>
          <p:cNvSpPr txBox="1"/>
          <p:nvPr/>
        </p:nvSpPr>
        <p:spPr>
          <a:xfrm>
            <a:off x="6400800" y="2240280"/>
            <a:ext cx="1280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6"/>
              </a:buClr>
              <a:buSzPts val="1300"/>
              <a:buFont typeface="Calibri"/>
              <a:buNone/>
            </a:pPr>
            <a:r>
              <a:rPr b="1" i="0" lang="en-US" sz="1300" u="none" cap="none" strike="noStrike">
                <a:solidFill>
                  <a:schemeClr val="accent6"/>
                </a:solidFill>
                <a:latin typeface="Calibri"/>
                <a:ea typeface="Calibri"/>
                <a:cs typeface="Calibri"/>
                <a:sym typeface="Calibri"/>
              </a:rPr>
              <a:t>Shallow mean</a:t>
            </a:r>
            <a:endParaRPr b="0" i="0" sz="1300" u="none" cap="none" strike="noStrike">
              <a:solidFill>
                <a:schemeClr val="dk1"/>
              </a:solidFill>
              <a:latin typeface="Calibri"/>
              <a:ea typeface="Calibri"/>
              <a:cs typeface="Calibri"/>
              <a:sym typeface="Calibri"/>
            </a:endParaRPr>
          </a:p>
        </p:txBody>
      </p:sp>
      <p:sp>
        <p:nvSpPr>
          <p:cNvPr id="404" name="Google Shape;404;p13"/>
          <p:cNvSpPr txBox="1"/>
          <p:nvPr/>
        </p:nvSpPr>
        <p:spPr>
          <a:xfrm>
            <a:off x="7498080" y="2240280"/>
            <a:ext cx="10972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6"/>
              </a:buClr>
              <a:buSzPts val="1300"/>
              <a:buFont typeface="Calibri"/>
              <a:buNone/>
            </a:pPr>
            <a:r>
              <a:rPr b="0" i="0" lang="en-US" sz="1300" u="none" cap="none" strike="noStrike">
                <a:solidFill>
                  <a:schemeClr val="accent6"/>
                </a:solidFill>
                <a:latin typeface="Calibri"/>
                <a:ea typeface="Calibri"/>
                <a:cs typeface="Calibri"/>
                <a:sym typeface="Calibri"/>
              </a:rPr>
              <a:t>SD 3.15 pp</a:t>
            </a:r>
            <a:endParaRPr b="0" i="0" sz="1300" u="none" cap="none" strike="noStrike">
              <a:solidFill>
                <a:schemeClr val="dk1"/>
              </a:solidFill>
              <a:latin typeface="Calibri"/>
              <a:ea typeface="Calibri"/>
              <a:cs typeface="Calibri"/>
              <a:sym typeface="Calibri"/>
            </a:endParaRPr>
          </a:p>
        </p:txBody>
      </p:sp>
      <p:sp>
        <p:nvSpPr>
          <p:cNvPr id="405" name="Google Shape;405;p13"/>
          <p:cNvSpPr txBox="1"/>
          <p:nvPr/>
        </p:nvSpPr>
        <p:spPr>
          <a:xfrm>
            <a:off x="6400800" y="2578608"/>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2400"/>
              <a:buFont typeface="Calibri"/>
              <a:buNone/>
            </a:pPr>
            <a:r>
              <a:rPr b="1" i="0" lang="en-US" sz="2400" u="none" cap="none" strike="noStrike">
                <a:solidFill>
                  <a:schemeClr val="accent1"/>
                </a:solidFill>
                <a:latin typeface="Calibri"/>
                <a:ea typeface="Calibri"/>
                <a:cs typeface="Calibri"/>
                <a:sym typeface="Calibri"/>
              </a:rPr>
              <a:t>58.33%</a:t>
            </a:r>
            <a:endParaRPr b="0" i="0" sz="2400" u="none" cap="none" strike="noStrike">
              <a:solidFill>
                <a:schemeClr val="dk1"/>
              </a:solidFill>
              <a:latin typeface="Calibri"/>
              <a:ea typeface="Calibri"/>
              <a:cs typeface="Calibri"/>
              <a:sym typeface="Calibri"/>
            </a:endParaRPr>
          </a:p>
        </p:txBody>
      </p:sp>
      <p:sp>
        <p:nvSpPr>
          <p:cNvPr id="406" name="Google Shape;406;p13"/>
          <p:cNvSpPr/>
          <p:nvPr/>
        </p:nvSpPr>
        <p:spPr>
          <a:xfrm>
            <a:off x="6217920" y="3200400"/>
            <a:ext cx="2468880" cy="868680"/>
          </a:xfrm>
          <a:prstGeom prst="roundRect">
            <a:avLst>
              <a:gd fmla="val 8421"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3"/>
          <p:cNvSpPr txBox="1"/>
          <p:nvPr/>
        </p:nvSpPr>
        <p:spPr>
          <a:xfrm>
            <a:off x="6400800" y="3246120"/>
            <a:ext cx="1280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Deep mean</a:t>
            </a:r>
            <a:endParaRPr b="0" i="0" sz="1300" u="none" cap="none" strike="noStrike">
              <a:solidFill>
                <a:schemeClr val="dk1"/>
              </a:solidFill>
              <a:latin typeface="Calibri"/>
              <a:ea typeface="Calibri"/>
              <a:cs typeface="Calibri"/>
              <a:sym typeface="Calibri"/>
            </a:endParaRPr>
          </a:p>
        </p:txBody>
      </p:sp>
      <p:sp>
        <p:nvSpPr>
          <p:cNvPr id="408" name="Google Shape;408;p13"/>
          <p:cNvSpPr txBox="1"/>
          <p:nvPr/>
        </p:nvSpPr>
        <p:spPr>
          <a:xfrm>
            <a:off x="7498080" y="3246120"/>
            <a:ext cx="109728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SD 7.32 pp</a:t>
            </a:r>
            <a:endParaRPr b="0" i="0" sz="1300" u="none" cap="none" strike="noStrike">
              <a:solidFill>
                <a:schemeClr val="dk1"/>
              </a:solidFill>
              <a:latin typeface="Calibri"/>
              <a:ea typeface="Calibri"/>
              <a:cs typeface="Calibri"/>
              <a:sym typeface="Calibri"/>
            </a:endParaRPr>
          </a:p>
        </p:txBody>
      </p:sp>
      <p:sp>
        <p:nvSpPr>
          <p:cNvPr id="409" name="Google Shape;409;p13"/>
          <p:cNvSpPr txBox="1"/>
          <p:nvPr/>
        </p:nvSpPr>
        <p:spPr>
          <a:xfrm>
            <a:off x="6400800" y="3584448"/>
            <a:ext cx="2194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2400"/>
              <a:buFont typeface="Calibri"/>
              <a:buNone/>
            </a:pPr>
            <a:r>
              <a:rPr b="1" i="0" lang="en-US" sz="2400" u="none" cap="none" strike="noStrike">
                <a:solidFill>
                  <a:schemeClr val="lt1"/>
                </a:solidFill>
                <a:latin typeface="Calibri"/>
                <a:ea typeface="Calibri"/>
                <a:cs typeface="Calibri"/>
                <a:sym typeface="Calibri"/>
              </a:rPr>
              <a:t>87.08%</a:t>
            </a:r>
            <a:endParaRPr b="0" i="0" sz="2400" u="none" cap="none" strike="noStrike">
              <a:solidFill>
                <a:schemeClr val="dk1"/>
              </a:solidFill>
              <a:latin typeface="Calibri"/>
              <a:ea typeface="Calibri"/>
              <a:cs typeface="Calibri"/>
              <a:sym typeface="Calibri"/>
            </a:endParaRPr>
          </a:p>
        </p:txBody>
      </p:sp>
      <p:sp>
        <p:nvSpPr>
          <p:cNvPr id="410" name="Google Shape;410;p13"/>
          <p:cNvSpPr txBox="1"/>
          <p:nvPr/>
        </p:nvSpPr>
        <p:spPr>
          <a:xfrm>
            <a:off x="6217920" y="4206240"/>
            <a:ext cx="246888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200"/>
              <a:buFont typeface="Calibri"/>
              <a:buNone/>
            </a:pPr>
            <a:r>
              <a:rPr b="0" i="0" lang="en-US" sz="1200" u="none" cap="none" strike="noStrike">
                <a:solidFill>
                  <a:schemeClr val="accent6"/>
                </a:solidFill>
                <a:latin typeface="Calibri"/>
                <a:ea typeface="Calibri"/>
                <a:cs typeface="Calibri"/>
                <a:sym typeface="Calibri"/>
              </a:rPr>
              <a:t>All three seeds shown, not just the best: 78.75% to 92.5%</a:t>
            </a:r>
            <a:endParaRPr b="0" i="0" sz="1200" u="none" cap="none" strike="noStrike">
              <a:solidFill>
                <a:schemeClr val="dk1"/>
              </a:solidFill>
              <a:latin typeface="Calibri"/>
              <a:ea typeface="Calibri"/>
              <a:cs typeface="Calibri"/>
              <a:sym typeface="Calibri"/>
            </a:endParaRPr>
          </a:p>
        </p:txBody>
      </p:sp>
      <p:sp>
        <p:nvSpPr>
          <p:cNvPr id="411" name="Google Shape;411;p13"/>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14"/>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The learned decision boundaries</a:t>
            </a:r>
            <a:endParaRPr b="0" i="0" sz="3000" u="none" cap="none" strike="noStrike">
              <a:solidFill>
                <a:schemeClr val="dk1"/>
              </a:solidFill>
              <a:latin typeface="Calibri"/>
              <a:ea typeface="Calibri"/>
              <a:cs typeface="Calibri"/>
              <a:sym typeface="Calibri"/>
            </a:endParaRPr>
          </a:p>
        </p:txBody>
      </p:sp>
      <p:pic>
        <p:nvPicPr>
          <p:cNvPr descr="Decision boundaries of the linear, shallow and deep models on test points" id="418" name="Google Shape;418;p14"/>
          <p:cNvPicPr preferRelativeResize="0"/>
          <p:nvPr/>
        </p:nvPicPr>
        <p:blipFill rotWithShape="1">
          <a:blip r:embed="rId3">
            <a:alphaModFix/>
          </a:blip>
          <a:srcRect b="0" l="0" r="0" t="0"/>
          <a:stretch/>
        </p:blipFill>
        <p:spPr>
          <a:xfrm>
            <a:off x="457200" y="1097280"/>
            <a:ext cx="8229600" cy="2867136"/>
          </a:xfrm>
          <a:prstGeom prst="rect">
            <a:avLst/>
          </a:prstGeom>
          <a:noFill/>
          <a:ln>
            <a:noFill/>
          </a:ln>
        </p:spPr>
      </p:pic>
      <p:sp>
        <p:nvSpPr>
          <p:cNvPr id="419" name="Google Shape;419;p14"/>
          <p:cNvSpPr/>
          <p:nvPr/>
        </p:nvSpPr>
        <p:spPr>
          <a:xfrm>
            <a:off x="457200" y="4069080"/>
            <a:ext cx="8229600" cy="502920"/>
          </a:xfrm>
          <a:prstGeom prst="roundRect">
            <a:avLst>
              <a:gd fmla="val 14545"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4"/>
          <p:cNvSpPr txBox="1"/>
          <p:nvPr/>
        </p:nvSpPr>
        <p:spPr>
          <a:xfrm>
            <a:off x="640080" y="4069080"/>
            <a:ext cx="7863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1" i="0" lang="en-US" sz="1400" u="none" cap="none" strike="noStrike">
                <a:solidFill>
                  <a:schemeClr val="lt1"/>
                </a:solidFill>
                <a:latin typeface="Calibri"/>
                <a:ea typeface="Calibri"/>
                <a:cs typeface="Calibri"/>
                <a:sym typeface="Calibri"/>
              </a:rPr>
              <a:t>Dots are test points; the black line is where the network is 50/50. Linear and shallow stay near 59%.</a:t>
            </a:r>
            <a:endParaRPr b="0" i="0" sz="1400" u="none" cap="none" strike="noStrike">
              <a:solidFill>
                <a:schemeClr val="dk1"/>
              </a:solidFill>
              <a:latin typeface="Calibri"/>
              <a:ea typeface="Calibri"/>
              <a:cs typeface="Calibri"/>
              <a:sym typeface="Calibri"/>
            </a:endParaRPr>
          </a:p>
        </p:txBody>
      </p:sp>
      <p:sp>
        <p:nvSpPr>
          <p:cNvPr id="421" name="Google Shape;421;p14"/>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15"/>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Looking inside with PCA</a:t>
            </a:r>
            <a:endParaRPr b="0" i="0" sz="3000" u="none" cap="none" strike="noStrike">
              <a:solidFill>
                <a:schemeClr val="dk1"/>
              </a:solidFill>
              <a:latin typeface="Calibri"/>
              <a:ea typeface="Calibri"/>
              <a:cs typeface="Calibri"/>
              <a:sym typeface="Calibri"/>
            </a:endParaRPr>
          </a:p>
        </p:txBody>
      </p:sp>
      <p:pic>
        <p:nvPicPr>
          <p:cNvPr descr="PCA projections of hidden layers 1 and 2 and the output logits" id="428" name="Google Shape;428;p15"/>
          <p:cNvPicPr preferRelativeResize="0"/>
          <p:nvPr/>
        </p:nvPicPr>
        <p:blipFill rotWithShape="1">
          <a:blip r:embed="rId3">
            <a:alphaModFix/>
          </a:blip>
          <a:srcRect b="0" l="0" r="0" t="0"/>
          <a:stretch/>
        </p:blipFill>
        <p:spPr>
          <a:xfrm>
            <a:off x="457200" y="1097280"/>
            <a:ext cx="8229600" cy="2771918"/>
          </a:xfrm>
          <a:prstGeom prst="rect">
            <a:avLst/>
          </a:prstGeom>
          <a:noFill/>
          <a:ln>
            <a:noFill/>
          </a:ln>
        </p:spPr>
      </p:pic>
      <p:sp>
        <p:nvSpPr>
          <p:cNvPr id="429" name="Google Shape;429;p15"/>
          <p:cNvSpPr/>
          <p:nvPr/>
        </p:nvSpPr>
        <p:spPr>
          <a:xfrm>
            <a:off x="457200" y="3977640"/>
            <a:ext cx="8229600" cy="594360"/>
          </a:xfrm>
          <a:prstGeom prst="roundRect">
            <a:avLst>
              <a:gd fmla="val 1230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txBox="1"/>
          <p:nvPr/>
        </p:nvSpPr>
        <p:spPr>
          <a:xfrm>
            <a:off x="640080" y="3977640"/>
            <a:ext cx="7863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PCA squeezes 16 numbers per point into a 2D picture, so some detail is lost.</a:t>
            </a:r>
            <a:endParaRPr b="0" i="0" sz="1400" u="none" cap="none" strike="noStrike">
              <a:solidFill>
                <a:schemeClr val="dk1"/>
              </a:solidFill>
              <a:latin typeface="Calibri"/>
              <a:ea typeface="Calibri"/>
              <a:cs typeface="Calibri"/>
              <a:sym typeface="Calibri"/>
            </a:endParaRPr>
          </a:p>
        </p:txBody>
      </p:sp>
      <p:sp>
        <p:nvSpPr>
          <p:cNvPr id="431" name="Google Shape;431;p15"/>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6"/>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What the weights do: stretch and squeeze</a:t>
            </a:r>
            <a:endParaRPr b="0" i="0" sz="3000" u="none" cap="none" strike="noStrike">
              <a:solidFill>
                <a:schemeClr val="dk1"/>
              </a:solidFill>
              <a:latin typeface="Calibri"/>
              <a:ea typeface="Calibri"/>
              <a:cs typeface="Calibri"/>
              <a:sym typeface="Calibri"/>
            </a:endParaRPr>
          </a:p>
        </p:txBody>
      </p:sp>
      <p:sp>
        <p:nvSpPr>
          <p:cNvPr id="438" name="Google Shape;438;p16"/>
          <p:cNvSpPr/>
          <p:nvPr/>
        </p:nvSpPr>
        <p:spPr>
          <a:xfrm>
            <a:off x="457200" y="1188720"/>
            <a:ext cx="2560320" cy="2286000"/>
          </a:xfrm>
          <a:prstGeom prst="roundRect">
            <a:avLst>
              <a:gd fmla="val 32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txBox="1"/>
          <p:nvPr/>
        </p:nvSpPr>
        <p:spPr>
          <a:xfrm>
            <a:off x="457200" y="1325880"/>
            <a:ext cx="2560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5400"/>
              <a:buFont typeface="Calibri"/>
              <a:buNone/>
            </a:pPr>
            <a:r>
              <a:rPr b="1" i="0" lang="en-US" sz="5400" u="none" cap="none" strike="noStrike">
                <a:solidFill>
                  <a:schemeClr val="accent1"/>
                </a:solidFill>
                <a:latin typeface="Calibri"/>
                <a:ea typeface="Calibri"/>
                <a:cs typeface="Calibri"/>
                <a:sym typeface="Calibri"/>
              </a:rPr>
              <a:t>1.2</a:t>
            </a:r>
            <a:endParaRPr b="0" i="0" sz="5400" u="none" cap="none" strike="noStrike">
              <a:solidFill>
                <a:schemeClr val="dk1"/>
              </a:solidFill>
              <a:latin typeface="Calibri"/>
              <a:ea typeface="Calibri"/>
              <a:cs typeface="Calibri"/>
              <a:sym typeface="Calibri"/>
            </a:endParaRPr>
          </a:p>
        </p:txBody>
      </p:sp>
      <p:sp>
        <p:nvSpPr>
          <p:cNvPr id="440" name="Google Shape;440;p16"/>
          <p:cNvSpPr txBox="1"/>
          <p:nvPr/>
        </p:nvSpPr>
        <p:spPr>
          <a:xfrm>
            <a:off x="640080" y="2286000"/>
            <a:ext cx="21945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Layer 1</a:t>
            </a:r>
            <a:endParaRPr b="0" i="0" sz="1600" u="none" cap="none" strike="noStrike">
              <a:solidFill>
                <a:schemeClr val="dk1"/>
              </a:solidFill>
              <a:latin typeface="Calibri"/>
              <a:ea typeface="Calibri"/>
              <a:cs typeface="Calibri"/>
              <a:sym typeface="Calibri"/>
            </a:endParaRPr>
          </a:p>
        </p:txBody>
      </p:sp>
      <p:sp>
        <p:nvSpPr>
          <p:cNvPr id="441" name="Google Shape;441;p16"/>
          <p:cNvSpPr txBox="1"/>
          <p:nvPr/>
        </p:nvSpPr>
        <p:spPr>
          <a:xfrm>
            <a:off x="640080" y="2651760"/>
            <a:ext cx="219456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stretches evenly</a:t>
            </a:r>
            <a:endParaRPr b="0" i="0" sz="1400" u="none" cap="none" strike="noStrike">
              <a:solidFill>
                <a:schemeClr val="dk1"/>
              </a:solidFill>
              <a:latin typeface="Calibri"/>
              <a:ea typeface="Calibri"/>
              <a:cs typeface="Calibri"/>
              <a:sym typeface="Calibri"/>
            </a:endParaRPr>
          </a:p>
        </p:txBody>
      </p:sp>
      <p:sp>
        <p:nvSpPr>
          <p:cNvPr id="442" name="Google Shape;442;p16"/>
          <p:cNvSpPr/>
          <p:nvPr/>
        </p:nvSpPr>
        <p:spPr>
          <a:xfrm>
            <a:off x="3291840" y="1188720"/>
            <a:ext cx="2560320" cy="2286000"/>
          </a:xfrm>
          <a:prstGeom prst="roundRect">
            <a:avLst>
              <a:gd fmla="val 320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6"/>
          <p:cNvSpPr txBox="1"/>
          <p:nvPr/>
        </p:nvSpPr>
        <p:spPr>
          <a:xfrm>
            <a:off x="3291840" y="1325880"/>
            <a:ext cx="2560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2"/>
              </a:buClr>
              <a:buSzPts val="5400"/>
              <a:buFont typeface="Calibri"/>
              <a:buNone/>
            </a:pPr>
            <a:r>
              <a:rPr b="1" i="0" lang="en-US" sz="5400" u="none" cap="none" strike="noStrike">
                <a:solidFill>
                  <a:schemeClr val="accent2"/>
                </a:solidFill>
                <a:latin typeface="Calibri"/>
                <a:ea typeface="Calibri"/>
                <a:cs typeface="Calibri"/>
                <a:sym typeface="Calibri"/>
              </a:rPr>
              <a:t>198</a:t>
            </a:r>
            <a:endParaRPr b="0" i="0" sz="5400" u="none" cap="none" strike="noStrike">
              <a:solidFill>
                <a:schemeClr val="dk1"/>
              </a:solidFill>
              <a:latin typeface="Calibri"/>
              <a:ea typeface="Calibri"/>
              <a:cs typeface="Calibri"/>
              <a:sym typeface="Calibri"/>
            </a:endParaRPr>
          </a:p>
        </p:txBody>
      </p:sp>
      <p:sp>
        <p:nvSpPr>
          <p:cNvPr id="444" name="Google Shape;444;p16"/>
          <p:cNvSpPr txBox="1"/>
          <p:nvPr/>
        </p:nvSpPr>
        <p:spPr>
          <a:xfrm>
            <a:off x="3474720" y="2286000"/>
            <a:ext cx="21945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Layer 2</a:t>
            </a:r>
            <a:endParaRPr b="0" i="0" sz="1600" u="none" cap="none" strike="noStrike">
              <a:solidFill>
                <a:schemeClr val="dk1"/>
              </a:solidFill>
              <a:latin typeface="Calibri"/>
              <a:ea typeface="Calibri"/>
              <a:cs typeface="Calibri"/>
              <a:sym typeface="Calibri"/>
            </a:endParaRPr>
          </a:p>
        </p:txBody>
      </p:sp>
      <p:sp>
        <p:nvSpPr>
          <p:cNvPr id="445" name="Google Shape;445;p16"/>
          <p:cNvSpPr txBox="1"/>
          <p:nvPr/>
        </p:nvSpPr>
        <p:spPr>
          <a:xfrm>
            <a:off x="3474720" y="2651760"/>
            <a:ext cx="219456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stretches very unevenly</a:t>
            </a:r>
            <a:endParaRPr b="0" i="0" sz="1400" u="none" cap="none" strike="noStrike">
              <a:solidFill>
                <a:schemeClr val="dk1"/>
              </a:solidFill>
              <a:latin typeface="Calibri"/>
              <a:ea typeface="Calibri"/>
              <a:cs typeface="Calibri"/>
              <a:sym typeface="Calibri"/>
            </a:endParaRPr>
          </a:p>
        </p:txBody>
      </p:sp>
      <p:sp>
        <p:nvSpPr>
          <p:cNvPr id="446" name="Google Shape;446;p16"/>
          <p:cNvSpPr/>
          <p:nvPr/>
        </p:nvSpPr>
        <p:spPr>
          <a:xfrm>
            <a:off x="6126480" y="1188720"/>
            <a:ext cx="2560320" cy="2286000"/>
          </a:xfrm>
          <a:prstGeom prst="roundRect">
            <a:avLst>
              <a:gd fmla="val 32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
          <p:cNvSpPr txBox="1"/>
          <p:nvPr/>
        </p:nvSpPr>
        <p:spPr>
          <a:xfrm>
            <a:off x="6126480" y="1325880"/>
            <a:ext cx="256032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accent1"/>
              </a:buClr>
              <a:buSzPts val="4000"/>
              <a:buFont typeface="Calibri"/>
              <a:buNone/>
            </a:pPr>
            <a:r>
              <a:rPr b="1" i="0" lang="en-US" sz="4000" u="none" cap="none" strike="noStrike">
                <a:solidFill>
                  <a:schemeClr val="accent1"/>
                </a:solidFill>
                <a:latin typeface="Calibri"/>
                <a:ea typeface="Calibri"/>
                <a:cs typeface="Calibri"/>
                <a:sym typeface="Calibri"/>
              </a:rPr>
              <a:t>16 to 2</a:t>
            </a:r>
            <a:endParaRPr b="0" i="0" sz="4000" u="none" cap="none" strike="noStrike">
              <a:solidFill>
                <a:schemeClr val="dk1"/>
              </a:solidFill>
              <a:latin typeface="Calibri"/>
              <a:ea typeface="Calibri"/>
              <a:cs typeface="Calibri"/>
              <a:sym typeface="Calibri"/>
            </a:endParaRPr>
          </a:p>
        </p:txBody>
      </p:sp>
      <p:sp>
        <p:nvSpPr>
          <p:cNvPr id="448" name="Google Shape;448;p16"/>
          <p:cNvSpPr txBox="1"/>
          <p:nvPr/>
        </p:nvSpPr>
        <p:spPr>
          <a:xfrm>
            <a:off x="6309360" y="2286000"/>
            <a:ext cx="21945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600"/>
              <a:buFont typeface="Calibri"/>
              <a:buNone/>
            </a:pPr>
            <a:r>
              <a:rPr b="1" i="0" lang="en-US" sz="1600" u="none" cap="none" strike="noStrike">
                <a:solidFill>
                  <a:schemeClr val="dk2"/>
                </a:solidFill>
                <a:latin typeface="Calibri"/>
                <a:ea typeface="Calibri"/>
                <a:cs typeface="Calibri"/>
                <a:sym typeface="Calibri"/>
              </a:rPr>
              <a:t>Layer 3</a:t>
            </a:r>
            <a:endParaRPr b="0" i="0" sz="1600" u="none" cap="none" strike="noStrike">
              <a:solidFill>
                <a:schemeClr val="dk1"/>
              </a:solidFill>
              <a:latin typeface="Calibri"/>
              <a:ea typeface="Calibri"/>
              <a:cs typeface="Calibri"/>
              <a:sym typeface="Calibri"/>
            </a:endParaRPr>
          </a:p>
        </p:txBody>
      </p:sp>
      <p:sp>
        <p:nvSpPr>
          <p:cNvPr id="449" name="Google Shape;449;p16"/>
          <p:cNvSpPr txBox="1"/>
          <p:nvPr/>
        </p:nvSpPr>
        <p:spPr>
          <a:xfrm>
            <a:off x="6309360" y="2651760"/>
            <a:ext cx="2194560" cy="6400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squeezes 16 numbers into 2 scores</a:t>
            </a:r>
            <a:endParaRPr b="0" i="0" sz="1400" u="none" cap="none" strike="noStrike">
              <a:solidFill>
                <a:schemeClr val="dk1"/>
              </a:solidFill>
              <a:latin typeface="Calibri"/>
              <a:ea typeface="Calibri"/>
              <a:cs typeface="Calibri"/>
              <a:sym typeface="Calibri"/>
            </a:endParaRPr>
          </a:p>
        </p:txBody>
      </p:sp>
      <p:sp>
        <p:nvSpPr>
          <p:cNvPr id="450" name="Google Shape;450;p16"/>
          <p:cNvSpPr/>
          <p:nvPr/>
        </p:nvSpPr>
        <p:spPr>
          <a:xfrm>
            <a:off x="457200" y="3703320"/>
            <a:ext cx="8229600" cy="777240"/>
          </a:xfrm>
          <a:prstGeom prst="roundRect">
            <a:avLst>
              <a:gd fmla="val 9412"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6"/>
          <p:cNvSpPr txBox="1"/>
          <p:nvPr/>
        </p:nvSpPr>
        <p:spPr>
          <a:xfrm>
            <a:off x="640080" y="3703320"/>
            <a:ext cx="7863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1" i="0" lang="en-US" sz="1500" u="none" cap="none" strike="noStrike">
                <a:solidFill>
                  <a:schemeClr val="lt1"/>
                </a:solidFill>
                <a:latin typeface="Calibri"/>
                <a:ea typeface="Calibri"/>
                <a:cs typeface="Calibri"/>
                <a:sym typeface="Calibri"/>
              </a:rPr>
              <a:t>SVD measures how much a weight matrix stretches its input. The big number is the stretch ratio: biggest stretch divided by smallest.</a:t>
            </a:r>
            <a:endParaRPr b="0" i="0" sz="1500" u="none" cap="none" strike="noStrike">
              <a:solidFill>
                <a:schemeClr val="dk1"/>
              </a:solidFill>
              <a:latin typeface="Calibri"/>
              <a:ea typeface="Calibri"/>
              <a:cs typeface="Calibri"/>
              <a:sym typeface="Calibri"/>
            </a:endParaRPr>
          </a:p>
        </p:txBody>
      </p:sp>
      <p:sp>
        <p:nvSpPr>
          <p:cNvPr id="452" name="Google Shape;452;p16"/>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7"/>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3000"/>
              <a:buFont typeface="Calibri"/>
              <a:buNone/>
            </a:pPr>
            <a:r>
              <a:rPr b="1" i="0" lang="en-US" sz="3000" u="none" cap="none" strike="noStrike">
                <a:solidFill>
                  <a:schemeClr val="dk2"/>
                </a:solidFill>
                <a:latin typeface="Calibri"/>
                <a:ea typeface="Calibri"/>
                <a:cs typeface="Calibri"/>
                <a:sym typeface="Calibri"/>
              </a:rPr>
              <a:t>Shrinking a layer: half is enough</a:t>
            </a:r>
            <a:endParaRPr b="0" i="0" sz="3000" u="none" cap="none" strike="noStrike">
              <a:solidFill>
                <a:schemeClr val="dk1"/>
              </a:solidFill>
              <a:latin typeface="Calibri"/>
              <a:ea typeface="Calibri"/>
              <a:cs typeface="Calibri"/>
              <a:sym typeface="Calibri"/>
            </a:endParaRPr>
          </a:p>
        </p:txBody>
      </p:sp>
      <p:graphicFrame>
        <p:nvGraphicFramePr>
          <p:cNvPr id="459" name="Google Shape;459;p17"/>
          <p:cNvGraphicFramePr/>
          <p:nvPr/>
        </p:nvGraphicFramePr>
        <p:xfrm>
          <a:off x="457200" y="1097280"/>
          <a:ext cx="5394960" cy="3383280"/>
        </p:xfrm>
        <a:graphic>
          <a:graphicData uri="http://schemas.openxmlformats.org/drawingml/2006/chart">
            <c:chart r:id="rId3"/>
          </a:graphicData>
        </a:graphic>
      </p:graphicFrame>
      <p:sp>
        <p:nvSpPr>
          <p:cNvPr id="460" name="Google Shape;460;p17"/>
          <p:cNvSpPr/>
          <p:nvPr/>
        </p:nvSpPr>
        <p:spPr>
          <a:xfrm>
            <a:off x="6126480" y="1188720"/>
            <a:ext cx="2560320" cy="1508760"/>
          </a:xfrm>
          <a:prstGeom prst="roundRect">
            <a:avLst>
              <a:gd fmla="val 4848"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7"/>
          <p:cNvSpPr txBox="1"/>
          <p:nvPr/>
        </p:nvSpPr>
        <p:spPr>
          <a:xfrm>
            <a:off x="6263640" y="1188720"/>
            <a:ext cx="2286000" cy="1508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500"/>
              <a:buFont typeface="Calibri"/>
              <a:buNone/>
            </a:pPr>
            <a:r>
              <a:rPr b="1" i="0" lang="en-US" sz="1500" u="none" cap="none" strike="noStrike">
                <a:solidFill>
                  <a:schemeClr val="accent5"/>
                </a:solidFill>
                <a:latin typeface="Calibri"/>
                <a:ea typeface="Calibri"/>
                <a:cs typeface="Calibri"/>
                <a:sym typeface="Calibri"/>
              </a:rPr>
              <a:t>The idea</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Keep only a layer's most important parts and see if it still works.</a:t>
            </a:r>
            <a:endParaRPr b="0" i="0" sz="1400" u="none" cap="none" strike="noStrike">
              <a:solidFill>
                <a:schemeClr val="dk1"/>
              </a:solidFill>
              <a:latin typeface="Calibri"/>
              <a:ea typeface="Calibri"/>
              <a:cs typeface="Calibri"/>
              <a:sym typeface="Calibri"/>
            </a:endParaRPr>
          </a:p>
        </p:txBody>
      </p:sp>
      <p:sp>
        <p:nvSpPr>
          <p:cNvPr id="462" name="Google Shape;462;p17"/>
          <p:cNvSpPr/>
          <p:nvPr/>
        </p:nvSpPr>
        <p:spPr>
          <a:xfrm>
            <a:off x="6126480" y="2880360"/>
            <a:ext cx="2560320" cy="1600200"/>
          </a:xfrm>
          <a:prstGeom prst="roundRect">
            <a:avLst>
              <a:gd fmla="val 4571"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7"/>
          <p:cNvSpPr txBox="1"/>
          <p:nvPr/>
        </p:nvSpPr>
        <p:spPr>
          <a:xfrm>
            <a:off x="6263640" y="2880360"/>
            <a:ext cx="2286000" cy="160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2"/>
              </a:buClr>
              <a:buSzPts val="1500"/>
              <a:buFont typeface="Calibri"/>
              <a:buNone/>
            </a:pPr>
            <a:r>
              <a:rPr b="1" i="0" lang="en-US" sz="1500" u="none" cap="none" strike="noStrike">
                <a:solidFill>
                  <a:schemeClr val="accent2"/>
                </a:solidFill>
                <a:latin typeface="Calibri"/>
                <a:ea typeface="Calibri"/>
                <a:cs typeface="Calibri"/>
                <a:sym typeface="Calibri"/>
              </a:rPr>
              <a:t>The result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Half the parts (8 of 16) still reach 90%. Too few (2) drops to 65%.</a:t>
            </a:r>
            <a:endParaRPr b="0" i="0" sz="1400" u="none" cap="none" strike="noStrike">
              <a:solidFill>
                <a:schemeClr val="dk1"/>
              </a:solidFill>
              <a:latin typeface="Calibri"/>
              <a:ea typeface="Calibri"/>
              <a:cs typeface="Calibri"/>
              <a:sym typeface="Calibri"/>
            </a:endParaRPr>
          </a:p>
        </p:txBody>
      </p:sp>
      <p:sp>
        <p:nvSpPr>
          <p:cNvPr id="464" name="Google Shape;464;p17"/>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5A6B66"/>
                </a:solidFill>
                <a:latin typeface="Calibri"/>
                <a:ea typeface="Calibri"/>
                <a:cs typeface="Calibri"/>
                <a:sym typeface="Calibri"/>
              </a:rPr>
              <a:t>‹#›</a:t>
            </a:fld>
            <a:endParaRPr b="0" i="0" sz="1000" u="none" cap="none" strike="noStrike">
              <a:solidFill>
                <a:srgbClr val="5A6B66"/>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18"/>
          <p:cNvSpPr txBox="1"/>
          <p:nvPr/>
        </p:nvSpPr>
        <p:spPr>
          <a:xfrm>
            <a:off x="457200" y="274320"/>
            <a:ext cx="822960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3000"/>
              <a:buFont typeface="Calibri"/>
              <a:buNone/>
            </a:pPr>
            <a:r>
              <a:rPr b="1" i="0" lang="en-US" sz="3000" u="none" cap="none" strike="noStrike">
                <a:solidFill>
                  <a:schemeClr val="lt1"/>
                </a:solidFill>
                <a:latin typeface="Calibri"/>
                <a:ea typeface="Calibri"/>
                <a:cs typeface="Calibri"/>
                <a:sym typeface="Calibri"/>
              </a:rPr>
              <a:t>Conclusions and limits</a:t>
            </a:r>
            <a:endParaRPr b="0" i="0" sz="3000" u="none" cap="none" strike="noStrike">
              <a:solidFill>
                <a:schemeClr val="dk1"/>
              </a:solidFill>
              <a:latin typeface="Calibri"/>
              <a:ea typeface="Calibri"/>
              <a:cs typeface="Calibri"/>
              <a:sym typeface="Calibri"/>
            </a:endParaRPr>
          </a:p>
        </p:txBody>
      </p:sp>
      <p:sp>
        <p:nvSpPr>
          <p:cNvPr id="471" name="Google Shape;471;p18"/>
          <p:cNvSpPr/>
          <p:nvPr/>
        </p:nvSpPr>
        <p:spPr>
          <a:xfrm>
            <a:off x="457200" y="1280160"/>
            <a:ext cx="502920" cy="50292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8"/>
          <p:cNvSpPr txBox="1"/>
          <p:nvPr/>
        </p:nvSpPr>
        <p:spPr>
          <a:xfrm>
            <a:off x="457200" y="128016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473" name="Google Shape;473;p18"/>
          <p:cNvSpPr txBox="1"/>
          <p:nvPr/>
        </p:nvSpPr>
        <p:spPr>
          <a:xfrm>
            <a:off x="1188720" y="1188720"/>
            <a:ext cx="4114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A ReLU network learns the winding spiral boundary: 90% test versus about 59% for the baselines</a:t>
            </a:r>
            <a:endParaRPr b="0" i="0" sz="1500" u="none" cap="none" strike="noStrike">
              <a:solidFill>
                <a:schemeClr val="dk1"/>
              </a:solidFill>
              <a:latin typeface="Calibri"/>
              <a:ea typeface="Calibri"/>
              <a:cs typeface="Calibri"/>
              <a:sym typeface="Calibri"/>
            </a:endParaRPr>
          </a:p>
        </p:txBody>
      </p:sp>
      <p:sp>
        <p:nvSpPr>
          <p:cNvPr id="474" name="Google Shape;474;p18"/>
          <p:cNvSpPr/>
          <p:nvPr/>
        </p:nvSpPr>
        <p:spPr>
          <a:xfrm>
            <a:off x="457200" y="2240280"/>
            <a:ext cx="502920" cy="50292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8"/>
          <p:cNvSpPr txBox="1"/>
          <p:nvPr/>
        </p:nvSpPr>
        <p:spPr>
          <a:xfrm>
            <a:off x="457200" y="22402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476" name="Google Shape;476;p18"/>
          <p:cNvSpPr txBox="1"/>
          <p:nvPr/>
        </p:nvSpPr>
        <p:spPr>
          <a:xfrm>
            <a:off x="1188720" y="2148840"/>
            <a:ext cx="4114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Our hand-built matrix gradients pass an independent check</a:t>
            </a:r>
            <a:endParaRPr b="0" i="0" sz="1500" u="none" cap="none" strike="noStrike">
              <a:solidFill>
                <a:schemeClr val="dk1"/>
              </a:solidFill>
              <a:latin typeface="Calibri"/>
              <a:ea typeface="Calibri"/>
              <a:cs typeface="Calibri"/>
              <a:sym typeface="Calibri"/>
            </a:endParaRPr>
          </a:p>
        </p:txBody>
      </p:sp>
      <p:sp>
        <p:nvSpPr>
          <p:cNvPr id="477" name="Google Shape;477;p18"/>
          <p:cNvSpPr/>
          <p:nvPr/>
        </p:nvSpPr>
        <p:spPr>
          <a:xfrm>
            <a:off x="457200" y="3200400"/>
            <a:ext cx="502920" cy="50292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8"/>
          <p:cNvSpPr txBox="1"/>
          <p:nvPr/>
        </p:nvSpPr>
        <p:spPr>
          <a:xfrm>
            <a:off x="457200" y="32004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479" name="Google Shape;479;p18"/>
          <p:cNvSpPr txBox="1"/>
          <p:nvPr/>
        </p:nvSpPr>
        <p:spPr>
          <a:xfrm>
            <a:off x="1188720" y="3108960"/>
            <a:ext cx="4114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PCA describes activations and SVD describes weights: different objects</a:t>
            </a:r>
            <a:endParaRPr b="0" i="0" sz="1500" u="none" cap="none" strike="noStrike">
              <a:solidFill>
                <a:schemeClr val="dk1"/>
              </a:solidFill>
              <a:latin typeface="Calibri"/>
              <a:ea typeface="Calibri"/>
              <a:cs typeface="Calibri"/>
              <a:sym typeface="Calibri"/>
            </a:endParaRPr>
          </a:p>
        </p:txBody>
      </p:sp>
      <p:sp>
        <p:nvSpPr>
          <p:cNvPr id="480" name="Google Shape;480;p18"/>
          <p:cNvSpPr/>
          <p:nvPr/>
        </p:nvSpPr>
        <p:spPr>
          <a:xfrm>
            <a:off x="5577840" y="1188720"/>
            <a:ext cx="3108960" cy="2651760"/>
          </a:xfrm>
          <a:prstGeom prst="roundRect">
            <a:avLst>
              <a:gd fmla="val 2759" name="adj"/>
            </a:avLst>
          </a:prstGeom>
          <a:solidFill>
            <a:srgbClr val="2F6F5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8"/>
          <p:cNvSpPr txBox="1"/>
          <p:nvPr/>
        </p:nvSpPr>
        <p:spPr>
          <a:xfrm>
            <a:off x="5760720" y="1280160"/>
            <a:ext cx="2743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800"/>
              <a:buFont typeface="Calibri"/>
              <a:buNone/>
            </a:pPr>
            <a:r>
              <a:rPr b="1" i="0" lang="en-US" sz="1800" u="none" cap="none" strike="noStrike">
                <a:solidFill>
                  <a:schemeClr val="lt1"/>
                </a:solidFill>
                <a:latin typeface="Calibri"/>
                <a:ea typeface="Calibri"/>
                <a:cs typeface="Calibri"/>
                <a:sym typeface="Calibri"/>
              </a:rPr>
              <a:t>Limits</a:t>
            </a:r>
            <a:endParaRPr b="0" i="0" sz="1800" u="none" cap="none" strike="noStrike">
              <a:solidFill>
                <a:schemeClr val="dk1"/>
              </a:solidFill>
              <a:latin typeface="Calibri"/>
              <a:ea typeface="Calibri"/>
              <a:cs typeface="Calibri"/>
              <a:sym typeface="Calibri"/>
            </a:endParaRPr>
          </a:p>
        </p:txBody>
      </p:sp>
      <p:sp>
        <p:nvSpPr>
          <p:cNvPr id="482" name="Google Shape;482;p18"/>
          <p:cNvSpPr txBox="1"/>
          <p:nvPr/>
        </p:nvSpPr>
        <p:spPr>
          <a:xfrm>
            <a:off x="5760720" y="1737360"/>
            <a:ext cx="2743200" cy="201168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lt1"/>
              </a:buClr>
              <a:buSzPts val="1400"/>
              <a:buFont typeface="Calibri"/>
              <a:buChar char="•"/>
            </a:pPr>
            <a:r>
              <a:rPr b="0" i="0" lang="en-US" sz="1400" u="none" cap="none" strike="noStrike">
                <a:solidFill>
                  <a:schemeClr val="lt1"/>
                </a:solidFill>
                <a:latin typeface="Calibri"/>
                <a:ea typeface="Calibri"/>
                <a:cs typeface="Calibri"/>
                <a:sym typeface="Calibri"/>
              </a:rPr>
              <a:t>One split, three seeds</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lt1"/>
              </a:buClr>
              <a:buSzPts val="1400"/>
              <a:buFont typeface="Calibri"/>
              <a:buChar char="•"/>
            </a:pPr>
            <a:r>
              <a:rPr b="0" i="0" lang="en-US" sz="1400" u="none" cap="none" strike="noStrike">
                <a:solidFill>
                  <a:schemeClr val="lt1"/>
                </a:solidFill>
                <a:latin typeface="Calibri"/>
                <a:ea typeface="Calibri"/>
                <a:cs typeface="Calibri"/>
                <a:sym typeface="Calibri"/>
              </a:rPr>
              <a:t>Small synthetic data, no hyperparameter search</a:t>
            </a:r>
            <a:endParaRPr b="0" i="0" sz="14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chemeClr val="lt1"/>
              </a:buClr>
              <a:buSzPts val="1400"/>
              <a:buFont typeface="Calibri"/>
              <a:buChar char="•"/>
            </a:pPr>
            <a:r>
              <a:rPr b="0" i="0" lang="en-US" sz="1400" u="none" cap="none" strike="noStrike">
                <a:solidFill>
                  <a:schemeClr val="lt1"/>
                </a:solidFill>
                <a:latin typeface="Calibri"/>
                <a:ea typeface="Calibri"/>
                <a:cs typeface="Calibri"/>
                <a:sym typeface="Calibri"/>
              </a:rPr>
              <a:t>Shallow failure here does not mean shallow networks must fail</a:t>
            </a:r>
            <a:endParaRPr b="0" i="0" sz="1400" u="none" cap="none" strike="noStrike">
              <a:solidFill>
                <a:schemeClr val="dk1"/>
              </a:solidFill>
              <a:latin typeface="Calibri"/>
              <a:ea typeface="Calibri"/>
              <a:cs typeface="Calibri"/>
              <a:sym typeface="Calibri"/>
            </a:endParaRPr>
          </a:p>
        </p:txBody>
      </p:sp>
      <p:sp>
        <p:nvSpPr>
          <p:cNvPr id="483" name="Google Shape;483;p18"/>
          <p:cNvSpPr txBox="1"/>
          <p:nvPr/>
        </p:nvSpPr>
        <p:spPr>
          <a:xfrm>
            <a:off x="457200" y="416052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300"/>
              <a:buFont typeface="Calibri"/>
              <a:buNone/>
            </a:pPr>
            <a:r>
              <a:rPr b="0" i="0" lang="en-US" sz="1300" u="none" cap="none" strike="noStrike">
                <a:solidFill>
                  <a:schemeClr val="accent5"/>
                </a:solidFill>
                <a:latin typeface="Calibri"/>
                <a:ea typeface="Calibri"/>
                <a:cs typeface="Calibri"/>
                <a:sym typeface="Calibri"/>
              </a:rPr>
              <a:t>github.com/Annadata-Aniketh/Neural-Net-Maths</a:t>
            </a:r>
            <a:endParaRPr b="0" i="0" sz="1300" u="none" cap="none" strike="noStrike">
              <a:solidFill>
                <a:schemeClr val="dk1"/>
              </a:solidFill>
              <a:latin typeface="Calibri"/>
              <a:ea typeface="Calibri"/>
              <a:cs typeface="Calibri"/>
              <a:sym typeface="Calibri"/>
            </a:endParaRPr>
          </a:p>
        </p:txBody>
      </p:sp>
      <p:sp>
        <p:nvSpPr>
          <p:cNvPr id="484" name="Google Shape;484;p18"/>
          <p:cNvSpPr txBox="1"/>
          <p:nvPr>
            <p:ph idx="4294967295" type="sldNum"/>
          </p:nvPr>
        </p:nvSpPr>
        <p:spPr>
          <a:xfrm>
            <a:off x="8229600" y="4754880"/>
            <a:ext cx="45720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1000" u="none" cap="none" strike="noStrike">
                <a:solidFill>
                  <a:srgbClr val="8AB5A5"/>
                </a:solidFill>
                <a:latin typeface="Calibri"/>
                <a:ea typeface="Calibri"/>
                <a:cs typeface="Calibri"/>
                <a:sym typeface="Calibri"/>
              </a:rPr>
              <a:t>‹#›</a:t>
            </a:fld>
            <a:endParaRPr b="0" i="0" sz="1000" u="none" cap="none" strike="noStrike">
              <a:solidFill>
                <a:srgbClr val="8AB5A5"/>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piral Green">
  <a:themeElements>
    <a:clrScheme name="Spiral Green">
      <a:dk1>
        <a:srgbClr val="16231F"/>
      </a:dk1>
      <a:lt1>
        <a:srgbClr val="FFFFFF"/>
      </a:lt1>
      <a:dk2>
        <a:srgbClr val="1B3D33"/>
      </a:dk2>
      <a:lt2>
        <a:srgbClr val="EDF3F0"/>
      </a:lt2>
      <a:accent1>
        <a:srgbClr val="2F6F5E"/>
      </a:accent1>
      <a:accent2>
        <a:srgbClr val="E0604F"/>
      </a:accent2>
      <a:accent3>
        <a:srgbClr val="5B7FE0"/>
      </a:accent3>
      <a:accent4>
        <a:srgbClr val="E8A33D"/>
      </a:accent4>
      <a:accent5>
        <a:srgbClr val="8AB5A5"/>
      </a:accent5>
      <a:accent6>
        <a:srgbClr val="5A6B66"/>
      </a:accent6>
      <a:hlink>
        <a:srgbClr val="2F6F5E"/>
      </a:hlink>
      <a:folHlink>
        <a:srgbClr val="5A6B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iral Green">
  <a:themeElements>
    <a:clrScheme name="Spiral Green">
      <a:dk1>
        <a:srgbClr val="16231F"/>
      </a:dk1>
      <a:lt1>
        <a:srgbClr val="FFFFFF"/>
      </a:lt1>
      <a:dk2>
        <a:srgbClr val="1B3D33"/>
      </a:dk2>
      <a:lt2>
        <a:srgbClr val="EDF3F0"/>
      </a:lt2>
      <a:accent1>
        <a:srgbClr val="2F6F5E"/>
      </a:accent1>
      <a:accent2>
        <a:srgbClr val="E0604F"/>
      </a:accent2>
      <a:accent3>
        <a:srgbClr val="5B7FE0"/>
      </a:accent3>
      <a:accent4>
        <a:srgbClr val="E8A33D"/>
      </a:accent4>
      <a:accent5>
        <a:srgbClr val="8AB5A5"/>
      </a:accent5>
      <a:accent6>
        <a:srgbClr val="5A6B66"/>
      </a:accent6>
      <a:hlink>
        <a:srgbClr val="2F6F5E"/>
      </a:hlink>
      <a:folHlink>
        <a:srgbClr val="5A6B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2026-10-12T20:00:01Z</dcterms:created>
  <dc:creator>PptxGenJS</dc:creator>
</cp:coreProperties>
</file>